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0603d980d74a21" /><Relationship Type="http://schemas.openxmlformats.org/officeDocument/2006/relationships/extended-properties" Target="/docProps/app.xml" Id="R1d6fa3e554c24265" /><Relationship Type="http://schemas.openxmlformats.org/officeDocument/2006/relationships/officeDocument" Target="/ppt/presentation.xml" Id="R97ad6409c38c4a1d" /></Relationships>
</file>

<file path=ppt/presentation.xml><?xml version="1.0" encoding="utf-8"?>
<p:presentation xmlns:p="http://schemas.openxmlformats.org/presentationml/2006/main">
  <p:sldMasterIdLst>
    <p:sldMasterId xmlns:r="http://schemas.openxmlformats.org/officeDocument/2006/relationships" id="2147483648" r:id="Ra1cee905f4fd4d48"/>
  </p:sldMasterIdLst>
  <p:notesMasterIdLst>
    <p:notesMasterId xmlns:r="http://schemas.openxmlformats.org/officeDocument/2006/relationships" r:id="Re36f1505617b42cc"/>
  </p:notesMasterIdLst>
  <p:sldIdLst>
    <p:sldId xmlns:r="http://schemas.openxmlformats.org/officeDocument/2006/relationships" id="256" r:id="Rb60e556d34d1490d"/>
    <p:sldId xmlns:r="http://schemas.openxmlformats.org/officeDocument/2006/relationships" id="257" r:id="R0afe2f2a64eb4126"/>
    <p:sldId xmlns:r="http://schemas.openxmlformats.org/officeDocument/2006/relationships" id="258" r:id="R656cd580e503418d"/>
    <p:sldId xmlns:r="http://schemas.openxmlformats.org/officeDocument/2006/relationships" id="259" r:id="R0bb8b1f9469549b8"/>
    <p:sldId xmlns:r="http://schemas.openxmlformats.org/officeDocument/2006/relationships" id="260" r:id="R274856fe23894881"/>
    <p:sldId xmlns:r="http://schemas.openxmlformats.org/officeDocument/2006/relationships" id="261" r:id="Ra5292ad224924633"/>
    <p:sldId xmlns:r="http://schemas.openxmlformats.org/officeDocument/2006/relationships" id="262" r:id="R56cfc49e06f34025"/>
    <p:sldId xmlns:r="http://schemas.openxmlformats.org/officeDocument/2006/relationships" id="263" r:id="R4f41be0b71404a8a"/>
    <p:sldId xmlns:r="http://schemas.openxmlformats.org/officeDocument/2006/relationships" id="264" r:id="R5d3962bd145d4f58"/>
    <p:sldId xmlns:r="http://schemas.openxmlformats.org/officeDocument/2006/relationships" id="265" r:id="R115e1222e9d94b04"/>
    <p:sldId xmlns:r="http://schemas.openxmlformats.org/officeDocument/2006/relationships" id="266" r:id="Rf65ee623d7f740fd"/>
    <p:sldId xmlns:r="http://schemas.openxmlformats.org/officeDocument/2006/relationships" id="267" r:id="R4d844572ac2f48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82c6b6799b4aff" /><Relationship Type="http://schemas.openxmlformats.org/officeDocument/2006/relationships/slideMaster" Target="/ppt/slideMasters/slideMaster1.xml" Id="Ra1cee905f4fd4d48" /><Relationship Type="http://schemas.openxmlformats.org/officeDocument/2006/relationships/notesMaster" Target="/ppt/notesMasters/notesMaster1.xml" Id="Re36f1505617b42cc" /><Relationship Type="http://schemas.openxmlformats.org/officeDocument/2006/relationships/presProps" Target="/ppt/presProps.xml" Id="R96f20f88e6694515" /><Relationship Type="http://schemas.openxmlformats.org/officeDocument/2006/relationships/tableStyles" Target="/ppt/tableStyles.xml" Id="Re0bd6c5ce5ca4520" /><Relationship Type="http://schemas.openxmlformats.org/officeDocument/2006/relationships/slide" Target="/ppt/slides/slide1.xml" Id="Rb60e556d34d1490d" /><Relationship Type="http://schemas.openxmlformats.org/officeDocument/2006/relationships/slide" Target="/ppt/slides/slide2.xml" Id="R0afe2f2a64eb4126" /><Relationship Type="http://schemas.openxmlformats.org/officeDocument/2006/relationships/slide" Target="/ppt/slides/slide3.xml" Id="R656cd580e503418d" /><Relationship Type="http://schemas.openxmlformats.org/officeDocument/2006/relationships/slide" Target="/ppt/slides/slide4.xml" Id="R0bb8b1f9469549b8" /><Relationship Type="http://schemas.openxmlformats.org/officeDocument/2006/relationships/slide" Target="/ppt/slides/slide5.xml" Id="R274856fe23894881" /><Relationship Type="http://schemas.openxmlformats.org/officeDocument/2006/relationships/slide" Target="/ppt/slides/slide6.xml" Id="Ra5292ad224924633" /><Relationship Type="http://schemas.openxmlformats.org/officeDocument/2006/relationships/slide" Target="/ppt/slides/slide7.xml" Id="R56cfc49e06f34025" /><Relationship Type="http://schemas.openxmlformats.org/officeDocument/2006/relationships/slide" Target="/ppt/slides/slide8.xml" Id="R4f41be0b71404a8a" /><Relationship Type="http://schemas.openxmlformats.org/officeDocument/2006/relationships/slide" Target="/ppt/slides/slide9.xml" Id="R5d3962bd145d4f58" /><Relationship Type="http://schemas.openxmlformats.org/officeDocument/2006/relationships/slide" Target="/ppt/slides/slide10.xml" Id="R115e1222e9d94b04" /><Relationship Type="http://schemas.openxmlformats.org/officeDocument/2006/relationships/slide" Target="/ppt/slides/slide11.xml" Id="Rf65ee623d7f740fd" /><Relationship Type="http://schemas.openxmlformats.org/officeDocument/2006/relationships/slide" Target="/ppt/slides/slide12.xml" Id="R4d844572ac2f48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64aeb3001141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041036dde14bc4" /><Relationship Type="http://schemas.openxmlformats.org/officeDocument/2006/relationships/notesMaster" Target="/ppt/notesMasters/notesMaster1.xml" Id="Rec50774a7ada47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823cb824744e81" /><Relationship Type="http://schemas.openxmlformats.org/officeDocument/2006/relationships/notesMaster" Target="/ppt/notesMasters/notesMaster1.xml" Id="Rb100f8ff9e4343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aae50dde524180" /><Relationship Type="http://schemas.openxmlformats.org/officeDocument/2006/relationships/notesMaster" Target="/ppt/notesMasters/notesMaster1.xml" Id="R9bb29bdde4ab49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9a293d47d24aca" /><Relationship Type="http://schemas.openxmlformats.org/officeDocument/2006/relationships/notesMaster" Target="/ppt/notesMasters/notesMaster1.xml" Id="R3711a66d680345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686743f47244b3" /><Relationship Type="http://schemas.openxmlformats.org/officeDocument/2006/relationships/notesMaster" Target="/ppt/notesMasters/notesMaster1.xml" Id="R78f9db319dcc4e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fc5746104d4db6" /><Relationship Type="http://schemas.openxmlformats.org/officeDocument/2006/relationships/notesMaster" Target="/ppt/notesMasters/notesMaster1.xml" Id="R3529c94e54f941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c5305d1ff4429c" /><Relationship Type="http://schemas.openxmlformats.org/officeDocument/2006/relationships/notesMaster" Target="/ppt/notesMasters/notesMaster1.xml" Id="R3bff3b23e6134a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a586d7c4fa4e57" /><Relationship Type="http://schemas.openxmlformats.org/officeDocument/2006/relationships/notesMaster" Target="/ppt/notesMasters/notesMaster1.xml" Id="Re14fecdf33e246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1ab1e624dc4c4a" /><Relationship Type="http://schemas.openxmlformats.org/officeDocument/2006/relationships/notesMaster" Target="/ppt/notesMasters/notesMaster1.xml" Id="Rfe79e5f9dd8445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8cb79d6c4f48bd" /><Relationship Type="http://schemas.openxmlformats.org/officeDocument/2006/relationships/notesMaster" Target="/ppt/notesMasters/notesMaster1.xml" Id="R21feb77fa56d44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b577cb27434073" /><Relationship Type="http://schemas.openxmlformats.org/officeDocument/2006/relationships/notesMaster" Target="/ppt/notesMasters/notesMaster1.xml" Id="R9fb41c0dfeb740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17ea4b3cd94ea6" /><Relationship Type="http://schemas.openxmlformats.org/officeDocument/2006/relationships/notesMaster" Target="/ppt/notesMasters/notesMaster1.xml" Id="Rf609b1b53ff04c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giây. Em giới thiệu FAP Attendance, bản thiết kế ứng dụng điểm danh trên điện thoại dành cho giảng viên Đại học FPT. Bài Lab 2 tập trung vào trải nghiệm người dùng và giao diện. Em trình bày vấn đề, cách dùng AI để phát triển thiết kế và ba tác vụ demo. Prototype hiện chạy trên Stitch, các phản hồi QR, lưu tệp và Drive là mô phỏng. Repository GitHub sinh viên vừa cung cấp đã mở được công khai, nhưng nội dung slide mới chưa được push trong lượt này.</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D:\Fall2026\PRM393\Project_PRM393\prm323-lab2-SE193324\README.md</a:t>
            </a:r>
          </a:p>
          <a:p xmlns:a="http://schemas.openxmlformats.org/drawingml/2006/main">
            <a:r>
              <a:t>https://github.com/HungUniverse/prm323-lab2</a:t>
            </a:r>
          </a:p>
          <a:p xmlns:a="http://schemas.openxmlformats.org/drawingml/2006/main">
            <a:r>
              <a:t>D:\Fall2026\PRM393\Project_PRM393\prm323-lab2-SE193324\assets\stitch\prototype-2026-10-11\f1-01-s01-workspace.png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Giảng viên cần chọn đúng lớp và lần học trước khi ghi nhận điểm danh. Trên điện thoại, nhiều thông tin có thể làm việc chọn lớp hoặc đọc danh sách khó hơn. Sau giờ học, giảng viên cần sửa nhầm lẫn có lý do và biết dữ liệu đã lưu ở đâu. Đây là các khó khăn dự kiến từ yêu cầu dự án, chưa phải kết quả khảo sát. Thiết kế ưu tiên giữ rõ ngữ cảnh lớp, xác nhận trước khi chốt và thông báo riêng cho lưu trên máy và sao lưu Drive.</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D:\Fall2026\PRM393\Project_PRM393\prm323-lab2-SE193324\ux\persona.md</a:t>
            </a:r>
          </a:p>
          <a:p xmlns:a="http://schemas.openxmlformats.org/drawingml/2006/main">
            <a:r>
              <a:t>D:\Fall2026\PRM393\Project_PRM393\prm323-lab2-SE193324\design\screen-spec.md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giây. Người dùng mục tiêu là giảng viên quản lý nhiều lớp, sử dụng điện thoại trước, trong và sau giờ học. Màn danh sách lớp bên phải cho thấy lịch học, trạng thái buổi học và lối vào điểm danh. Giảng viên cần tìm được lớp không có trong tuần hiện tại, nhìn được trạng thái buổi học và truy lại lịch sử. Persona hiện mô tả nhóm người dùng với các giả định thiết kế, chưa phải một người đã phỏng vấn. Việc hoàn thiện persona theo mẫu đề còn nằm trong checklist.</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D:\Fall2026\PRM393\Project_PRM393\prm323-lab2-SE193324\ux\persona.md</a:t>
            </a:r>
          </a:p>
          <a:p xmlns:a="http://schemas.openxmlformats.org/drawingml/2006/main">
            <a:r>
              <a:t>D:\Fall2026\PRM393\Project_PRM393\prm323-lab2-SE193324\assets\stitch\prototype-2026-10-11\f1-03-s02-class-list.png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Em chia mười màn hình thành ba nhóm theo công việc. Nhóm chuẩn bị gồm bắt đầu, nhập danh sách, lịch và danh sách lớp, cấu hình lịch. Nhóm điểm danh gồm danh sách sinh viên của lớp và màn QR. Nhóm kiểm tra kết quả gồm chi tiết sinh viên, lịch sử, xuất tệp và Drive. Các bảng xác nhận hoặc bảng sửa là trạng thái mở trên màn hình, không được tính thêm như màn thứ mười một. Mười màn là cấu trúc thiết kế, không có nghĩa mọi trạng thái đã được kiểm thử.</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D:\Fall2026\PRM393\Project_PRM393\prm323-lab2-SE193324\design\screen-spec.md</a:t>
            </a:r>
          </a:p>
          <a:p xmlns:a="http://schemas.openxmlformats.org/drawingml/2006/main">
            <a:r>
              <a:t>D:\Fall2026\PRM393\Project_PRM393\prm323-lab2-SE193324\ux\user-flow.md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Trước khi sinh giao diện, em chuẩn bị mô tả người dùng, luồng sử dụng và quy tắc thiết kế. Google Stitch giúp tạo các màn hình và prototype. Codex hỗ trợ đọc yêu cầu, phản biện ảnh và soạn tài liệu. Đoạn trích bên phải lấy nguyên văn từ prompt ban đầu đã lưu. Sau mỗi bản, cần đối chiếu với nghiệp vụ và chỉ ra vấn đề cụ thể để yêu cầu sửa. Hiện có ảnh các phiên bản và nhận xét, nhưng prompt và phản hồi của các lượt sau chưa đầy đủ. Vì vậy em chưa tuyên bố đã chứng minh hoàn tất đủ ba vòng cải tiến.</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D:\Fall2026\PRM393\Project_PRM393\prm323-lab2-SE193324\ai\ai-design-log.md</a:t>
            </a:r>
          </a:p>
          <a:p xmlns:a="http://schemas.openxmlformats.org/drawingml/2006/main">
            <a:r>
              <a:t>D:\Fall2026\PRM393\Project_PRM393\prm323-lab2-SE193324\ai\evidence\2026-10-11\01-stitch-v0-prompt.md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giây. Hai ảnh cho thấy màn chi tiết sinh viên ban đầu và bản điều chỉnh đã lưu. Em đối chiếu cách trình bày lịch sử từng buổi, ghi chú và vị trí sửa điểm danh. Phản biện tập trung vào ngày giờ, cách giải thích số liệu và lý do chỉnh sửa, thay vì chỉ đổi màu hoặc trang trí. Đây đều là ảnh UI, bản đầu chưa phải wireframe. Bộ low-fi riêng còn thiếu. Những hướng xử lý tiếp theo vẫn là đề xuất cần sinh viên chốt và kiểm thử, không gọi là mọi lỗi đã sửa xong.</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D:\Fall2026\PRM393\Project_PRM393\prm323-lab2-SE193324\assets\stitch\v0-s07-student.png</a:t>
            </a:r>
          </a:p>
          <a:p xmlns:a="http://schemas.openxmlformats.org/drawingml/2006/main">
            <a:r>
              <a:t>D:\Fall2026\PRM393\Project_PRM393\prm323-lab2-SE193324\assets\stitch\v2-s07-student.png</a:t>
            </a:r>
          </a:p>
          <a:p xmlns:a="http://schemas.openxmlformats.org/drawingml/2006/main">
            <a:r>
              <a:t>D:\Fall2026\PRM393\Project_PRM393\prm323-lab2-SE193324\design\prototype-review.md</a:t>
            </a:r>
          </a:p>
          <a:p xmlns:a="http://schemas.openxmlformats.org/drawingml/2006/main">
            <a:r>
              <a:t>D:\Fall2026\PRM393\Project_PRM393\prm323-lab2-SE193324\design\design-decisions.md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Thiết kế dùng màu cam cho hành động chính, giữ kiểu chữ và khoảng cách nhất quán để các màn thuộc cùng một sản phẩm. Các nút và ô nhập cần dùng lại cùng cách hiển thị thay vì thay đổi giữa từng màn. Trạng thái có mặt hoặc vắng phải có chữ hay biểu tượng, không chỉ màu. Nút cần đủ lớn để chạm và biểu mẫu cần cuộn tới hành động khi bàn phím mở. Trước khi chốt hoặc sửa dữ liệu phải giải thích hậu quả. Đây là nguyên tắc và mục tiêu thiết kế, chưa phải kết quả đo giao diện cuối. Các kiểm tra cỡ chữ, tương phản, vùng chạm và hai chiều rộng màn hình vẫn chưa có kết quả thực tế.</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D:\Fall2026\PRM393\Project_PRM393\prm323-lab2-SE193324\design\DESIGN.md</a:t>
            </a:r>
          </a:p>
          <a:p xmlns:a="http://schemas.openxmlformats.org/drawingml/2006/main">
            <a:r>
              <a:t>D:\Fall2026\PRM393\Project_PRM393\prm323-lab2-SE193324\design\design-decisions.md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Giảng viên bắt đầu bằng tệp danh sách lớp rồi nhập cấu hình học kỳ. Sau khi nhập, giảng viên mở lớp chưa bắt đầu để chỉnh lịch học, ngày nghỉ hoặc học bù. Ví dụ demo dùng lớp SE1921 vì lớp này chưa có buổi điểm danh đang mở hoặc đã chốt. Nhánh hủy cần giữ lịch cũ, lưu mới phải trở về đúng lớp. Lớp đã có điểm danh cần giải thích và khóa thay đổi lịch. Các ảnh minh họa bước nhập và cấu hình, chưa chứng minh nút lưu, hủy hoặc lỗi đã chạy. Khi demo chỉ dùng nhánh đã thử trước.</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D:\Fall2026\PRM393\Project_PRM393\prm323-lab2-SE193324\assets\stitch\prototype-2026-10-11\f1-02-s03-import.png</a:t>
            </a:r>
          </a:p>
          <a:p xmlns:a="http://schemas.openxmlformats.org/drawingml/2006/main">
            <a:r>
              <a:t>D:\Fall2026\PRM393\Project_PRM393\prm323-lab2-SE193324\assets\stitch\prototype-2026-10-11\f1-04-s05-schedule.png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giây. Giảng viên vào đúng lớp, mở QR và theo dõi số sinh viên đã ghi nhận. Tại thời điểm đầu demo có ba mươi sinh viên, hai mươi sáu có mặt và bốn chưa ghi nhận. Nút chốt mở bảng xác nhận nêu rõ bốn ô thiếu sẽ chuyển thành vắng. Em cần thử Tiếp tục điểm danh trước để cho thấy hủy không thay kết quả, sau đó mới đồng ý chốt. Kết quả mong đợi là hai mươi sáu có mặt, bốn vắng, không còn ô trống và QR ngừng nhận. Mốc hai phút thuộc từng lượt quét hợp lệ của sinh viên, không phải thời hạn tự chốt cả lớp. Phản hồi trong prototype là mô phỏng.</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D:\Fall2026\PRM393\Project_PRM393\prm323-lab2-SE193324\assets\stitch\prototype-2026-10-11\f2-02-s06-qr.png</a:t>
            </a:r>
          </a:p>
          <a:p xmlns:a="http://schemas.openxmlformats.org/drawingml/2006/main">
            <a:r>
              <a:t>D:\Fall2026\PRM393\Project_PRM393\prm323-lab2-SE193324\assets\stitch\prototype-2026-10-11\f2-03-s06-confirm.png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giây. Sau giờ học, giảng viên mở lịch sử và chi tiết sinh viên. Khi sửa điểm danh, giảng viên chọn kết quả mới và nhập lý do. Nhánh lý do trống phải giữ bảng sửa và giải thích lỗi, hủy phải giữ kết quả cũ. Khi lưu hợp lệ, cần thay trạng thái thật, cập nhật tổng và xem lại ghi chú. Ví dụ nếu đổi một sinh viên từ có mặt sang vắng, tổng hai mươi tám có mặt và hai vắng phải thành hai mươi bảy và ba. Tiếp đó xuất tệp cho buổi đã chốt, lưu trên máy và chỉ sao lưu Drive nếu chọn. Màn kết quả cần phân biệt lưu local thành công với Drive đang chờ hoặc lỗi. Schema tệp và lưu trữ thật chưa được kiểm thử.</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D:\Fall2026\PRM393\Project_PRM393\prm323-lab2-SE193324\assets\stitch\prototype-2026-10-11\f3-03-s07-edit.png</a:t>
            </a:r>
          </a:p>
          <a:p xmlns:a="http://schemas.openxmlformats.org/drawingml/2006/main">
            <a:r>
              <a:t>D:\Fall2026\PRM393\Project_PRM393\prm323-lab2-SE193324\assets\stitch\prototype-2026-10-11\f3-05-s09-export-result.png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giây. Em dùng hai mươi giây đầu để mở Stitch, giải thích dữ liệu giả lập và đặt lại trạng thái. Luồng chuẩn bị dành một phút, QR và chốt một phút rưỡi, sửa và xuất một phút năm mươi giây. Hai mươi giây cuối dùng để kết luận. Ngày trong ứng dụng là hai mươi bốn tháng chín năm hai nghìn không trăm hai mươi sáu, không phải ngày thuyết trình. Nếu ba flow dùng dữ liệu độc lập, em nói rõ việc đổi flow sẽ đặt lại dữ liệu. Chỉ demo các nhánh đã thử. Khi prototype lỗi hoặc nhánh chưa nối, em nêu giới hạn và dùng ảnh hoặc video dự phòng có nhãn, không giả như tương tác đã thành công.</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D:\Fall2026\PRM393\Project_PRM393\prm323-lab2-SE193324\presentation\output\demo-script.md</a:t>
            </a:r>
          </a:p>
          <a:p xmlns:a="http://schemas.openxmlformats.org/drawingml/2006/main">
            <a:r>
              <a:t>D:\Fall2026\PRM393\Project_PRM393\prm323-lab2-SE193324\design\prototype-review.md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Bộ thiết kế tổ chức mười màn hình quanh ba công việc của giảng viên. Phần tài liệu giải thích người dùng, luồng thao tác, quy tắc giao diện, trạng thái lỗi và cách quay lại, cùng hướng dẫn cho người triển khai. Repository GitHub đã có các thư mục tài liệu và ảnh, slide mới này được tạo cục bộ và chưa tự upload. Em mở prototype qua liên kết Stitch để demo. Trước khi nộp vẫn cần chạy kiểm thử thực tế, bổ sung bằng chứng còn thiếu và xác nhận với giảng viên về yêu cầu Figma. Các quyết định thiết kế đang chờ em chốt, chưa có kết quả thử bàn giao với người khác. Em giữ đúng các giới hạn đó khi trả lời hỏi đáp.</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D:\Fall2026\PRM393\Project_PRM393\prm323-lab2-SE193324\README.md</a:t>
            </a:r>
          </a:p>
          <a:p xmlns:a="http://schemas.openxmlformats.org/drawingml/2006/main">
            <a:r>
              <a:t>D:\Fall2026\PRM393\Project_PRM393\prm323-lab2-SE193324\handoff\flutter-handoff.md</a:t>
            </a:r>
          </a:p>
          <a:p xmlns:a="http://schemas.openxmlformats.org/drawingml/2006/main">
            <a:r>
              <a:t>D:\Fall2026\PRM393\Project_PRM393\prm323-lab2-SE193324\SUBMISSION_CHECKLIST.md</a:t>
            </a:r>
          </a:p>
          <a:p xmlns:a="http://schemas.openxmlformats.org/drawingml/2006/main">
            <a:r>
              <a:t>https://github.com/HungUniverse/prm323-lab2</a:t>
            </a:r>
          </a:p>
          <a:p xmlns:a="http://schemas.openxmlformats.org/drawingml/2006/main">
            <a:r>
              <a:t>https://stitch.withgoogle.com/preview/10059602616228007293?node-id=f4c596c319264fa182ad8c2c92ebf951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daab25ba2a4c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681339b24d4a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6d48584e1946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5bdcb4ecb947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e98236d5004f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e9bb4ec55947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AC68BD-E2FF-4FC1-8A92-C29E73419D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FC74F5-2A46-4222-81F3-E1ADFBBA79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70D801-B80C-4C33-9D61-005F8BF907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DF7FD0-7BFC-4440-9A17-A371776D96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6AA348-664D-4422-8A09-B69B49A654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9EDB0A-4BC3-4FD2-B435-043DD70F4D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4C00B-894E-4375-B77D-5118F8548C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2D40AE-39D6-4702-AC1C-9379642C7F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E249CF-C5CE-410B-B615-1CB2F932C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DB4861-FDD1-4919-9C78-09ED125046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2addb572924200" /><Relationship Type="http://schemas.openxmlformats.org/officeDocument/2006/relationships/slideLayout" Target="/ppt/slideLayouts/slideLayout1.xml" Id="R2ffce04a5b6945c2" /><Relationship Type="http://schemas.openxmlformats.org/officeDocument/2006/relationships/slideLayout" Target="/ppt/slideLayouts/slideLayout2.xml" Id="Rfeaeaf5788fd4375" /><Relationship Type="http://schemas.openxmlformats.org/officeDocument/2006/relationships/slideLayout" Target="/ppt/slideLayouts/slideLayout3.xml" Id="Ree0e9f0e8f2746b2" /><Relationship Type="http://schemas.openxmlformats.org/officeDocument/2006/relationships/slideLayout" Target="/ppt/slideLayouts/slideLayout4.xml" Id="Ra48d461fede44c89" /><Relationship Type="http://schemas.openxmlformats.org/officeDocument/2006/relationships/slideLayout" Target="/ppt/slideLayouts/slideLayout5.xml" Id="R2fbe6ee629ba40e2" /><Relationship Type="http://schemas.openxmlformats.org/officeDocument/2006/relationships/slideLayout" Target="/ppt/slideLayouts/slideLayout6.xml" Id="R7e43aa8b7dbc4c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fce04a5b6945c2"/>
    <p:sldLayoutId xmlns:r="http://schemas.openxmlformats.org/officeDocument/2006/relationships" id="2147483650" r:id="Rfeaeaf5788fd4375"/>
    <p:sldLayoutId xmlns:r="http://schemas.openxmlformats.org/officeDocument/2006/relationships" id="2147483651" r:id="Ree0e9f0e8f2746b2"/>
    <p:sldLayoutId xmlns:r="http://schemas.openxmlformats.org/officeDocument/2006/relationships" id="2147483652" r:id="Ra48d461fede44c89"/>
    <p:sldLayoutId xmlns:r="http://schemas.openxmlformats.org/officeDocument/2006/relationships" id="2147483653" r:id="R2fbe6ee629ba40e2"/>
    <p:sldLayoutId xmlns:r="http://schemas.openxmlformats.org/officeDocument/2006/relationships" id="2147483654" r:id="R7e43aa8b7dbc4c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449fc7a3fe4523" /><Relationship Type="http://schemas.openxmlformats.org/officeDocument/2006/relationships/image" Target="/ppt/media/image.png" Id="R1874cc33582f451d" /><Relationship Type="http://schemas.openxmlformats.org/officeDocument/2006/relationships/notesSlide" Target="/ppt/notesSlides/notesSlide1.xml" Id="R731db98f8d0c46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5605c166a049cc" /><Relationship Type="http://schemas.openxmlformats.org/officeDocument/2006/relationships/notesSlide" Target="/ppt/notesSlides/notesSlide2.xml" Id="R6f79293f22c447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0cdd0e6613419b" /><Relationship Type="http://schemas.openxmlformats.org/officeDocument/2006/relationships/image" Target="/ppt/media/image2.png" Id="Rd84b4cf8061748b8" /><Relationship Type="http://schemas.openxmlformats.org/officeDocument/2006/relationships/notesSlide" Target="/ppt/notesSlides/notesSlide3.xml" Id="R6b2d5a2c142f48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d145e2c8044f32" /><Relationship Type="http://schemas.openxmlformats.org/officeDocument/2006/relationships/notesSlide" Target="/ppt/notesSlides/notesSlide4.xml" Id="R197390f7b35341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f2da0c7ba54c7b" /><Relationship Type="http://schemas.openxmlformats.org/officeDocument/2006/relationships/notesSlide" Target="/ppt/notesSlides/notesSlide5.xml" Id="Ra0bd94a9d7bc40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dda91b422a4e9b" /><Relationship Type="http://schemas.openxmlformats.org/officeDocument/2006/relationships/image" Target="/ppt/media/image3.png" Id="R3117c480ffff4117" /><Relationship Type="http://schemas.openxmlformats.org/officeDocument/2006/relationships/image" Target="/ppt/media/image4.png" Id="Rfa37c87aa64545f0" /><Relationship Type="http://schemas.openxmlformats.org/officeDocument/2006/relationships/notesSlide" Target="/ppt/notesSlides/notesSlide6.xml" Id="Rbe7d66c4876b4a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105a67917d4731" /><Relationship Type="http://schemas.openxmlformats.org/officeDocument/2006/relationships/notesSlide" Target="/ppt/notesSlides/notesSlide7.xml" Id="Rf3392e37d1ba47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f734c4e35640a4" /><Relationship Type="http://schemas.openxmlformats.org/officeDocument/2006/relationships/image" Target="/ppt/media/image5.png" Id="R2525866644874d5b" /><Relationship Type="http://schemas.openxmlformats.org/officeDocument/2006/relationships/image" Target="/ppt/media/image6.png" Id="Rcedd29901d054137" /><Relationship Type="http://schemas.openxmlformats.org/officeDocument/2006/relationships/notesSlide" Target="/ppt/notesSlides/notesSlide8.xml" Id="Rd85228a8f76d45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0c60e7db984201" /><Relationship Type="http://schemas.openxmlformats.org/officeDocument/2006/relationships/image" Target="/ppt/media/image7.png" Id="R93b3c7c33a3d4f3d" /><Relationship Type="http://schemas.openxmlformats.org/officeDocument/2006/relationships/image" Target="/ppt/media/image8.png" Id="Rb2ea28567df84c81" /><Relationship Type="http://schemas.openxmlformats.org/officeDocument/2006/relationships/notesSlide" Target="/ppt/notesSlides/notesSlide9.xml" Id="Ra009b8355dfa4d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3d176233d143c0" /><Relationship Type="http://schemas.openxmlformats.org/officeDocument/2006/relationships/image" Target="/ppt/media/image9.png" Id="Re08b994375b540b0" /><Relationship Type="http://schemas.openxmlformats.org/officeDocument/2006/relationships/image" Target="/ppt/media/image10.png" Id="R04c6043dcb2549e5" /><Relationship Type="http://schemas.openxmlformats.org/officeDocument/2006/relationships/notesSlide" Target="/ppt/notesSlides/notesSlide10.xml" Id="Rc76551bba02644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f1a9be533e549a4" /><Relationship Type="http://schemas.openxmlformats.org/officeDocument/2006/relationships/notesSlide" Target="/ppt/notesSlides/notesSlide11.xml" Id="Rc86394345ada40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d65b7c6cd54ca8" /><Relationship Type="http://schemas.openxmlformats.org/officeDocument/2006/relationships/hyperlink" Target="https://stitch.withgoogle.com/preview/10059602616228007293?node-id=f4c596c319264fa182ad8c2c92ebf951" TargetMode="External" Id="R4c41f7f50ed943f8" /><Relationship Type="http://schemas.openxmlformats.org/officeDocument/2006/relationships/hyperlink" Target="https://github.com/HungUniverse/prm323-lab2" TargetMode="External" Id="R3099ecb782d7425c" /><Relationship Type="http://schemas.openxmlformats.org/officeDocument/2006/relationships/notesSlide" Target="/ppt/notesSlides/notesSlide12.xml" Id="R2ead63e5f878461f" /></Relationships>
</file>

<file path=ppt/slides/slide1.xml><?xml version="1.0" encoding="utf-8"?>
<p:sld xmlns:p="http://schemas.openxmlformats.org/presentationml/2006/main">
  <p:cSld>
    <p:bg>
      <p:bgPr>
        <a:solidFill xmlns:a="http://schemas.openxmlformats.org/drawingml/2006/main">
          <a:srgbClr val="FF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9FDE0B-1DBA-447B-B8C0-50E2170731D8}"/>
              </a:ext>
            </a:extLst>
          </p:cNvPr>
          <p:cNvSpPr>
            <a:spLocks xmlns:a="http://schemas.openxmlformats.org/drawingml/2006/main" noGrp="1"/>
          </p:cNvSpPr>
          <p:nvPr/>
        </p:nvSpPr>
        <p:spPr>
          <a:xfrm xmlns:a="http://schemas.openxmlformats.org/drawingml/2006/main">
            <a:off x="685800" y="1809750"/>
            <a:ext cx="762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243047"/>
                </a:solidFill>
                <a:latin typeface="Arial"/>
                <a:ea typeface="Arial"/>
                <a:cs typeface="Arial"/>
              </a:defRPr>
            </a:defPPr>
          </a:lstStyle>
          <a:p xmlns:a="http://schemas.openxmlformats.org/drawingml/2006/main">
            <a:pPr>
              <a:defRPr sz="5400" b="1">
                <a:solidFill>
                  <a:srgbClr val="243047"/>
                </a:solidFill>
                <a:latin typeface="Arial"/>
                <a:ea typeface="Arial"/>
                <a:cs typeface="Arial"/>
              </a:defRPr>
            </a:pPr>
            <a:r>
              <a:rPr sz="5400" b="1">
                <a:solidFill>
                  <a:srgbClr val="243047"/>
                </a:solidFill>
                <a:latin typeface="Arial"/>
                <a:ea typeface="Arial"/>
                <a:cs typeface="Arial"/>
              </a:rPr>
              <a:t>FAP Attendance</a:t>
            </a:r>
          </a:p>
        </p:txBody>
      </p:sp>
      <p:sp>
        <p:nvSpPr>
          <p:cNvPr id="2" name="">
            <a:extLst xmlns:a="http://schemas.openxmlformats.org/drawingml/2006/main">
              <a:ext uri="{FF2B5EF4-FFF2-40B4-BE49-F238E27FC236}">
                <a16:creationId xmlns:a16="http://schemas.microsoft.com/office/drawing/2014/main" id="{9F3B13BF-D127-4EE6-9E1E-F5C84F41A229}"/>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8B44ECD-056F-4A5D-867E-6AB3F5678AB0}"/>
              </a:ext>
            </a:extLst>
          </p:cNvPr>
          <p:cNvSpPr>
            <a:spLocks xmlns:a="http://schemas.openxmlformats.org/drawingml/2006/main" noGrp="1"/>
          </p:cNvSpPr>
          <p:nvPr/>
        </p:nvSpPr>
        <p:spPr>
          <a:xfrm xmlns:a="http://schemas.openxmlformats.org/drawingml/2006/main">
            <a:off x="685800" y="3009900"/>
            <a:ext cx="7239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243047"/>
                </a:solidFill>
                <a:latin typeface="Arial"/>
                <a:ea typeface="Arial"/>
                <a:cs typeface="Arial"/>
              </a:defRPr>
            </a:defPPr>
          </a:lstStyle>
          <a:p xmlns:a="http://schemas.openxmlformats.org/drawingml/2006/main">
            <a:pPr>
              <a:defRPr sz="2700" b="0">
                <a:solidFill>
                  <a:srgbClr val="243047"/>
                </a:solidFill>
                <a:latin typeface="Arial"/>
                <a:ea typeface="Arial"/>
                <a:cs typeface="Arial"/>
              </a:defRPr>
            </a:pPr>
            <a:r>
              <a:rPr sz="2700" b="0">
                <a:solidFill>
                  <a:srgbClr val="243047"/>
                </a:solidFill>
                <a:latin typeface="Arial"/>
                <a:ea typeface="Arial"/>
                <a:cs typeface="Arial"/>
              </a:rPr>
              <a:t>Thiết kế ứng dụng điểm danh</a:t>
            </a:r>
          </a:p>
          <a:p xmlns:a="http://schemas.openxmlformats.org/drawingml/2006/main">
            <a:pPr>
              <a:defRPr sz="2700" b="0">
                <a:solidFill>
                  <a:srgbClr val="243047"/>
                </a:solidFill>
                <a:latin typeface="Arial"/>
                <a:ea typeface="Arial"/>
                <a:cs typeface="Arial"/>
              </a:defRPr>
            </a:pPr>
            <a:r>
              <a:rPr sz="2700" b="0">
                <a:solidFill>
                  <a:srgbClr val="243047"/>
                </a:solidFill>
                <a:latin typeface="Arial"/>
                <a:ea typeface="Arial"/>
                <a:cs typeface="Arial"/>
              </a:rPr>
              <a:t>cho giảng viên FPT</a:t>
            </a:r>
          </a:p>
        </p:txBody>
      </p:sp>
      <p:sp>
        <p:nvSpPr>
          <p:cNvPr id="4" name="">
            <a:extLst xmlns:a="http://schemas.openxmlformats.org/drawingml/2006/main">
              <a:ext uri="{FF2B5EF4-FFF2-40B4-BE49-F238E27FC236}">
                <a16:creationId xmlns:a16="http://schemas.microsoft.com/office/drawing/2014/main" id="{480256D2-F4D9-4CAB-AD2E-61808F8AEFB8}"/>
              </a:ext>
            </a:extLst>
          </p:cNvPr>
          <p:cNvSpPr>
            <a:spLocks xmlns:a="http://schemas.openxmlformats.org/drawingml/2006/main" noGrp="1"/>
          </p:cNvSpPr>
          <p:nvPr/>
        </p:nvSpPr>
        <p:spPr>
          <a:xfrm xmlns:a="http://schemas.openxmlformats.org/drawingml/2006/main">
            <a:off x="685800" y="47815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67085"/>
                </a:solidFill>
                <a:latin typeface="Arial"/>
                <a:ea typeface="Arial"/>
                <a:cs typeface="Arial"/>
              </a:defRPr>
            </a:defPPr>
          </a:lstStyle>
          <a:p xmlns:a="http://schemas.openxmlformats.org/drawingml/2006/main">
            <a:pPr>
              <a:defRPr sz="2025" b="0">
                <a:solidFill>
                  <a:srgbClr val="667085"/>
                </a:solidFill>
                <a:latin typeface="Arial"/>
                <a:ea typeface="Arial"/>
                <a:cs typeface="Arial"/>
              </a:defRPr>
            </a:pPr>
            <a:r>
              <a:rPr sz="2025" b="0">
                <a:solidFill>
                  <a:srgbClr val="667085"/>
                </a:solidFill>
                <a:latin typeface="Arial"/>
                <a:ea typeface="Arial"/>
                <a:cs typeface="Arial"/>
              </a:rPr>
              <a:t>PRM323 Lab 2</a:t>
            </a:r>
          </a:p>
          <a:p xmlns:a="http://schemas.openxmlformats.org/drawingml/2006/main">
            <a:pPr>
              <a:defRPr sz="2025" b="0">
                <a:solidFill>
                  <a:srgbClr val="667085"/>
                </a:solidFill>
                <a:latin typeface="Arial"/>
                <a:ea typeface="Arial"/>
                <a:cs typeface="Arial"/>
              </a:defRPr>
            </a:pPr>
            <a:r>
              <a:rPr sz="2025" b="0">
                <a:solidFill>
                  <a:srgbClr val="667085"/>
                </a:solidFill>
                <a:latin typeface="Arial"/>
                <a:ea typeface="Arial"/>
                <a:cs typeface="Arial"/>
              </a:rPr>
              <a:t>Sinh viên: SE193324</a:t>
            </a:r>
          </a:p>
        </p:txBody>
      </p:sp>
      <p:pic>
        <p:nvPicPr>
          <p:cNvPr id="5" name="">
            <a:extLst xmlns:a="http://schemas.openxmlformats.org/drawingml/2006/main">
              <a:ext uri="{FF2B5EF4-FFF2-40B4-BE49-F238E27FC236}">
                <a16:creationId xmlns:a16="http://schemas.microsoft.com/office/drawing/2014/main" id="{63473D3E-181D-49BD-BA6B-B45988F4D3FD}"/>
              </a:ext>
            </a:extLst>
          </p:cNvPr>
          <p:cNvPicPr>
            <a:picLocks xmlns:a="http://schemas.openxmlformats.org/drawingml/2006/main" noChangeAspect="1"/>
          </p:cNvPicPr>
          <p:nvPr/>
        </p:nvPicPr>
        <p:blipFill>
          <a:blip xmlns:r="http://schemas.openxmlformats.org/officeDocument/2006/relationships" xmlns:a="http://schemas.openxmlformats.org/drawingml/2006/main" r:embed="R1874cc33582f451d"/>
          <a:stretch xmlns:a="http://schemas.openxmlformats.org/drawingml/2006/main"/>
        </p:blipFill>
        <p:spPr>
          <a:xfrm xmlns:a="http://schemas.openxmlformats.org/drawingml/2006/main">
            <a:off x="8811201" y="876300"/>
            <a:ext cx="2589647" cy="5276850"/>
          </a:xfrm>
          <a:prstGeom xmlns:a="http://schemas.openxmlformats.org/drawingml/2006/main" prst="rect">
            <a:avLst/>
          </a:prstGeom>
        </p:spPr>
      </p:pic>
    </p:spTree>
    <p:extLst>
      <p:ext uri="{BB962C8B-B14F-4D97-AF65-F5344CB8AC3E}">
        <p14:creationId xmlns:p14="http://schemas.microsoft.com/office/powerpoint/2010/main" val="20086180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CF3219-4891-483D-95E6-893D816078E8}"/>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Vấn đề cần giải quyết</a:t>
            </a:r>
          </a:p>
        </p:txBody>
      </p:sp>
      <p:sp>
        <p:nvSpPr>
          <p:cNvPr id="2" name="">
            <a:extLst xmlns:a="http://schemas.openxmlformats.org/drawingml/2006/main">
              <a:ext uri="{FF2B5EF4-FFF2-40B4-BE49-F238E27FC236}">
                <a16:creationId xmlns:a16="http://schemas.microsoft.com/office/drawing/2014/main" id="{1B63A126-1BDD-4208-BC39-8D5153E8EF95}"/>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360587C-A4AB-4A93-8DA9-EC21703E4CB1}"/>
              </a:ext>
            </a:extLst>
          </p:cNvPr>
          <p:cNvSpPr>
            <a:spLocks xmlns:a="http://schemas.openxmlformats.org/drawingml/2006/main" noGrp="1"/>
          </p:cNvSpPr>
          <p:nvPr/>
        </p:nvSpPr>
        <p:spPr>
          <a:xfrm xmlns:a="http://schemas.openxmlformats.org/drawingml/2006/main">
            <a:off x="685800" y="16002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9353E78B-572F-404F-B62B-73B9A4D1718A}"/>
              </a:ext>
            </a:extLst>
          </p:cNvPr>
          <p:cNvSpPr>
            <a:spLocks xmlns:a="http://schemas.openxmlformats.org/drawingml/2006/main" noGrp="1"/>
          </p:cNvSpPr>
          <p:nvPr/>
        </p:nvSpPr>
        <p:spPr>
          <a:xfrm xmlns:a="http://schemas.openxmlformats.org/drawingml/2006/main">
            <a:off x="1790700" y="16287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Chọn đúng lớp và buổi học</a:t>
            </a:r>
          </a:p>
        </p:txBody>
      </p:sp>
      <p:sp>
        <p:nvSpPr>
          <p:cNvPr id="5" name="">
            <a:extLst xmlns:a="http://schemas.openxmlformats.org/drawingml/2006/main">
              <a:ext uri="{FF2B5EF4-FFF2-40B4-BE49-F238E27FC236}">
                <a16:creationId xmlns:a16="http://schemas.microsoft.com/office/drawing/2014/main" id="{8E4915F2-B551-4A9A-A364-87B7D2805218}"/>
              </a:ext>
            </a:extLst>
          </p:cNvPr>
          <p:cNvSpPr>
            <a:spLocks xmlns:a="http://schemas.openxmlformats.org/drawingml/2006/main" noGrp="1"/>
          </p:cNvSpPr>
          <p:nvPr/>
        </p:nvSpPr>
        <p:spPr>
          <a:xfrm xmlns:a="http://schemas.openxmlformats.org/drawingml/2006/main">
            <a:off x="1790700" y="21907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Nhiều lớp, ngày và khung giờ dễ gây nhầm lẫn.</a:t>
            </a:r>
          </a:p>
        </p:txBody>
      </p:sp>
      <p:sp>
        <p:nvSpPr>
          <p:cNvPr id="6" name="">
            <a:extLst xmlns:a="http://schemas.openxmlformats.org/drawingml/2006/main">
              <a:ext uri="{FF2B5EF4-FFF2-40B4-BE49-F238E27FC236}">
                <a16:creationId xmlns:a16="http://schemas.microsoft.com/office/drawing/2014/main" id="{7E7761D8-D5F2-42E5-8408-9F2EF47A43B0}"/>
              </a:ext>
            </a:extLst>
          </p:cNvPr>
          <p:cNvSpPr>
            <a:spLocks xmlns:a="http://schemas.openxmlformats.org/drawingml/2006/main" noGrp="1"/>
          </p:cNvSpPr>
          <p:nvPr/>
        </p:nvSpPr>
        <p:spPr>
          <a:xfrm xmlns:a="http://schemas.openxmlformats.org/drawingml/2006/main">
            <a:off x="685800" y="310515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3E958681-8F2C-4658-A212-3C5F11527F5C}"/>
              </a:ext>
            </a:extLst>
          </p:cNvPr>
          <p:cNvSpPr>
            <a:spLocks xmlns:a="http://schemas.openxmlformats.org/drawingml/2006/main" noGrp="1"/>
          </p:cNvSpPr>
          <p:nvPr/>
        </p:nvSpPr>
        <p:spPr>
          <a:xfrm xmlns:a="http://schemas.openxmlformats.org/drawingml/2006/main">
            <a:off x="1790700" y="31337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Ghi nhận và sửa điểm danh rõ ràng</a:t>
            </a:r>
          </a:p>
        </p:txBody>
      </p:sp>
      <p:sp>
        <p:nvSpPr>
          <p:cNvPr id="8" name="">
            <a:extLst xmlns:a="http://schemas.openxmlformats.org/drawingml/2006/main">
              <a:ext uri="{FF2B5EF4-FFF2-40B4-BE49-F238E27FC236}">
                <a16:creationId xmlns:a16="http://schemas.microsoft.com/office/drawing/2014/main" id="{29EA2675-DC57-49DB-A285-10E560977860}"/>
              </a:ext>
            </a:extLst>
          </p:cNvPr>
          <p:cNvSpPr>
            <a:spLocks xmlns:a="http://schemas.openxmlformats.org/drawingml/2006/main" noGrp="1"/>
          </p:cNvSpPr>
          <p:nvPr/>
        </p:nvSpPr>
        <p:spPr>
          <a:xfrm xmlns:a="http://schemas.openxmlformats.org/drawingml/2006/main">
            <a:off x="1790700" y="369570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Cần biết ai có mặt, ai chưa ghi nhận và vì sao có chỉnh sửa.</a:t>
            </a:r>
          </a:p>
        </p:txBody>
      </p:sp>
      <p:sp>
        <p:nvSpPr>
          <p:cNvPr id="9" name="">
            <a:extLst xmlns:a="http://schemas.openxmlformats.org/drawingml/2006/main">
              <a:ext uri="{FF2B5EF4-FFF2-40B4-BE49-F238E27FC236}">
                <a16:creationId xmlns:a16="http://schemas.microsoft.com/office/drawing/2014/main" id="{91FF7EF9-D9FD-4B6B-A48E-70665F461C27}"/>
              </a:ext>
            </a:extLst>
          </p:cNvPr>
          <p:cNvSpPr>
            <a:spLocks xmlns:a="http://schemas.openxmlformats.org/drawingml/2006/main" noGrp="1"/>
          </p:cNvSpPr>
          <p:nvPr/>
        </p:nvSpPr>
        <p:spPr>
          <a:xfrm xmlns:a="http://schemas.openxmlformats.org/drawingml/2006/main">
            <a:off x="685800" y="46101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CB2F400E-B82F-423C-8C5A-CA46C70EC7D2}"/>
              </a:ext>
            </a:extLst>
          </p:cNvPr>
          <p:cNvSpPr>
            <a:spLocks xmlns:a="http://schemas.openxmlformats.org/drawingml/2006/main" noGrp="1"/>
          </p:cNvSpPr>
          <p:nvPr/>
        </p:nvSpPr>
        <p:spPr>
          <a:xfrm xmlns:a="http://schemas.openxmlformats.org/drawingml/2006/main">
            <a:off x="1790700" y="46386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Biết dữ liệu đã lưu ở đâu</a:t>
            </a:r>
          </a:p>
        </p:txBody>
      </p:sp>
      <p:sp>
        <p:nvSpPr>
          <p:cNvPr id="11" name="">
            <a:extLst xmlns:a="http://schemas.openxmlformats.org/drawingml/2006/main">
              <a:ext uri="{FF2B5EF4-FFF2-40B4-BE49-F238E27FC236}">
                <a16:creationId xmlns:a16="http://schemas.microsoft.com/office/drawing/2014/main" id="{89AF5709-E0B1-487F-B328-EF1C81FF52AE}"/>
              </a:ext>
            </a:extLst>
          </p:cNvPr>
          <p:cNvSpPr>
            <a:spLocks xmlns:a="http://schemas.openxmlformats.org/drawingml/2006/main" noGrp="1"/>
          </p:cNvSpPr>
          <p:nvPr/>
        </p:nvSpPr>
        <p:spPr>
          <a:xfrm xmlns:a="http://schemas.openxmlformats.org/drawingml/2006/main">
            <a:off x="1790700" y="52006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Lưu trên máy và sao lưu Drive cần có thông báo riêng.</a:t>
            </a:r>
          </a:p>
        </p:txBody>
      </p:sp>
    </p:spTree>
    <p:extLst>
      <p:ext uri="{BB962C8B-B14F-4D97-AF65-F5344CB8AC3E}">
        <p14:creationId xmlns:p14="http://schemas.microsoft.com/office/powerpoint/2010/main" val="15084458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C3D95D-F168-4DE9-BB8F-C92ED1A22AFE}"/>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Người dùng và mục tiêu</a:t>
            </a:r>
          </a:p>
        </p:txBody>
      </p:sp>
      <p:sp>
        <p:nvSpPr>
          <p:cNvPr id="2" name="">
            <a:extLst xmlns:a="http://schemas.openxmlformats.org/drawingml/2006/main">
              <a:ext uri="{FF2B5EF4-FFF2-40B4-BE49-F238E27FC236}">
                <a16:creationId xmlns:a16="http://schemas.microsoft.com/office/drawing/2014/main" id="{187F749F-8295-4229-8AC6-BA7CF588579A}"/>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E6B1B90-CAC3-41F2-9EA8-BDD9497D4355}"/>
              </a:ext>
            </a:extLst>
          </p:cNvPr>
          <p:cNvSpPr>
            <a:spLocks xmlns:a="http://schemas.openxmlformats.org/drawingml/2006/main" noGrp="1"/>
          </p:cNvSpPr>
          <p:nvPr/>
        </p:nvSpPr>
        <p:spPr>
          <a:xfrm xmlns:a="http://schemas.openxmlformats.org/drawingml/2006/main">
            <a:off x="685800" y="17145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C93C13"/>
                </a:solidFill>
                <a:latin typeface="Arial"/>
                <a:ea typeface="Arial"/>
                <a:cs typeface="Arial"/>
              </a:defRPr>
            </a:defPPr>
          </a:lstStyle>
          <a:p xmlns:a="http://schemas.openxmlformats.org/drawingml/2006/main">
            <a:pPr>
              <a:defRPr sz="2850" b="1">
                <a:solidFill>
                  <a:srgbClr val="C93C13"/>
                </a:solidFill>
                <a:latin typeface="Arial"/>
                <a:ea typeface="Arial"/>
                <a:cs typeface="Arial"/>
              </a:defRPr>
            </a:pPr>
            <a:r>
              <a:rPr sz="2850" b="1">
                <a:solidFill>
                  <a:srgbClr val="C93C13"/>
                </a:solidFill>
                <a:latin typeface="Arial"/>
                <a:ea typeface="Arial"/>
                <a:cs typeface="Arial"/>
              </a:rPr>
              <a:t>Giảng viên Đại học FPT</a:t>
            </a:r>
          </a:p>
        </p:txBody>
      </p:sp>
      <p:sp>
        <p:nvSpPr>
          <p:cNvPr id="4" name="">
            <a:extLst xmlns:a="http://schemas.openxmlformats.org/drawingml/2006/main">
              <a:ext uri="{FF2B5EF4-FFF2-40B4-BE49-F238E27FC236}">
                <a16:creationId xmlns:a16="http://schemas.microsoft.com/office/drawing/2014/main" id="{5F33434C-BCB2-4035-928B-FAA976CD431F}"/>
              </a:ext>
            </a:extLst>
          </p:cNvPr>
          <p:cNvSpPr>
            <a:spLocks xmlns:a="http://schemas.openxmlformats.org/drawingml/2006/main" noGrp="1"/>
          </p:cNvSpPr>
          <p:nvPr/>
        </p:nvSpPr>
        <p:spPr>
          <a:xfrm xmlns:a="http://schemas.openxmlformats.org/drawingml/2006/main">
            <a:off x="685800" y="238125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43047"/>
                </a:solidFill>
                <a:latin typeface="Arial"/>
                <a:ea typeface="Arial"/>
                <a:cs typeface="Arial"/>
              </a:defRPr>
            </a:defPPr>
          </a:lstStyle>
          <a:p xmlns:a="http://schemas.openxmlformats.org/drawingml/2006/main">
            <a:pPr>
              <a:defRPr sz="2325" b="0">
                <a:solidFill>
                  <a:srgbClr val="243047"/>
                </a:solidFill>
                <a:latin typeface="Arial"/>
                <a:ea typeface="Arial"/>
                <a:cs typeface="Arial"/>
              </a:defRPr>
            </a:pPr>
            <a:r>
              <a:rPr sz="2325" b="0">
                <a:solidFill>
                  <a:srgbClr val="243047"/>
                </a:solidFill>
                <a:latin typeface="Arial"/>
                <a:ea typeface="Arial"/>
                <a:cs typeface="Arial"/>
              </a:rPr>
              <a:t>Quản lý nhiều lớp trên điện thoại</a:t>
            </a:r>
          </a:p>
        </p:txBody>
      </p:sp>
      <p:sp>
        <p:nvSpPr>
          <p:cNvPr id="5" name="">
            <a:extLst xmlns:a="http://schemas.openxmlformats.org/drawingml/2006/main">
              <a:ext uri="{FF2B5EF4-FFF2-40B4-BE49-F238E27FC236}">
                <a16:creationId xmlns:a16="http://schemas.microsoft.com/office/drawing/2014/main" id="{7D434D18-07F3-43FB-A6A3-486501B845F4}"/>
              </a:ext>
            </a:extLst>
          </p:cNvPr>
          <p:cNvSpPr>
            <a:spLocks xmlns:a="http://schemas.openxmlformats.org/drawingml/2006/main" noGrp="1"/>
          </p:cNvSpPr>
          <p:nvPr/>
        </p:nvSpPr>
        <p:spPr>
          <a:xfrm xmlns:a="http://schemas.openxmlformats.org/drawingml/2006/main">
            <a:off x="685800" y="3476625"/>
            <a:ext cx="700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Mục tiêu sử dụng</a:t>
            </a:r>
          </a:p>
        </p:txBody>
      </p:sp>
      <p:sp>
        <p:nvSpPr>
          <p:cNvPr id="6" name="">
            <a:extLst xmlns:a="http://schemas.openxmlformats.org/drawingml/2006/main">
              <a:ext uri="{FF2B5EF4-FFF2-40B4-BE49-F238E27FC236}">
                <a16:creationId xmlns:a16="http://schemas.microsoft.com/office/drawing/2014/main" id="{0CEE26AC-7117-4B9B-9956-06337C78E8FA}"/>
              </a:ext>
            </a:extLst>
          </p:cNvPr>
          <p:cNvSpPr>
            <a:spLocks xmlns:a="http://schemas.openxmlformats.org/drawingml/2006/main" noGrp="1"/>
          </p:cNvSpPr>
          <p:nvPr/>
        </p:nvSpPr>
        <p:spPr>
          <a:xfrm xmlns:a="http://schemas.openxmlformats.org/drawingml/2006/main">
            <a:off x="685800" y="3971925"/>
            <a:ext cx="7000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Tìm đúng lớp và buổi học</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Theo dõi kết quả dễ đọc</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Sửa sai có lý do và lưu kết quả</a:t>
            </a:r>
          </a:p>
        </p:txBody>
      </p:sp>
      <p:sp>
        <p:nvSpPr>
          <p:cNvPr id="7" name="">
            <a:extLst xmlns:a="http://schemas.openxmlformats.org/drawingml/2006/main">
              <a:ext uri="{FF2B5EF4-FFF2-40B4-BE49-F238E27FC236}">
                <a16:creationId xmlns:a16="http://schemas.microsoft.com/office/drawing/2014/main" id="{836559B2-BA52-4748-ACBA-BCCFFE69B5E8}"/>
              </a:ext>
            </a:extLst>
          </p:cNvPr>
          <p:cNvSpPr>
            <a:spLocks xmlns:a="http://schemas.openxmlformats.org/drawingml/2006/main" noGrp="1"/>
          </p:cNvSpPr>
          <p:nvPr/>
        </p:nvSpPr>
        <p:spPr>
          <a:xfrm xmlns:a="http://schemas.openxmlformats.org/drawingml/2006/main">
            <a:off x="685800" y="57912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Nhu cầu giả định từ yêu cầu dự án</a:t>
            </a:r>
          </a:p>
        </p:txBody>
      </p:sp>
      <p:pic>
        <p:nvPicPr>
          <p:cNvPr id="8" name="">
            <a:extLst xmlns:a="http://schemas.openxmlformats.org/drawingml/2006/main">
              <a:ext uri="{FF2B5EF4-FFF2-40B4-BE49-F238E27FC236}">
                <a16:creationId xmlns:a16="http://schemas.microsoft.com/office/drawing/2014/main" id="{C7197D96-F435-42F3-A037-1186808D079A}"/>
              </a:ext>
            </a:extLst>
          </p:cNvPr>
          <p:cNvPicPr>
            <a:picLocks xmlns:a="http://schemas.openxmlformats.org/drawingml/2006/main" noChangeAspect="1"/>
          </p:cNvPicPr>
          <p:nvPr/>
        </p:nvPicPr>
        <p:blipFill>
          <a:blip xmlns:r="http://schemas.openxmlformats.org/officeDocument/2006/relationships" xmlns:a="http://schemas.openxmlformats.org/drawingml/2006/main" r:embed="Rd84b4cf8061748b8"/>
          <a:stretch xmlns:a="http://schemas.openxmlformats.org/drawingml/2006/main"/>
        </p:blipFill>
        <p:spPr>
          <a:xfrm xmlns:a="http://schemas.openxmlformats.org/drawingml/2006/main">
            <a:off x="8898731" y="1409700"/>
            <a:ext cx="2357438" cy="4714875"/>
          </a:xfrm>
          <a:prstGeom xmlns:a="http://schemas.openxmlformats.org/drawingml/2006/main" prst="rect">
            <a:avLst/>
          </a:prstGeom>
        </p:spPr>
      </p:pic>
    </p:spTree>
    <p:extLst>
      <p:ext uri="{BB962C8B-B14F-4D97-AF65-F5344CB8AC3E}">
        <p14:creationId xmlns:p14="http://schemas.microsoft.com/office/powerpoint/2010/main" val="12122961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3AD89F-7D75-4236-BA5F-B9964449695A}"/>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Phạm vi 10 màn hình</a:t>
            </a:r>
          </a:p>
        </p:txBody>
      </p:sp>
      <p:sp>
        <p:nvSpPr>
          <p:cNvPr id="2" name="">
            <a:extLst xmlns:a="http://schemas.openxmlformats.org/drawingml/2006/main">
              <a:ext uri="{FF2B5EF4-FFF2-40B4-BE49-F238E27FC236}">
                <a16:creationId xmlns:a16="http://schemas.microsoft.com/office/drawing/2014/main" id="{A9171F01-8CFE-4F61-B28F-D11626E41D94}"/>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4750F27-AA1E-4121-B37F-06DA60EBFDE6}"/>
              </a:ext>
            </a:extLst>
          </p:cNvPr>
          <p:cNvSpPr>
            <a:spLocks xmlns:a="http://schemas.openxmlformats.org/drawingml/2006/main" noGrp="1"/>
          </p:cNvSpPr>
          <p:nvPr/>
        </p:nvSpPr>
        <p:spPr>
          <a:xfrm xmlns:a="http://schemas.openxmlformats.org/drawingml/2006/main">
            <a:off x="685800" y="16002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F7C70A7E-7CDD-49BA-8B98-FA8F2CD74A50}"/>
              </a:ext>
            </a:extLst>
          </p:cNvPr>
          <p:cNvSpPr>
            <a:spLocks xmlns:a="http://schemas.openxmlformats.org/drawingml/2006/main" noGrp="1"/>
          </p:cNvSpPr>
          <p:nvPr/>
        </p:nvSpPr>
        <p:spPr>
          <a:xfrm xmlns:a="http://schemas.openxmlformats.org/drawingml/2006/main">
            <a:off x="1790700" y="16287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Chuẩn bị lớp học</a:t>
            </a:r>
          </a:p>
        </p:txBody>
      </p:sp>
      <p:sp>
        <p:nvSpPr>
          <p:cNvPr id="5" name="">
            <a:extLst xmlns:a="http://schemas.openxmlformats.org/drawingml/2006/main">
              <a:ext uri="{FF2B5EF4-FFF2-40B4-BE49-F238E27FC236}">
                <a16:creationId xmlns:a16="http://schemas.microsoft.com/office/drawing/2014/main" id="{8C21AFEF-EF1F-4C37-A3E7-271551BF5833}"/>
              </a:ext>
            </a:extLst>
          </p:cNvPr>
          <p:cNvSpPr>
            <a:spLocks xmlns:a="http://schemas.openxmlformats.org/drawingml/2006/main" noGrp="1"/>
          </p:cNvSpPr>
          <p:nvPr/>
        </p:nvSpPr>
        <p:spPr>
          <a:xfrm xmlns:a="http://schemas.openxmlformats.org/drawingml/2006/main">
            <a:off x="1790700" y="21907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Bắt đầu, nhập danh sách, lịch và danh sách lớp, cấu hình lịch</a:t>
            </a:r>
          </a:p>
        </p:txBody>
      </p:sp>
      <p:sp>
        <p:nvSpPr>
          <p:cNvPr id="6" name="">
            <a:extLst xmlns:a="http://schemas.openxmlformats.org/drawingml/2006/main">
              <a:ext uri="{FF2B5EF4-FFF2-40B4-BE49-F238E27FC236}">
                <a16:creationId xmlns:a16="http://schemas.microsoft.com/office/drawing/2014/main" id="{4FE5AADD-E986-4BB0-9E95-482D89B9F6CF}"/>
              </a:ext>
            </a:extLst>
          </p:cNvPr>
          <p:cNvSpPr>
            <a:spLocks xmlns:a="http://schemas.openxmlformats.org/drawingml/2006/main" noGrp="1"/>
          </p:cNvSpPr>
          <p:nvPr/>
        </p:nvSpPr>
        <p:spPr>
          <a:xfrm xmlns:a="http://schemas.openxmlformats.org/drawingml/2006/main">
            <a:off x="685800" y="310515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A234DD0-1034-40B5-9FFC-78A2523659B2}"/>
              </a:ext>
            </a:extLst>
          </p:cNvPr>
          <p:cNvSpPr>
            <a:spLocks xmlns:a="http://schemas.openxmlformats.org/drawingml/2006/main" noGrp="1"/>
          </p:cNvSpPr>
          <p:nvPr/>
        </p:nvSpPr>
        <p:spPr>
          <a:xfrm xmlns:a="http://schemas.openxmlformats.org/drawingml/2006/main">
            <a:off x="1790700" y="31337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Điểm danh trong giờ học</a:t>
            </a:r>
          </a:p>
        </p:txBody>
      </p:sp>
      <p:sp>
        <p:nvSpPr>
          <p:cNvPr id="8" name="">
            <a:extLst xmlns:a="http://schemas.openxmlformats.org/drawingml/2006/main">
              <a:ext uri="{FF2B5EF4-FFF2-40B4-BE49-F238E27FC236}">
                <a16:creationId xmlns:a16="http://schemas.microsoft.com/office/drawing/2014/main" id="{87AF3219-968C-4A64-B762-DD1D51BD55B2}"/>
              </a:ext>
            </a:extLst>
          </p:cNvPr>
          <p:cNvSpPr>
            <a:spLocks xmlns:a="http://schemas.openxmlformats.org/drawingml/2006/main" noGrp="1"/>
          </p:cNvSpPr>
          <p:nvPr/>
        </p:nvSpPr>
        <p:spPr>
          <a:xfrm xmlns:a="http://schemas.openxmlformats.org/drawingml/2006/main">
            <a:off x="1790700" y="369570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Điểm danh lớp, hiển thị QR và xác nhận chốt</a:t>
            </a:r>
          </a:p>
        </p:txBody>
      </p:sp>
      <p:sp>
        <p:nvSpPr>
          <p:cNvPr id="9" name="">
            <a:extLst xmlns:a="http://schemas.openxmlformats.org/drawingml/2006/main">
              <a:ext uri="{FF2B5EF4-FFF2-40B4-BE49-F238E27FC236}">
                <a16:creationId xmlns:a16="http://schemas.microsoft.com/office/drawing/2014/main" id="{BD5B5765-4DB2-45D6-A032-795C62CEA23E}"/>
              </a:ext>
            </a:extLst>
          </p:cNvPr>
          <p:cNvSpPr>
            <a:spLocks xmlns:a="http://schemas.openxmlformats.org/drawingml/2006/main" noGrp="1"/>
          </p:cNvSpPr>
          <p:nvPr/>
        </p:nvSpPr>
        <p:spPr>
          <a:xfrm xmlns:a="http://schemas.openxmlformats.org/drawingml/2006/main">
            <a:off x="685800" y="46101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6EEB3058-2AC0-437C-B1FD-A8E27F28114F}"/>
              </a:ext>
            </a:extLst>
          </p:cNvPr>
          <p:cNvSpPr>
            <a:spLocks xmlns:a="http://schemas.openxmlformats.org/drawingml/2006/main" noGrp="1"/>
          </p:cNvSpPr>
          <p:nvPr/>
        </p:nvSpPr>
        <p:spPr>
          <a:xfrm xmlns:a="http://schemas.openxmlformats.org/drawingml/2006/main">
            <a:off x="1790700" y="46386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Kiểm tra và lưu kết quả</a:t>
            </a:r>
          </a:p>
        </p:txBody>
      </p:sp>
      <p:sp>
        <p:nvSpPr>
          <p:cNvPr id="11" name="">
            <a:extLst xmlns:a="http://schemas.openxmlformats.org/drawingml/2006/main">
              <a:ext uri="{FF2B5EF4-FFF2-40B4-BE49-F238E27FC236}">
                <a16:creationId xmlns:a16="http://schemas.microsoft.com/office/drawing/2014/main" id="{CED322B5-B73F-4508-ADA2-62E3B5B4291E}"/>
              </a:ext>
            </a:extLst>
          </p:cNvPr>
          <p:cNvSpPr>
            <a:spLocks xmlns:a="http://schemas.openxmlformats.org/drawingml/2006/main" noGrp="1"/>
          </p:cNvSpPr>
          <p:nvPr/>
        </p:nvSpPr>
        <p:spPr>
          <a:xfrm xmlns:a="http://schemas.openxmlformats.org/drawingml/2006/main">
            <a:off x="1790700" y="52006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Chi tiết sinh viên, lịch sử, xuất tệp, quản lý Google Drive</a:t>
            </a:r>
          </a:p>
        </p:txBody>
      </p:sp>
    </p:spTree>
    <p:extLst>
      <p:ext uri="{BB962C8B-B14F-4D97-AF65-F5344CB8AC3E}">
        <p14:creationId xmlns:p14="http://schemas.microsoft.com/office/powerpoint/2010/main" val="1175941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F3CC6A-2960-443A-A2A1-154CC1FC3640}"/>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Cách sử dụng AI</a:t>
            </a:r>
          </a:p>
        </p:txBody>
      </p:sp>
      <p:sp>
        <p:nvSpPr>
          <p:cNvPr id="2" name="">
            <a:extLst xmlns:a="http://schemas.openxmlformats.org/drawingml/2006/main">
              <a:ext uri="{FF2B5EF4-FFF2-40B4-BE49-F238E27FC236}">
                <a16:creationId xmlns:a16="http://schemas.microsoft.com/office/drawing/2014/main" id="{84C364FA-2C2D-46DF-B2C6-A7084B52A797}"/>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CD404206-EAF3-4C09-B3A9-51530981EC21}"/>
              </a:ext>
            </a:extLst>
          </p:cNvPr>
          <p:cNvSpPr>
            <a:spLocks xmlns:a="http://schemas.openxmlformats.org/drawingml/2006/main" noGrp="1"/>
          </p:cNvSpPr>
          <p:nvPr/>
        </p:nvSpPr>
        <p:spPr>
          <a:xfrm xmlns:a="http://schemas.openxmlformats.org/drawingml/2006/main">
            <a:off x="685800" y="16764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Google Stitch</a:t>
            </a:r>
          </a:p>
        </p:txBody>
      </p:sp>
      <p:sp>
        <p:nvSpPr>
          <p:cNvPr id="4" name="">
            <a:extLst xmlns:a="http://schemas.openxmlformats.org/drawingml/2006/main">
              <a:ext uri="{FF2B5EF4-FFF2-40B4-BE49-F238E27FC236}">
                <a16:creationId xmlns:a16="http://schemas.microsoft.com/office/drawing/2014/main" id="{ED974D31-CAB6-493D-875D-8985EA66423E}"/>
              </a:ext>
            </a:extLst>
          </p:cNvPr>
          <p:cNvSpPr>
            <a:spLocks xmlns:a="http://schemas.openxmlformats.org/drawingml/2006/main" noGrp="1"/>
          </p:cNvSpPr>
          <p:nvPr/>
        </p:nvSpPr>
        <p:spPr>
          <a:xfrm xmlns:a="http://schemas.openxmlformats.org/drawingml/2006/main">
            <a:off x="685800" y="21717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Tạo màn hình và prototype</a:t>
            </a:r>
          </a:p>
        </p:txBody>
      </p:sp>
      <p:sp>
        <p:nvSpPr>
          <p:cNvPr id="5" name="">
            <a:extLst xmlns:a="http://schemas.openxmlformats.org/drawingml/2006/main">
              <a:ext uri="{FF2B5EF4-FFF2-40B4-BE49-F238E27FC236}">
                <a16:creationId xmlns:a16="http://schemas.microsoft.com/office/drawing/2014/main" id="{5519A33E-EBC1-4117-B1CB-AFEA59EC1C7C}"/>
              </a:ext>
            </a:extLst>
          </p:cNvPr>
          <p:cNvSpPr>
            <a:spLocks xmlns:a="http://schemas.openxmlformats.org/drawingml/2006/main" noGrp="1"/>
          </p:cNvSpPr>
          <p:nvPr/>
        </p:nvSpPr>
        <p:spPr>
          <a:xfrm xmlns:a="http://schemas.openxmlformats.org/drawingml/2006/main">
            <a:off x="685800" y="30861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Codex</a:t>
            </a:r>
          </a:p>
        </p:txBody>
      </p:sp>
      <p:sp>
        <p:nvSpPr>
          <p:cNvPr id="6" name="">
            <a:extLst xmlns:a="http://schemas.openxmlformats.org/drawingml/2006/main">
              <a:ext uri="{FF2B5EF4-FFF2-40B4-BE49-F238E27FC236}">
                <a16:creationId xmlns:a16="http://schemas.microsoft.com/office/drawing/2014/main" id="{7F8D9439-7BBF-4E2F-803C-E91AA5446E1B}"/>
              </a:ext>
            </a:extLst>
          </p:cNvPr>
          <p:cNvSpPr>
            <a:spLocks xmlns:a="http://schemas.openxmlformats.org/drawingml/2006/main" noGrp="1"/>
          </p:cNvSpPr>
          <p:nvPr/>
        </p:nvSpPr>
        <p:spPr>
          <a:xfrm xmlns:a="http://schemas.openxmlformats.org/drawingml/2006/main">
            <a:off x="685800" y="358140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Phản biện giao diện</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Hỗ trợ tài liệu và kịch bản demo</a:t>
            </a:r>
          </a:p>
        </p:txBody>
      </p:sp>
      <p:sp>
        <p:nvSpPr>
          <p:cNvPr id="7" name="">
            <a:extLst xmlns:a="http://schemas.openxmlformats.org/drawingml/2006/main">
              <a:ext uri="{FF2B5EF4-FFF2-40B4-BE49-F238E27FC236}">
                <a16:creationId xmlns:a16="http://schemas.microsoft.com/office/drawing/2014/main" id="{C8EA8827-67E7-4806-8092-5C22A1BD4E18}"/>
              </a:ext>
            </a:extLst>
          </p:cNvPr>
          <p:cNvSpPr>
            <a:spLocks xmlns:a="http://schemas.openxmlformats.org/drawingml/2006/main" noGrp="1"/>
          </p:cNvSpPr>
          <p:nvPr/>
        </p:nvSpPr>
        <p:spPr>
          <a:xfrm xmlns:a="http://schemas.openxmlformats.org/drawingml/2006/main">
            <a:off x="685800" y="5105400"/>
            <a:ext cx="5095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67085"/>
                </a:solidFill>
                <a:latin typeface="Arial"/>
                <a:ea typeface="Arial"/>
                <a:cs typeface="Arial"/>
              </a:defRPr>
            </a:defPPr>
          </a:lstStyle>
          <a:p xmlns:a="http://schemas.openxmlformats.org/drawingml/2006/main">
            <a:pPr>
              <a:defRPr sz="1950" b="0">
                <a:solidFill>
                  <a:srgbClr val="667085"/>
                </a:solidFill>
                <a:latin typeface="Arial"/>
                <a:ea typeface="Arial"/>
                <a:cs typeface="Arial"/>
              </a:defRPr>
            </a:pPr>
            <a:r>
              <a:rPr sz="1950" b="0">
                <a:solidFill>
                  <a:srgbClr val="667085"/>
                </a:solidFill>
                <a:latin typeface="Arial"/>
                <a:ea typeface="Arial"/>
                <a:cs typeface="Arial"/>
              </a:rPr>
              <a:t>Đầu vào: người dùng, luồng sử dụng</a:t>
            </a:r>
          </a:p>
          <a:p xmlns:a="http://schemas.openxmlformats.org/drawingml/2006/main">
            <a:pPr>
              <a:defRPr sz="1950" b="0">
                <a:solidFill>
                  <a:srgbClr val="667085"/>
                </a:solidFill>
                <a:latin typeface="Arial"/>
                <a:ea typeface="Arial"/>
                <a:cs typeface="Arial"/>
              </a:defRPr>
            </a:pPr>
            <a:r>
              <a:rPr sz="1950" b="0">
                <a:solidFill>
                  <a:srgbClr val="667085"/>
                </a:solidFill>
                <a:latin typeface="Arial"/>
                <a:ea typeface="Arial"/>
                <a:cs typeface="Arial"/>
              </a:rPr>
              <a:t>và quy tắc thiết kế</a:t>
            </a:r>
          </a:p>
        </p:txBody>
      </p:sp>
      <p:sp>
        <p:nvSpPr>
          <p:cNvPr id="8" name="">
            <a:extLst xmlns:a="http://schemas.openxmlformats.org/drawingml/2006/main">
              <a:ext uri="{FF2B5EF4-FFF2-40B4-BE49-F238E27FC236}">
                <a16:creationId xmlns:a16="http://schemas.microsoft.com/office/drawing/2014/main" id="{4190096D-F77F-4C22-AEB7-C398CEC2AC42}"/>
              </a:ext>
            </a:extLst>
          </p:cNvPr>
          <p:cNvSpPr>
            <a:spLocks xmlns:a="http://schemas.openxmlformats.org/drawingml/2006/main" noGrp="1"/>
          </p:cNvSpPr>
          <p:nvPr/>
        </p:nvSpPr>
        <p:spPr>
          <a:xfrm xmlns:a="http://schemas.openxmlformats.org/drawingml/2006/main">
            <a:off x="6667500" y="1676400"/>
            <a:ext cx="483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stStyle>
          <a:p xmlns:a="http://schemas.openxmlformats.org/drawingml/2006/main">
            <a:pPr>
              <a:defRPr sz="2250" b="1">
                <a:solidFill>
                  <a:srgbClr val="C93C13"/>
                </a:solidFill>
                <a:latin typeface="Arial"/>
                <a:ea typeface="Arial"/>
                <a:cs typeface="Arial"/>
              </a:defRPr>
            </a:pPr>
            <a:r>
              <a:rPr sz="2250" b="1">
                <a:solidFill>
                  <a:srgbClr val="C93C13"/>
                </a:solidFill>
                <a:latin typeface="Arial"/>
                <a:ea typeface="Arial"/>
                <a:cs typeface="Arial"/>
              </a:rPr>
              <a:t>Trích yêu cầu ban đầu</a:t>
            </a:r>
          </a:p>
        </p:txBody>
      </p:sp>
      <p:sp>
        <p:nvSpPr>
          <p:cNvPr id="9" name="">
            <a:extLst xmlns:a="http://schemas.openxmlformats.org/drawingml/2006/main">
              <a:ext uri="{FF2B5EF4-FFF2-40B4-BE49-F238E27FC236}">
                <a16:creationId xmlns:a16="http://schemas.microsoft.com/office/drawing/2014/main" id="{E74C61A3-EFB9-4369-85E4-6462D5DE0AE5}"/>
              </a:ext>
            </a:extLst>
          </p:cNvPr>
          <p:cNvSpPr>
            <a:spLocks xmlns:a="http://schemas.openxmlformats.org/drawingml/2006/main" noGrp="1"/>
          </p:cNvSpPr>
          <p:nvPr/>
        </p:nvSpPr>
        <p:spPr>
          <a:xfrm xmlns:a="http://schemas.openxmlformats.org/drawingml/2006/main">
            <a:off x="6667500" y="2362200"/>
            <a:ext cx="48387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43047"/>
                </a:solidFill>
                <a:latin typeface="Arial"/>
                <a:ea typeface="Arial"/>
                <a:cs typeface="Arial"/>
              </a:defRPr>
            </a:defPPr>
          </a:lstStyle>
          <a:p xmlns:a="http://schemas.openxmlformats.org/drawingml/2006/main">
            <a:pPr>
              <a:defRPr sz="2325" b="0">
                <a:solidFill>
                  <a:srgbClr val="243047"/>
                </a:solidFill>
                <a:latin typeface="Arial"/>
                <a:ea typeface="Arial"/>
                <a:cs typeface="Arial"/>
              </a:defRPr>
            </a:pPr>
            <a:r>
              <a:rPr sz="2325" b="0">
                <a:solidFill>
                  <a:srgbClr val="243047"/>
                </a:solidFill>
                <a:latin typeface="Arial"/>
                <a:ea typeface="Arial"/>
                <a:cs typeface="Arial"/>
              </a:rPr>
              <a:t>“Sản phẩm cần là một hệ thống</a:t>
            </a:r>
          </a:p>
          <a:p xmlns:a="http://schemas.openxmlformats.org/drawingml/2006/main">
            <a:pPr>
              <a:defRPr sz="2325" b="0">
                <a:solidFill>
                  <a:srgbClr val="243047"/>
                </a:solidFill>
                <a:latin typeface="Arial"/>
                <a:ea typeface="Arial"/>
                <a:cs typeface="Arial"/>
              </a:defRPr>
            </a:pPr>
            <a:r>
              <a:rPr sz="2325" b="0">
                <a:solidFill>
                  <a:srgbClr val="243047"/>
                </a:solidFill>
                <a:latin typeface="Arial"/>
                <a:ea typeface="Arial"/>
                <a:cs typeface="Arial"/>
              </a:rPr>
              <a:t>giao diện nhất quán, có luồng</a:t>
            </a:r>
          </a:p>
          <a:p xmlns:a="http://schemas.openxmlformats.org/drawingml/2006/main">
            <a:pPr>
              <a:defRPr sz="2325" b="0">
                <a:solidFill>
                  <a:srgbClr val="243047"/>
                </a:solidFill>
                <a:latin typeface="Arial"/>
                <a:ea typeface="Arial"/>
                <a:cs typeface="Arial"/>
              </a:defRPr>
            </a:pPr>
            <a:r>
              <a:rPr sz="2325" b="0">
                <a:solidFill>
                  <a:srgbClr val="243047"/>
                </a:solidFill>
                <a:latin typeface="Arial"/>
                <a:ea typeface="Arial"/>
                <a:cs typeface="Arial"/>
              </a:rPr>
              <a:t>sử dụng rõ ràng, không phải</a:t>
            </a:r>
          </a:p>
          <a:p xmlns:a="http://schemas.openxmlformats.org/drawingml/2006/main">
            <a:pPr>
              <a:defRPr sz="2325" b="0">
                <a:solidFill>
                  <a:srgbClr val="243047"/>
                </a:solidFill>
                <a:latin typeface="Arial"/>
                <a:ea typeface="Arial"/>
                <a:cs typeface="Arial"/>
              </a:defRPr>
            </a:pPr>
            <a:r>
              <a:rPr sz="2325" b="0">
                <a:solidFill>
                  <a:srgbClr val="243047"/>
                </a:solidFill>
                <a:latin typeface="Arial"/>
                <a:ea typeface="Arial"/>
                <a:cs typeface="Arial"/>
              </a:rPr>
              <a:t>10 màn hình rời rạc.”</a:t>
            </a:r>
          </a:p>
        </p:txBody>
      </p:sp>
      <p:sp>
        <p:nvSpPr>
          <p:cNvPr id="10" name="">
            <a:extLst xmlns:a="http://schemas.openxmlformats.org/drawingml/2006/main">
              <a:ext uri="{FF2B5EF4-FFF2-40B4-BE49-F238E27FC236}">
                <a16:creationId xmlns:a16="http://schemas.microsoft.com/office/drawing/2014/main" id="{BCA973AC-B68B-47C2-AEC9-C67F188AC55D}"/>
              </a:ext>
            </a:extLst>
          </p:cNvPr>
          <p:cNvSpPr>
            <a:spLocks xmlns:a="http://schemas.openxmlformats.org/drawingml/2006/main" noGrp="1"/>
          </p:cNvSpPr>
          <p:nvPr/>
        </p:nvSpPr>
        <p:spPr>
          <a:xfrm xmlns:a="http://schemas.openxmlformats.org/drawingml/2006/main">
            <a:off x="6667500" y="5219700"/>
            <a:ext cx="4838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Nhật ký còn cần bổ sung</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prompt và phản hồi các lượt sau</a:t>
            </a:r>
          </a:p>
        </p:txBody>
      </p:sp>
    </p:spTree>
    <p:extLst>
      <p:ext uri="{BB962C8B-B14F-4D97-AF65-F5344CB8AC3E}">
        <p14:creationId xmlns:p14="http://schemas.microsoft.com/office/powerpoint/2010/main" val="4997439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926BDB-E031-42B2-AD15-56223F2A4A72}"/>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Phản biện và điều chỉnh</a:t>
            </a:r>
          </a:p>
        </p:txBody>
      </p:sp>
      <p:sp>
        <p:nvSpPr>
          <p:cNvPr id="2" name="">
            <a:extLst xmlns:a="http://schemas.openxmlformats.org/drawingml/2006/main">
              <a:ext uri="{FF2B5EF4-FFF2-40B4-BE49-F238E27FC236}">
                <a16:creationId xmlns:a16="http://schemas.microsoft.com/office/drawing/2014/main" id="{87D2CE1C-B8F8-492F-B8D9-358F8BB21233}"/>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C652D418-7068-4453-8C7C-FFFF9C88A20E}"/>
              </a:ext>
            </a:extLst>
          </p:cNvPr>
          <p:cNvSpPr>
            <a:spLocks xmlns:a="http://schemas.openxmlformats.org/drawingml/2006/main" noGrp="1"/>
          </p:cNvSpPr>
          <p:nvPr/>
        </p:nvSpPr>
        <p:spPr>
          <a:xfrm xmlns:a="http://schemas.openxmlformats.org/drawingml/2006/main">
            <a:off x="685800" y="14382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Ban đầu</a:t>
            </a:r>
          </a:p>
        </p:txBody>
      </p:sp>
      <p:sp>
        <p:nvSpPr>
          <p:cNvPr id="4" name="">
            <a:extLst xmlns:a="http://schemas.openxmlformats.org/drawingml/2006/main">
              <a:ext uri="{FF2B5EF4-FFF2-40B4-BE49-F238E27FC236}">
                <a16:creationId xmlns:a16="http://schemas.microsoft.com/office/drawing/2014/main" id="{9A87FDA4-9B6F-495E-A2A5-BF9E03959EA7}"/>
              </a:ext>
            </a:extLst>
          </p:cNvPr>
          <p:cNvSpPr>
            <a:spLocks xmlns:a="http://schemas.openxmlformats.org/drawingml/2006/main" noGrp="1"/>
          </p:cNvSpPr>
          <p:nvPr/>
        </p:nvSpPr>
        <p:spPr>
          <a:xfrm xmlns:a="http://schemas.openxmlformats.org/drawingml/2006/main">
            <a:off x="3524250" y="14382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Bản điều chỉnh</a:t>
            </a:r>
          </a:p>
        </p:txBody>
      </p:sp>
      <p:pic>
        <p:nvPicPr>
          <p:cNvPr id="5" name="">
            <a:extLst xmlns:a="http://schemas.openxmlformats.org/drawingml/2006/main">
              <a:ext uri="{FF2B5EF4-FFF2-40B4-BE49-F238E27FC236}">
                <a16:creationId xmlns:a16="http://schemas.microsoft.com/office/drawing/2014/main" id="{93C76A15-E2A7-48D8-AEAC-F3F16600AD07}"/>
              </a:ext>
            </a:extLst>
          </p:cNvPr>
          <p:cNvPicPr>
            <a:picLocks xmlns:a="http://schemas.openxmlformats.org/drawingml/2006/main" noChangeAspect="1"/>
          </p:cNvPicPr>
          <p:nvPr/>
        </p:nvPicPr>
        <p:blipFill>
          <a:blip xmlns:r="http://schemas.openxmlformats.org/officeDocument/2006/relationships" xmlns:a="http://schemas.openxmlformats.org/drawingml/2006/main" r:embed="R3117c480ffff4117"/>
          <a:stretch xmlns:a="http://schemas.openxmlformats.org/drawingml/2006/main"/>
        </p:blipFill>
        <p:spPr>
          <a:xfrm xmlns:a="http://schemas.openxmlformats.org/drawingml/2006/main">
            <a:off x="1020872" y="1990725"/>
            <a:ext cx="1730156" cy="39433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CF2A3D3-9C21-4FAF-8FB7-BCFFE89A2AF0}"/>
              </a:ext>
            </a:extLst>
          </p:cNvPr>
          <p:cNvPicPr>
            <a:picLocks xmlns:a="http://schemas.openxmlformats.org/drawingml/2006/main" noChangeAspect="1"/>
          </p:cNvPicPr>
          <p:nvPr/>
        </p:nvPicPr>
        <p:blipFill>
          <a:blip xmlns:r="http://schemas.openxmlformats.org/officeDocument/2006/relationships" xmlns:a="http://schemas.openxmlformats.org/drawingml/2006/main" r:embed="Rfa37c87aa64545f0"/>
          <a:stretch xmlns:a="http://schemas.openxmlformats.org/drawingml/2006/main"/>
        </p:blipFill>
        <p:spPr>
          <a:xfrm xmlns:a="http://schemas.openxmlformats.org/drawingml/2006/main">
            <a:off x="4054142" y="1990725"/>
            <a:ext cx="1340516"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F14592-C4EB-43DC-B4D4-32A8AFE90713}"/>
              </a:ext>
            </a:extLst>
          </p:cNvPr>
          <p:cNvSpPr>
            <a:spLocks xmlns:a="http://schemas.openxmlformats.org/drawingml/2006/main" noGrp="1"/>
          </p:cNvSpPr>
          <p:nvPr/>
        </p:nvSpPr>
        <p:spPr>
          <a:xfrm xmlns:a="http://schemas.openxmlformats.org/drawingml/2006/main">
            <a:off x="6762750" y="2000250"/>
            <a:ext cx="4743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Nội dung cần rà soát</a:t>
            </a:r>
          </a:p>
        </p:txBody>
      </p:sp>
      <p:sp>
        <p:nvSpPr>
          <p:cNvPr id="8" name="">
            <a:extLst xmlns:a="http://schemas.openxmlformats.org/drawingml/2006/main">
              <a:ext uri="{FF2B5EF4-FFF2-40B4-BE49-F238E27FC236}">
                <a16:creationId xmlns:a16="http://schemas.microsoft.com/office/drawing/2014/main" id="{568DB368-E6E0-4409-9ADF-29FD4A2E5687}"/>
              </a:ext>
            </a:extLst>
          </p:cNvPr>
          <p:cNvSpPr>
            <a:spLocks xmlns:a="http://schemas.openxmlformats.org/drawingml/2006/main" noGrp="1"/>
          </p:cNvSpPr>
          <p:nvPr/>
        </p:nvSpPr>
        <p:spPr>
          <a:xfrm xmlns:a="http://schemas.openxmlformats.org/drawingml/2006/main">
            <a:off x="6762750" y="2495550"/>
            <a:ext cx="47434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Ngày và giờ học nhất quán</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Số liệu có cách giải thích rõ</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Chỉnh sửa có lý do đi kèm</a:t>
            </a:r>
          </a:p>
        </p:txBody>
      </p:sp>
      <p:sp>
        <p:nvSpPr>
          <p:cNvPr id="9" name="">
            <a:extLst xmlns:a="http://schemas.openxmlformats.org/drawingml/2006/main">
              <a:ext uri="{FF2B5EF4-FFF2-40B4-BE49-F238E27FC236}">
                <a16:creationId xmlns:a16="http://schemas.microsoft.com/office/drawing/2014/main" id="{2AF0E3FE-CA28-4177-A39C-36171106E5D9}"/>
              </a:ext>
            </a:extLst>
          </p:cNvPr>
          <p:cNvSpPr>
            <a:spLocks xmlns:a="http://schemas.openxmlformats.org/drawingml/2006/main" noGrp="1"/>
          </p:cNvSpPr>
          <p:nvPr/>
        </p:nvSpPr>
        <p:spPr>
          <a:xfrm xmlns:a="http://schemas.openxmlformats.org/drawingml/2006/main">
            <a:off x="6762750" y="5219700"/>
            <a:ext cx="4743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Đối chiếu ảnh UI các phiên bản</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Chưa có bộ wireframe riêng</a:t>
            </a:r>
          </a:p>
        </p:txBody>
      </p:sp>
    </p:spTree>
    <p:extLst>
      <p:ext uri="{BB962C8B-B14F-4D97-AF65-F5344CB8AC3E}">
        <p14:creationId xmlns:p14="http://schemas.microsoft.com/office/powerpoint/2010/main" val="15352631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D1675F-F28A-4066-9F47-3A6A6596FC20}"/>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Nguyên tắc giao diện</a:t>
            </a:r>
          </a:p>
        </p:txBody>
      </p:sp>
      <p:sp>
        <p:nvSpPr>
          <p:cNvPr id="2" name="">
            <a:extLst xmlns:a="http://schemas.openxmlformats.org/drawingml/2006/main">
              <a:ext uri="{FF2B5EF4-FFF2-40B4-BE49-F238E27FC236}">
                <a16:creationId xmlns:a16="http://schemas.microsoft.com/office/drawing/2014/main" id="{31D945BE-070A-427F-93DF-33112817464D}"/>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E3C55A8-7242-4170-9003-E0EEE5E44151}"/>
              </a:ext>
            </a:extLst>
          </p:cNvPr>
          <p:cNvSpPr>
            <a:spLocks xmlns:a="http://schemas.openxmlformats.org/drawingml/2006/main" noGrp="1"/>
          </p:cNvSpPr>
          <p:nvPr/>
        </p:nvSpPr>
        <p:spPr>
          <a:xfrm xmlns:a="http://schemas.openxmlformats.org/drawingml/2006/main">
            <a:off x="685800" y="1762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Dễ đọc</a:t>
            </a:r>
          </a:p>
        </p:txBody>
      </p:sp>
      <p:sp>
        <p:nvSpPr>
          <p:cNvPr id="4" name="">
            <a:extLst xmlns:a="http://schemas.openxmlformats.org/drawingml/2006/main">
              <a:ext uri="{FF2B5EF4-FFF2-40B4-BE49-F238E27FC236}">
                <a16:creationId xmlns:a16="http://schemas.microsoft.com/office/drawing/2014/main" id="{15C365A9-0A50-4E57-9E2D-BDFAF7D3212F}"/>
              </a:ext>
            </a:extLst>
          </p:cNvPr>
          <p:cNvSpPr>
            <a:spLocks xmlns:a="http://schemas.openxmlformats.org/drawingml/2006/main" noGrp="1"/>
          </p:cNvSpPr>
          <p:nvPr/>
        </p:nvSpPr>
        <p:spPr>
          <a:xfrm xmlns:a="http://schemas.openxmlformats.org/drawingml/2006/main">
            <a:off x="685800" y="2257425"/>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Nội dung ngắn, tên không bị cắt</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Trạng thái có chữ hoặc biểu tượng</a:t>
            </a:r>
          </a:p>
        </p:txBody>
      </p:sp>
      <p:sp>
        <p:nvSpPr>
          <p:cNvPr id="5" name="">
            <a:extLst xmlns:a="http://schemas.openxmlformats.org/drawingml/2006/main">
              <a:ext uri="{FF2B5EF4-FFF2-40B4-BE49-F238E27FC236}">
                <a16:creationId xmlns:a16="http://schemas.microsoft.com/office/drawing/2014/main" id="{8959C654-7028-4AA4-8571-AF4ABC5DC273}"/>
              </a:ext>
            </a:extLst>
          </p:cNvPr>
          <p:cNvSpPr>
            <a:spLocks xmlns:a="http://schemas.openxmlformats.org/drawingml/2006/main" noGrp="1"/>
          </p:cNvSpPr>
          <p:nvPr/>
        </p:nvSpPr>
        <p:spPr>
          <a:xfrm xmlns:a="http://schemas.openxmlformats.org/drawingml/2006/main">
            <a:off x="6572250" y="1762125"/>
            <a:ext cx="4933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Dễ thao tác</a:t>
            </a:r>
          </a:p>
        </p:txBody>
      </p:sp>
      <p:sp>
        <p:nvSpPr>
          <p:cNvPr id="6" name="">
            <a:extLst xmlns:a="http://schemas.openxmlformats.org/drawingml/2006/main">
              <a:ext uri="{FF2B5EF4-FFF2-40B4-BE49-F238E27FC236}">
                <a16:creationId xmlns:a16="http://schemas.microsoft.com/office/drawing/2014/main" id="{CEF5B884-996F-456D-8337-6616CCCE51FD}"/>
              </a:ext>
            </a:extLst>
          </p:cNvPr>
          <p:cNvSpPr>
            <a:spLocks xmlns:a="http://schemas.openxmlformats.org/drawingml/2006/main" noGrp="1"/>
          </p:cNvSpPr>
          <p:nvPr/>
        </p:nvSpPr>
        <p:spPr>
          <a:xfrm xmlns:a="http://schemas.openxmlformats.org/drawingml/2006/main">
            <a:off x="6572250" y="2257425"/>
            <a:ext cx="4933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Nút đủ lớn để chạm</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Nội dung cuộn được trên điện thoại</a:t>
            </a:r>
          </a:p>
        </p:txBody>
      </p:sp>
      <p:sp>
        <p:nvSpPr>
          <p:cNvPr id="7" name="">
            <a:extLst xmlns:a="http://schemas.openxmlformats.org/drawingml/2006/main">
              <a:ext uri="{FF2B5EF4-FFF2-40B4-BE49-F238E27FC236}">
                <a16:creationId xmlns:a16="http://schemas.microsoft.com/office/drawing/2014/main" id="{36E00C37-ECE4-425D-BA7E-0255BBE1689A}"/>
              </a:ext>
            </a:extLst>
          </p:cNvPr>
          <p:cNvSpPr>
            <a:spLocks xmlns:a="http://schemas.openxmlformats.org/drawingml/2006/main" noGrp="1"/>
          </p:cNvSpPr>
          <p:nvPr/>
        </p:nvSpPr>
        <p:spPr>
          <a:xfrm xmlns:a="http://schemas.openxmlformats.org/drawingml/2006/main">
            <a:off x="685800" y="39433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Nhất quán</a:t>
            </a:r>
          </a:p>
        </p:txBody>
      </p:sp>
      <p:sp>
        <p:nvSpPr>
          <p:cNvPr id="8" name="">
            <a:extLst xmlns:a="http://schemas.openxmlformats.org/drawingml/2006/main">
              <a:ext uri="{FF2B5EF4-FFF2-40B4-BE49-F238E27FC236}">
                <a16:creationId xmlns:a16="http://schemas.microsoft.com/office/drawing/2014/main" id="{B1A96678-CACF-4FFA-9690-9B4CC90F848A}"/>
              </a:ext>
            </a:extLst>
          </p:cNvPr>
          <p:cNvSpPr>
            <a:spLocks xmlns:a="http://schemas.openxmlformats.org/drawingml/2006/main" noGrp="1"/>
          </p:cNvSpPr>
          <p:nvPr/>
        </p:nvSpPr>
        <p:spPr>
          <a:xfrm xmlns:a="http://schemas.openxmlformats.org/drawingml/2006/main">
            <a:off x="685800" y="44386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Cam nhấn hành động chính</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Nút, ô nhập và khoảng cách đồng bộ</a:t>
            </a:r>
          </a:p>
        </p:txBody>
      </p:sp>
      <p:sp>
        <p:nvSpPr>
          <p:cNvPr id="9" name="">
            <a:extLst xmlns:a="http://schemas.openxmlformats.org/drawingml/2006/main">
              <a:ext uri="{FF2B5EF4-FFF2-40B4-BE49-F238E27FC236}">
                <a16:creationId xmlns:a16="http://schemas.microsoft.com/office/drawing/2014/main" id="{373ADA74-A2BF-496C-8A9E-C9CCAD5FFE93}"/>
              </a:ext>
            </a:extLst>
          </p:cNvPr>
          <p:cNvSpPr>
            <a:spLocks xmlns:a="http://schemas.openxmlformats.org/drawingml/2006/main" noGrp="1"/>
          </p:cNvSpPr>
          <p:nvPr/>
        </p:nvSpPr>
        <p:spPr>
          <a:xfrm xmlns:a="http://schemas.openxmlformats.org/drawingml/2006/main">
            <a:off x="6572250" y="3943350"/>
            <a:ext cx="4933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Hạn chế nhầm lẫn</a:t>
            </a:r>
          </a:p>
        </p:txBody>
      </p:sp>
      <p:sp>
        <p:nvSpPr>
          <p:cNvPr id="10" name="">
            <a:extLst xmlns:a="http://schemas.openxmlformats.org/drawingml/2006/main">
              <a:ext uri="{FF2B5EF4-FFF2-40B4-BE49-F238E27FC236}">
                <a16:creationId xmlns:a16="http://schemas.microsoft.com/office/drawing/2014/main" id="{D3D5FB78-7D1E-4044-B971-36A174F0ED3B}"/>
              </a:ext>
            </a:extLst>
          </p:cNvPr>
          <p:cNvSpPr>
            <a:spLocks xmlns:a="http://schemas.openxmlformats.org/drawingml/2006/main" noGrp="1"/>
          </p:cNvSpPr>
          <p:nvPr/>
        </p:nvSpPr>
        <p:spPr>
          <a:xfrm xmlns:a="http://schemas.openxmlformats.org/drawingml/2006/main">
            <a:off x="6572250" y="4438650"/>
            <a:ext cx="4933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Xác nhận trước khi chốt</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Lý do bắt buộc khi sửa kết quả</a:t>
            </a:r>
          </a:p>
        </p:txBody>
      </p:sp>
      <p:sp>
        <p:nvSpPr>
          <p:cNvPr id="11" name="">
            <a:extLst xmlns:a="http://schemas.openxmlformats.org/drawingml/2006/main">
              <a:ext uri="{FF2B5EF4-FFF2-40B4-BE49-F238E27FC236}">
                <a16:creationId xmlns:a16="http://schemas.microsoft.com/office/drawing/2014/main" id="{ED108E3C-EDE8-4574-A63D-C80417BD6048}"/>
              </a:ext>
            </a:extLst>
          </p:cNvPr>
          <p:cNvSpPr>
            <a:spLocks xmlns:a="http://schemas.openxmlformats.org/drawingml/2006/main" noGrp="1"/>
          </p:cNvSpPr>
          <p:nvPr/>
        </p:nvSpPr>
        <p:spPr>
          <a:xfrm xmlns:a="http://schemas.openxmlformats.org/drawingml/2006/main">
            <a:off x="685800" y="60198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Đây là mục tiêu thiết kế, còn cần đo và kiểm thử trên prototype.</a:t>
            </a:r>
          </a:p>
        </p:txBody>
      </p:sp>
    </p:spTree>
    <p:extLst>
      <p:ext uri="{BB962C8B-B14F-4D97-AF65-F5344CB8AC3E}">
        <p14:creationId xmlns:p14="http://schemas.microsoft.com/office/powerpoint/2010/main" val="2545140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FA12FA-504B-4BC8-9DA1-6D067C71E32F}"/>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Luồng 1: Chuẩn bị lớp học</a:t>
            </a:r>
          </a:p>
        </p:txBody>
      </p:sp>
      <p:sp>
        <p:nvSpPr>
          <p:cNvPr id="2" name="">
            <a:extLst xmlns:a="http://schemas.openxmlformats.org/drawingml/2006/main">
              <a:ext uri="{FF2B5EF4-FFF2-40B4-BE49-F238E27FC236}">
                <a16:creationId xmlns:a16="http://schemas.microsoft.com/office/drawing/2014/main" id="{BB2EC29B-5B11-4F0C-8AE0-5C8A3259AC22}"/>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77FA14D-6607-4D8D-8F1E-2FBFB28B5CAF}"/>
              </a:ext>
            </a:extLst>
          </p:cNvPr>
          <p:cNvSpPr>
            <a:spLocks xmlns:a="http://schemas.openxmlformats.org/drawingml/2006/main" noGrp="1"/>
          </p:cNvSpPr>
          <p:nvPr/>
        </p:nvSpPr>
        <p:spPr>
          <a:xfrm xmlns:a="http://schemas.openxmlformats.org/drawingml/2006/main">
            <a:off x="685800" y="17811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Các bước chính</a:t>
            </a:r>
          </a:p>
        </p:txBody>
      </p:sp>
      <p:sp>
        <p:nvSpPr>
          <p:cNvPr id="4" name="">
            <a:extLst xmlns:a="http://schemas.openxmlformats.org/drawingml/2006/main">
              <a:ext uri="{FF2B5EF4-FFF2-40B4-BE49-F238E27FC236}">
                <a16:creationId xmlns:a16="http://schemas.microsoft.com/office/drawing/2014/main" id="{A12F09FB-AD0B-4D5A-9EC4-0C2929F05D11}"/>
              </a:ext>
            </a:extLst>
          </p:cNvPr>
          <p:cNvSpPr>
            <a:spLocks xmlns:a="http://schemas.openxmlformats.org/drawingml/2006/main" noGrp="1"/>
          </p:cNvSpPr>
          <p:nvPr/>
        </p:nvSpPr>
        <p:spPr>
          <a:xfrm xmlns:a="http://schemas.openxmlformats.org/drawingml/2006/main">
            <a:off x="685800" y="22764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1. Nhập danh sách lớp</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2. Chọn học kỳ và lịch học</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3. Lưu cấu hình lớp chưa bắt đầu</a:t>
            </a:r>
          </a:p>
        </p:txBody>
      </p:sp>
      <p:sp>
        <p:nvSpPr>
          <p:cNvPr id="5" name="">
            <a:extLst xmlns:a="http://schemas.openxmlformats.org/drawingml/2006/main">
              <a:ext uri="{FF2B5EF4-FFF2-40B4-BE49-F238E27FC236}">
                <a16:creationId xmlns:a16="http://schemas.microsoft.com/office/drawing/2014/main" id="{77941C78-0AF1-4875-9860-AB410F796C0B}"/>
              </a:ext>
            </a:extLst>
          </p:cNvPr>
          <p:cNvSpPr>
            <a:spLocks xmlns:a="http://schemas.openxmlformats.org/drawingml/2006/main" noGrp="1"/>
          </p:cNvSpPr>
          <p:nvPr/>
        </p:nvSpPr>
        <p:spPr>
          <a:xfrm xmlns:a="http://schemas.openxmlformats.org/drawingml/2006/main">
            <a:off x="6858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Điểm cần kiểm tra</a:t>
            </a:r>
          </a:p>
        </p:txBody>
      </p:sp>
      <p:sp>
        <p:nvSpPr>
          <p:cNvPr id="6" name="">
            <a:extLst xmlns:a="http://schemas.openxmlformats.org/drawingml/2006/main">
              <a:ext uri="{FF2B5EF4-FFF2-40B4-BE49-F238E27FC236}">
                <a16:creationId xmlns:a16="http://schemas.microsoft.com/office/drawing/2014/main" id="{3197BEA5-50AF-4E45-AEE9-74BE0BE186FF}"/>
              </a:ext>
            </a:extLst>
          </p:cNvPr>
          <p:cNvSpPr>
            <a:spLocks xmlns:a="http://schemas.openxmlformats.org/drawingml/2006/main" noGrp="1"/>
          </p:cNvSpPr>
          <p:nvPr/>
        </p:nvSpPr>
        <p:spPr>
          <a:xfrm xmlns:a="http://schemas.openxmlformats.org/drawingml/2006/main">
            <a:off x="685800" y="49244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Hủy giữ nguyên lịch cũ</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Lớp đã điểm danh không được đổi lịch</a:t>
            </a:r>
          </a:p>
        </p:txBody>
      </p:sp>
      <p:pic>
        <p:nvPicPr>
          <p:cNvPr id="7" name="">
            <a:extLst xmlns:a="http://schemas.openxmlformats.org/drawingml/2006/main">
              <a:ext uri="{FF2B5EF4-FFF2-40B4-BE49-F238E27FC236}">
                <a16:creationId xmlns:a16="http://schemas.microsoft.com/office/drawing/2014/main" id="{916A93E3-DD5D-49B8-BDA8-278B90755BAC}"/>
              </a:ext>
            </a:extLst>
          </p:cNvPr>
          <p:cNvPicPr>
            <a:picLocks xmlns:a="http://schemas.openxmlformats.org/drawingml/2006/main" noChangeAspect="1"/>
          </p:cNvPicPr>
          <p:nvPr/>
        </p:nvPicPr>
        <p:blipFill>
          <a:blip xmlns:r="http://schemas.openxmlformats.org/officeDocument/2006/relationships" xmlns:a="http://schemas.openxmlformats.org/drawingml/2006/main" r:embed="R2525866644874d5b"/>
          <a:stretch xmlns:a="http://schemas.openxmlformats.org/drawingml/2006/main"/>
        </p:blipFill>
        <p:spPr>
          <a:xfrm xmlns:a="http://schemas.openxmlformats.org/drawingml/2006/main">
            <a:off x="6205385" y="1609725"/>
            <a:ext cx="2124379" cy="44196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6AD2AD1-0264-41B7-A1F9-EF1AC433E61C}"/>
              </a:ext>
            </a:extLst>
          </p:cNvPr>
          <p:cNvPicPr>
            <a:picLocks xmlns:a="http://schemas.openxmlformats.org/drawingml/2006/main" noChangeAspect="1"/>
          </p:cNvPicPr>
          <p:nvPr/>
        </p:nvPicPr>
        <p:blipFill>
          <a:blip xmlns:r="http://schemas.openxmlformats.org/officeDocument/2006/relationships" xmlns:a="http://schemas.openxmlformats.org/drawingml/2006/main" r:embed="Rcedd29901d054137"/>
          <a:stretch xmlns:a="http://schemas.openxmlformats.org/drawingml/2006/main"/>
        </p:blipFill>
        <p:spPr>
          <a:xfrm xmlns:a="http://schemas.openxmlformats.org/drawingml/2006/main">
            <a:off x="9126244" y="1609725"/>
            <a:ext cx="2131013" cy="4419600"/>
          </a:xfrm>
          <a:prstGeom xmlns:a="http://schemas.openxmlformats.org/drawingml/2006/main" prst="rect">
            <a:avLst/>
          </a:prstGeom>
        </p:spPr>
      </p:pic>
    </p:spTree>
    <p:extLst>
      <p:ext uri="{BB962C8B-B14F-4D97-AF65-F5344CB8AC3E}">
        <p14:creationId xmlns:p14="http://schemas.microsoft.com/office/powerpoint/2010/main" val="14362618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1EDD88-D0CF-4457-B4F2-9EC8E29E3945}"/>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Luồng 2: Điểm danh và chốt</a:t>
            </a:r>
          </a:p>
        </p:txBody>
      </p:sp>
      <p:sp>
        <p:nvSpPr>
          <p:cNvPr id="2" name="">
            <a:extLst xmlns:a="http://schemas.openxmlformats.org/drawingml/2006/main">
              <a:ext uri="{FF2B5EF4-FFF2-40B4-BE49-F238E27FC236}">
                <a16:creationId xmlns:a16="http://schemas.microsoft.com/office/drawing/2014/main" id="{29BC2934-D3F5-405E-A7A1-CADE5B19E7A6}"/>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42A5801-3961-4157-B0A7-76D1060EDF09}"/>
              </a:ext>
            </a:extLst>
          </p:cNvPr>
          <p:cNvSpPr>
            <a:spLocks xmlns:a="http://schemas.openxmlformats.org/drawingml/2006/main" noGrp="1"/>
          </p:cNvSpPr>
          <p:nvPr/>
        </p:nvSpPr>
        <p:spPr>
          <a:xfrm xmlns:a="http://schemas.openxmlformats.org/drawingml/2006/main">
            <a:off x="685800" y="17811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Trong giờ học</a:t>
            </a:r>
          </a:p>
        </p:txBody>
      </p:sp>
      <p:sp>
        <p:nvSpPr>
          <p:cNvPr id="4" name="">
            <a:extLst xmlns:a="http://schemas.openxmlformats.org/drawingml/2006/main">
              <a:ext uri="{FF2B5EF4-FFF2-40B4-BE49-F238E27FC236}">
                <a16:creationId xmlns:a16="http://schemas.microsoft.com/office/drawing/2014/main" id="{9AB2456C-91E4-4748-9EE6-CD6AE910FCE6}"/>
              </a:ext>
            </a:extLst>
          </p:cNvPr>
          <p:cNvSpPr>
            <a:spLocks xmlns:a="http://schemas.openxmlformats.org/drawingml/2006/main" noGrp="1"/>
          </p:cNvSpPr>
          <p:nvPr/>
        </p:nvSpPr>
        <p:spPr>
          <a:xfrm xmlns:a="http://schemas.openxmlformats.org/drawingml/2006/main">
            <a:off x="685800" y="2276475"/>
            <a:ext cx="476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Mở QR của đúng lớp</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Theo dõi số đã ghi nhận</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Xác nhận trước khi chốt</a:t>
            </a:r>
          </a:p>
        </p:txBody>
      </p:sp>
      <p:sp>
        <p:nvSpPr>
          <p:cNvPr id="5" name="">
            <a:extLst xmlns:a="http://schemas.openxmlformats.org/drawingml/2006/main">
              <a:ext uri="{FF2B5EF4-FFF2-40B4-BE49-F238E27FC236}">
                <a16:creationId xmlns:a16="http://schemas.microsoft.com/office/drawing/2014/main" id="{86E7BE19-ED96-41BB-9A60-A75D70DD5D68}"/>
              </a:ext>
            </a:extLst>
          </p:cNvPr>
          <p:cNvSpPr>
            <a:spLocks xmlns:a="http://schemas.openxmlformats.org/drawingml/2006/main" noGrp="1"/>
          </p:cNvSpPr>
          <p:nvPr/>
        </p:nvSpPr>
        <p:spPr>
          <a:xfrm xmlns:a="http://schemas.openxmlformats.org/drawingml/2006/main">
            <a:off x="685800" y="4381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Khi chốt danh sách</a:t>
            </a:r>
          </a:p>
        </p:txBody>
      </p:sp>
      <p:sp>
        <p:nvSpPr>
          <p:cNvPr id="6" name="">
            <a:extLst xmlns:a="http://schemas.openxmlformats.org/drawingml/2006/main">
              <a:ext uri="{FF2B5EF4-FFF2-40B4-BE49-F238E27FC236}">
                <a16:creationId xmlns:a16="http://schemas.microsoft.com/office/drawing/2014/main" id="{F2542128-EB20-4555-814A-B47329E20FF9}"/>
              </a:ext>
            </a:extLst>
          </p:cNvPr>
          <p:cNvSpPr>
            <a:spLocks xmlns:a="http://schemas.openxmlformats.org/drawingml/2006/main" noGrp="1"/>
          </p:cNvSpPr>
          <p:nvPr/>
        </p:nvSpPr>
        <p:spPr>
          <a:xfrm xmlns:a="http://schemas.openxmlformats.org/drawingml/2006/main">
            <a:off x="685800" y="487680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Nêu rõ số chưa ghi nhận</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Hủy để tiếp tục hoặc đồng ý chốt</a:t>
            </a:r>
          </a:p>
        </p:txBody>
      </p:sp>
      <p:pic>
        <p:nvPicPr>
          <p:cNvPr id="7" name="">
            <a:extLst xmlns:a="http://schemas.openxmlformats.org/drawingml/2006/main">
              <a:ext uri="{FF2B5EF4-FFF2-40B4-BE49-F238E27FC236}">
                <a16:creationId xmlns:a16="http://schemas.microsoft.com/office/drawing/2014/main" id="{5CB04072-AF00-414E-A6E5-AD660D642406}"/>
              </a:ext>
            </a:extLst>
          </p:cNvPr>
          <p:cNvPicPr>
            <a:picLocks xmlns:a="http://schemas.openxmlformats.org/drawingml/2006/main" noChangeAspect="1"/>
          </p:cNvPicPr>
          <p:nvPr/>
        </p:nvPicPr>
        <p:blipFill>
          <a:blip xmlns:r="http://schemas.openxmlformats.org/officeDocument/2006/relationships" xmlns:a="http://schemas.openxmlformats.org/drawingml/2006/main" r:embed="R93b3c7c33a3d4f3d"/>
          <a:stretch xmlns:a="http://schemas.openxmlformats.org/drawingml/2006/main"/>
        </p:blipFill>
        <p:spPr>
          <a:xfrm xmlns:a="http://schemas.openxmlformats.org/drawingml/2006/main">
            <a:off x="6173761" y="1609725"/>
            <a:ext cx="2187628" cy="44196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192E9FD-F5C7-4537-8348-B230E72D22A3}"/>
              </a:ext>
            </a:extLst>
          </p:cNvPr>
          <p:cNvPicPr>
            <a:picLocks xmlns:a="http://schemas.openxmlformats.org/drawingml/2006/main" noChangeAspect="1"/>
          </p:cNvPicPr>
          <p:nvPr/>
        </p:nvPicPr>
        <p:blipFill>
          <a:blip xmlns:r="http://schemas.openxmlformats.org/officeDocument/2006/relationships" xmlns:a="http://schemas.openxmlformats.org/drawingml/2006/main" r:embed="Rb2ea28567df84c81"/>
          <a:stretch xmlns:a="http://schemas.openxmlformats.org/drawingml/2006/main"/>
        </p:blipFill>
        <p:spPr>
          <a:xfrm xmlns:a="http://schemas.openxmlformats.org/drawingml/2006/main">
            <a:off x="9079484" y="1609725"/>
            <a:ext cx="2224532" cy="4419600"/>
          </a:xfrm>
          <a:prstGeom xmlns:a="http://schemas.openxmlformats.org/drawingml/2006/main" prst="rect">
            <a:avLst/>
          </a:prstGeom>
        </p:spPr>
      </p:pic>
    </p:spTree>
    <p:extLst>
      <p:ext uri="{BB962C8B-B14F-4D97-AF65-F5344CB8AC3E}">
        <p14:creationId xmlns:p14="http://schemas.microsoft.com/office/powerpoint/2010/main" val="2603048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F54913-97CA-4195-B3F7-DD32831BF7E5}"/>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Luồng 3: Sửa và lưu kết quả</a:t>
            </a:r>
          </a:p>
        </p:txBody>
      </p:sp>
      <p:sp>
        <p:nvSpPr>
          <p:cNvPr id="2" name="">
            <a:extLst xmlns:a="http://schemas.openxmlformats.org/drawingml/2006/main">
              <a:ext uri="{FF2B5EF4-FFF2-40B4-BE49-F238E27FC236}">
                <a16:creationId xmlns:a16="http://schemas.microsoft.com/office/drawing/2014/main" id="{B2D31DC0-8D93-4747-8542-8FADEC501164}"/>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9D49501-1D59-4AD6-A575-645F64D8D8AC}"/>
              </a:ext>
            </a:extLst>
          </p:cNvPr>
          <p:cNvSpPr>
            <a:spLocks xmlns:a="http://schemas.openxmlformats.org/drawingml/2006/main" noGrp="1"/>
          </p:cNvSpPr>
          <p:nvPr/>
        </p:nvSpPr>
        <p:spPr>
          <a:xfrm xmlns:a="http://schemas.openxmlformats.org/drawingml/2006/main">
            <a:off x="685800" y="17811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Sửa điểm danh</a:t>
            </a:r>
          </a:p>
        </p:txBody>
      </p:sp>
      <p:sp>
        <p:nvSpPr>
          <p:cNvPr id="4" name="">
            <a:extLst xmlns:a="http://schemas.openxmlformats.org/drawingml/2006/main">
              <a:ext uri="{FF2B5EF4-FFF2-40B4-BE49-F238E27FC236}">
                <a16:creationId xmlns:a16="http://schemas.microsoft.com/office/drawing/2014/main" id="{EC6A7943-240A-49CC-9DDB-7C1D713666D2}"/>
              </a:ext>
            </a:extLst>
          </p:cNvPr>
          <p:cNvSpPr>
            <a:spLocks xmlns:a="http://schemas.openxmlformats.org/drawingml/2006/main" noGrp="1"/>
          </p:cNvSpPr>
          <p:nvPr/>
        </p:nvSpPr>
        <p:spPr>
          <a:xfrm xmlns:a="http://schemas.openxmlformats.org/drawingml/2006/main">
            <a:off x="685800" y="2276475"/>
            <a:ext cx="476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Mở lịch sử của sinh viên</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Đổi kết quả và nhập lý do</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Xem lại ghi chú sau khi lưu</a:t>
            </a:r>
          </a:p>
        </p:txBody>
      </p:sp>
      <p:sp>
        <p:nvSpPr>
          <p:cNvPr id="5" name="">
            <a:extLst xmlns:a="http://schemas.openxmlformats.org/drawingml/2006/main">
              <a:ext uri="{FF2B5EF4-FFF2-40B4-BE49-F238E27FC236}">
                <a16:creationId xmlns:a16="http://schemas.microsoft.com/office/drawing/2014/main" id="{0A49C5C9-AF0C-43E2-A906-80620CD4D131}"/>
              </a:ext>
            </a:extLst>
          </p:cNvPr>
          <p:cNvSpPr>
            <a:spLocks xmlns:a="http://schemas.openxmlformats.org/drawingml/2006/main" noGrp="1"/>
          </p:cNvSpPr>
          <p:nvPr/>
        </p:nvSpPr>
        <p:spPr>
          <a:xfrm xmlns:a="http://schemas.openxmlformats.org/drawingml/2006/main">
            <a:off x="685800" y="4381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Lưu và chia sẻ</a:t>
            </a:r>
          </a:p>
        </p:txBody>
      </p:sp>
      <p:sp>
        <p:nvSpPr>
          <p:cNvPr id="6" name="">
            <a:extLst xmlns:a="http://schemas.openxmlformats.org/drawingml/2006/main">
              <a:ext uri="{FF2B5EF4-FFF2-40B4-BE49-F238E27FC236}">
                <a16:creationId xmlns:a16="http://schemas.microsoft.com/office/drawing/2014/main" id="{17E83BD1-3AC3-46AA-9691-B1F29A8743BA}"/>
              </a:ext>
            </a:extLst>
          </p:cNvPr>
          <p:cNvSpPr>
            <a:spLocks xmlns:a="http://schemas.openxmlformats.org/drawingml/2006/main" noGrp="1"/>
          </p:cNvSpPr>
          <p:nvPr/>
        </p:nvSpPr>
        <p:spPr>
          <a:xfrm xmlns:a="http://schemas.openxmlformats.org/drawingml/2006/main">
            <a:off x="685800" y="487680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Xuất tệp của buổi đã chốt</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Lưu trên máy, Drive tùy chọn</a:t>
            </a:r>
          </a:p>
        </p:txBody>
      </p:sp>
      <p:pic>
        <p:nvPicPr>
          <p:cNvPr id="7" name="">
            <a:extLst xmlns:a="http://schemas.openxmlformats.org/drawingml/2006/main">
              <a:ext uri="{FF2B5EF4-FFF2-40B4-BE49-F238E27FC236}">
                <a16:creationId xmlns:a16="http://schemas.microsoft.com/office/drawing/2014/main" id="{BB2FB9A8-6F35-4578-9B6A-B72791FD1F15}"/>
              </a:ext>
            </a:extLst>
          </p:cNvPr>
          <p:cNvPicPr>
            <a:picLocks xmlns:a="http://schemas.openxmlformats.org/drawingml/2006/main" noChangeAspect="1"/>
          </p:cNvPicPr>
          <p:nvPr/>
        </p:nvPicPr>
        <p:blipFill>
          <a:blip xmlns:r="http://schemas.openxmlformats.org/officeDocument/2006/relationships" xmlns:a="http://schemas.openxmlformats.org/drawingml/2006/main" r:embed="Re08b994375b540b0"/>
          <a:stretch xmlns:a="http://schemas.openxmlformats.org/drawingml/2006/main"/>
        </p:blipFill>
        <p:spPr>
          <a:xfrm xmlns:a="http://schemas.openxmlformats.org/drawingml/2006/main">
            <a:off x="6151589" y="1609725"/>
            <a:ext cx="2231972" cy="44196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234362B-EF02-40A3-ADD5-68BB295BFD13}"/>
              </a:ext>
            </a:extLst>
          </p:cNvPr>
          <p:cNvPicPr>
            <a:picLocks xmlns:a="http://schemas.openxmlformats.org/drawingml/2006/main" noChangeAspect="1"/>
          </p:cNvPicPr>
          <p:nvPr/>
        </p:nvPicPr>
        <p:blipFill>
          <a:blip xmlns:r="http://schemas.openxmlformats.org/officeDocument/2006/relationships" xmlns:a="http://schemas.openxmlformats.org/drawingml/2006/main" r:embed="R04c6043dcb2549e5"/>
          <a:stretch xmlns:a="http://schemas.openxmlformats.org/drawingml/2006/main"/>
        </p:blipFill>
        <p:spPr>
          <a:xfrm xmlns:a="http://schemas.openxmlformats.org/drawingml/2006/main">
            <a:off x="9096491" y="1609725"/>
            <a:ext cx="2190517" cy="4419600"/>
          </a:xfrm>
          <a:prstGeom xmlns:a="http://schemas.openxmlformats.org/drawingml/2006/main" prst="rect">
            <a:avLst/>
          </a:prstGeom>
        </p:spPr>
      </p:pic>
    </p:spTree>
    <p:extLst>
      <p:ext uri="{BB962C8B-B14F-4D97-AF65-F5344CB8AC3E}">
        <p14:creationId xmlns:p14="http://schemas.microsoft.com/office/powerpoint/2010/main" val="3311538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09C360D-EC39-4A0F-9F61-FE0A1767298B}"/>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Kịch bản demo 5 phút</a:t>
            </a:r>
          </a:p>
        </p:txBody>
      </p:sp>
      <p:sp>
        <p:nvSpPr>
          <p:cNvPr id="2" name="">
            <a:extLst xmlns:a="http://schemas.openxmlformats.org/drawingml/2006/main">
              <a:ext uri="{FF2B5EF4-FFF2-40B4-BE49-F238E27FC236}">
                <a16:creationId xmlns:a16="http://schemas.microsoft.com/office/drawing/2014/main" id="{65C32DAD-3016-4597-9F99-67306EDD3C08}"/>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285875F-78E6-4A26-A748-88976A2AFCE2}"/>
              </a:ext>
            </a:extLst>
          </p:cNvPr>
          <p:cNvSpPr>
            <a:spLocks xmlns:a="http://schemas.openxmlformats.org/drawingml/2006/main" noGrp="1"/>
          </p:cNvSpPr>
          <p:nvPr/>
        </p:nvSpPr>
        <p:spPr>
          <a:xfrm xmlns:a="http://schemas.openxmlformats.org/drawingml/2006/main">
            <a:off x="685800" y="15240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D08EAE49-D7DC-4DEF-A7C7-13CD65EFF753}"/>
              </a:ext>
            </a:extLst>
          </p:cNvPr>
          <p:cNvSpPr>
            <a:spLocks xmlns:a="http://schemas.openxmlformats.org/drawingml/2006/main" noGrp="1"/>
          </p:cNvSpPr>
          <p:nvPr/>
        </p:nvSpPr>
        <p:spPr>
          <a:xfrm xmlns:a="http://schemas.openxmlformats.org/drawingml/2006/main">
            <a:off x="1790700" y="15525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Chuẩn bị lớp học: 1 phút</a:t>
            </a:r>
          </a:p>
        </p:txBody>
      </p:sp>
      <p:sp>
        <p:nvSpPr>
          <p:cNvPr id="5" name="">
            <a:extLst xmlns:a="http://schemas.openxmlformats.org/drawingml/2006/main">
              <a:ext uri="{FF2B5EF4-FFF2-40B4-BE49-F238E27FC236}">
                <a16:creationId xmlns:a16="http://schemas.microsoft.com/office/drawing/2014/main" id="{CBB16612-44E2-49E2-AFB5-CF00C717B2B7}"/>
              </a:ext>
            </a:extLst>
          </p:cNvPr>
          <p:cNvSpPr>
            <a:spLocks xmlns:a="http://schemas.openxmlformats.org/drawingml/2006/main" noGrp="1"/>
          </p:cNvSpPr>
          <p:nvPr/>
        </p:nvSpPr>
        <p:spPr>
          <a:xfrm xmlns:a="http://schemas.openxmlformats.org/drawingml/2006/main">
            <a:off x="1790700" y="21145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Nhập danh sách, mở cấu hình, kiểm tra Hủy và Lưu</a:t>
            </a:r>
          </a:p>
        </p:txBody>
      </p:sp>
      <p:sp>
        <p:nvSpPr>
          <p:cNvPr id="6" name="">
            <a:extLst xmlns:a="http://schemas.openxmlformats.org/drawingml/2006/main">
              <a:ext uri="{FF2B5EF4-FFF2-40B4-BE49-F238E27FC236}">
                <a16:creationId xmlns:a16="http://schemas.microsoft.com/office/drawing/2014/main" id="{420A48C9-B83E-47EE-B4D5-A87276554258}"/>
              </a:ext>
            </a:extLst>
          </p:cNvPr>
          <p:cNvSpPr>
            <a:spLocks xmlns:a="http://schemas.openxmlformats.org/drawingml/2006/main" noGrp="1"/>
          </p:cNvSpPr>
          <p:nvPr/>
        </p:nvSpPr>
        <p:spPr>
          <a:xfrm xmlns:a="http://schemas.openxmlformats.org/drawingml/2006/main">
            <a:off x="685800" y="295275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EF187F8-3CD3-44E5-BFF7-DE45E94B79AC}"/>
              </a:ext>
            </a:extLst>
          </p:cNvPr>
          <p:cNvSpPr>
            <a:spLocks xmlns:a="http://schemas.openxmlformats.org/drawingml/2006/main" noGrp="1"/>
          </p:cNvSpPr>
          <p:nvPr/>
        </p:nvSpPr>
        <p:spPr>
          <a:xfrm xmlns:a="http://schemas.openxmlformats.org/drawingml/2006/main">
            <a:off x="1790700" y="29813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QR và chốt danh sách: 1 phút 30 giây</a:t>
            </a:r>
          </a:p>
        </p:txBody>
      </p:sp>
      <p:sp>
        <p:nvSpPr>
          <p:cNvPr id="8" name="">
            <a:extLst xmlns:a="http://schemas.openxmlformats.org/drawingml/2006/main">
              <a:ext uri="{FF2B5EF4-FFF2-40B4-BE49-F238E27FC236}">
                <a16:creationId xmlns:a16="http://schemas.microsoft.com/office/drawing/2014/main" id="{12BB3221-0451-4E67-92AE-82024CFFBE02}"/>
              </a:ext>
            </a:extLst>
          </p:cNvPr>
          <p:cNvSpPr>
            <a:spLocks xmlns:a="http://schemas.openxmlformats.org/drawingml/2006/main" noGrp="1"/>
          </p:cNvSpPr>
          <p:nvPr/>
        </p:nvSpPr>
        <p:spPr>
          <a:xfrm xmlns:a="http://schemas.openxmlformats.org/drawingml/2006/main">
            <a:off x="1790700" y="354330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Mở QR, hủy xác nhận rồi chốt đúng buổi học</a:t>
            </a:r>
          </a:p>
        </p:txBody>
      </p:sp>
      <p:sp>
        <p:nvSpPr>
          <p:cNvPr id="9" name="">
            <a:extLst xmlns:a="http://schemas.openxmlformats.org/drawingml/2006/main">
              <a:ext uri="{FF2B5EF4-FFF2-40B4-BE49-F238E27FC236}">
                <a16:creationId xmlns:a16="http://schemas.microsoft.com/office/drawing/2014/main" id="{0201A92C-CD58-48E3-9A4E-437FB1F06AC1}"/>
              </a:ext>
            </a:extLst>
          </p:cNvPr>
          <p:cNvSpPr>
            <a:spLocks xmlns:a="http://schemas.openxmlformats.org/drawingml/2006/main" noGrp="1"/>
          </p:cNvSpPr>
          <p:nvPr/>
        </p:nvSpPr>
        <p:spPr>
          <a:xfrm xmlns:a="http://schemas.openxmlformats.org/drawingml/2006/main">
            <a:off x="685800" y="43815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C93C13"/>
                </a:solidFill>
                <a:latin typeface="Arial"/>
                <a:ea typeface="Arial"/>
                <a:cs typeface="Arial"/>
              </a:defRPr>
            </a:defPPr>
          </a:lstStyle>
          <a:p xmlns:a="http://schemas.openxmlformats.org/drawingml/2006/main">
            <a:pPr>
              <a:defRPr sz="4350" b="1">
                <a:solidFill>
                  <a:srgbClr val="C93C13"/>
                </a:solidFill>
                <a:latin typeface="Arial"/>
                <a:ea typeface="Arial"/>
                <a:cs typeface="Arial"/>
              </a:defRPr>
            </a:pPr>
            <a:r>
              <a:rPr sz="4350" b="1">
                <a:solidFill>
                  <a:srgbClr val="C93C13"/>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D529871-238C-4246-8C38-B7FD668CB660}"/>
              </a:ext>
            </a:extLst>
          </p:cNvPr>
          <p:cNvSpPr>
            <a:spLocks xmlns:a="http://schemas.openxmlformats.org/drawingml/2006/main" noGrp="1"/>
          </p:cNvSpPr>
          <p:nvPr/>
        </p:nvSpPr>
        <p:spPr>
          <a:xfrm xmlns:a="http://schemas.openxmlformats.org/drawingml/2006/main">
            <a:off x="1790700" y="44100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3047"/>
                </a:solidFill>
                <a:latin typeface="Arial"/>
                <a:ea typeface="Arial"/>
                <a:cs typeface="Arial"/>
              </a:defRPr>
            </a:defPPr>
          </a:lstStyle>
          <a:p xmlns:a="http://schemas.openxmlformats.org/drawingml/2006/main">
            <a:pPr>
              <a:defRPr sz="2475" b="1">
                <a:solidFill>
                  <a:srgbClr val="243047"/>
                </a:solidFill>
                <a:latin typeface="Arial"/>
                <a:ea typeface="Arial"/>
                <a:cs typeface="Arial"/>
              </a:defRPr>
            </a:pPr>
            <a:r>
              <a:rPr sz="2475" b="1">
                <a:solidFill>
                  <a:srgbClr val="243047"/>
                </a:solidFill>
                <a:latin typeface="Arial"/>
                <a:ea typeface="Arial"/>
                <a:cs typeface="Arial"/>
              </a:rPr>
              <a:t>Sửa và xuất kết quả: 1 phút 50 giây</a:t>
            </a:r>
          </a:p>
        </p:txBody>
      </p:sp>
      <p:sp>
        <p:nvSpPr>
          <p:cNvPr id="11" name="">
            <a:extLst xmlns:a="http://schemas.openxmlformats.org/drawingml/2006/main">
              <a:ext uri="{FF2B5EF4-FFF2-40B4-BE49-F238E27FC236}">
                <a16:creationId xmlns:a16="http://schemas.microsoft.com/office/drawing/2014/main" id="{EAAE2B0B-9611-450F-866A-D968131F3F15}"/>
              </a:ext>
            </a:extLst>
          </p:cNvPr>
          <p:cNvSpPr>
            <a:spLocks xmlns:a="http://schemas.openxmlformats.org/drawingml/2006/main" noGrp="1"/>
          </p:cNvSpPr>
          <p:nvPr/>
        </p:nvSpPr>
        <p:spPr>
          <a:xfrm xmlns:a="http://schemas.openxmlformats.org/drawingml/2006/main">
            <a:off x="1790700" y="49720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67085"/>
                </a:solidFill>
                <a:latin typeface="Arial"/>
                <a:ea typeface="Arial"/>
                <a:cs typeface="Arial"/>
              </a:defRPr>
            </a:defPPr>
          </a:lstStyle>
          <a:p xmlns:a="http://schemas.openxmlformats.org/drawingml/2006/main">
            <a:pPr>
              <a:defRPr sz="2100" b="0">
                <a:solidFill>
                  <a:srgbClr val="667085"/>
                </a:solidFill>
                <a:latin typeface="Arial"/>
                <a:ea typeface="Arial"/>
                <a:cs typeface="Arial"/>
              </a:defRPr>
            </a:pPr>
            <a:r>
              <a:rPr sz="2100" b="0">
                <a:solidFill>
                  <a:srgbClr val="667085"/>
                </a:solidFill>
                <a:latin typeface="Arial"/>
                <a:ea typeface="Arial"/>
                <a:cs typeface="Arial"/>
              </a:rPr>
              <a:t>Thử lý do trống, sửa hợp lệ, xuất và xem trạng thái lưu</a:t>
            </a:r>
          </a:p>
        </p:txBody>
      </p:sp>
      <p:sp>
        <p:nvSpPr>
          <p:cNvPr id="12" name="">
            <a:extLst xmlns:a="http://schemas.openxmlformats.org/drawingml/2006/main">
              <a:ext uri="{FF2B5EF4-FFF2-40B4-BE49-F238E27FC236}">
                <a16:creationId xmlns:a16="http://schemas.microsoft.com/office/drawing/2014/main" id="{CAEC5C37-AB19-47E7-BDAC-8A230DDD7902}"/>
              </a:ext>
            </a:extLst>
          </p:cNvPr>
          <p:cNvSpPr>
            <a:spLocks xmlns:a="http://schemas.openxmlformats.org/drawingml/2006/main" noGrp="1"/>
          </p:cNvSpPr>
          <p:nvPr/>
        </p:nvSpPr>
        <p:spPr>
          <a:xfrm xmlns:a="http://schemas.openxmlformats.org/drawingml/2006/main">
            <a:off x="685800" y="60960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085"/>
                </a:solidFill>
                <a:latin typeface="Arial"/>
                <a:ea typeface="Arial"/>
                <a:cs typeface="Arial"/>
              </a:defRPr>
            </a:defPPr>
          </a:lstStyle>
          <a:p xmlns:a="http://schemas.openxmlformats.org/drawingml/2006/main">
            <a:pPr>
              <a:defRPr sz="1800" b="0">
                <a:solidFill>
                  <a:srgbClr val="667085"/>
                </a:solidFill>
                <a:latin typeface="Arial"/>
                <a:ea typeface="Arial"/>
                <a:cs typeface="Arial"/>
              </a:defRPr>
            </a:pPr>
            <a:r>
              <a:rPr sz="1800" b="0">
                <a:solidFill>
                  <a:srgbClr val="667085"/>
                </a:solidFill>
                <a:latin typeface="Arial"/>
                <a:ea typeface="Arial"/>
                <a:cs typeface="Arial"/>
              </a:rPr>
              <a:t>Mở đầu 20 giây, kết thúc 20 giây. Tổng dự kiến 5 phút.</a:t>
            </a:r>
          </a:p>
        </p:txBody>
      </p:sp>
    </p:spTree>
    <p:extLst>
      <p:ext uri="{BB962C8B-B14F-4D97-AF65-F5344CB8AC3E}">
        <p14:creationId xmlns:p14="http://schemas.microsoft.com/office/powerpoint/2010/main" val="16696020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F1D3B4-DB68-4A46-962B-B8258E677E07}"/>
              </a:ext>
            </a:extLst>
          </p:cNvPr>
          <p:cNvSpPr>
            <a:spLocks xmlns:a="http://schemas.openxmlformats.org/drawingml/2006/main" noGrp="1"/>
          </p:cNvSpPr>
          <p:nvPr/>
        </p:nvSpPr>
        <p:spPr>
          <a:xfrm xmlns:a="http://schemas.openxmlformats.org/drawingml/2006/main">
            <a:off x="685800" y="4572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Kết luận và tài liệu bàn giao</a:t>
            </a:r>
          </a:p>
        </p:txBody>
      </p:sp>
      <p:sp>
        <p:nvSpPr>
          <p:cNvPr id="2" name="">
            <a:extLst xmlns:a="http://schemas.openxmlformats.org/drawingml/2006/main">
              <a:ext uri="{FF2B5EF4-FFF2-40B4-BE49-F238E27FC236}">
                <a16:creationId xmlns:a16="http://schemas.microsoft.com/office/drawing/2014/main" id="{F2258866-68F8-4FEF-8085-219FB35CCBBF}"/>
              </a:ext>
            </a:extLst>
          </p:cNvPr>
          <p:cNvSpPr>
            <a:spLocks xmlns:a="http://schemas.openxmlformats.org/drawingml/2006/main" noGrp="1"/>
          </p:cNvSpPr>
          <p:nvPr/>
        </p:nvSpPr>
        <p:spPr>
          <a:xfrm xmlns:a="http://schemas.openxmlformats.org/drawingml/2006/main">
            <a:off x="11144250" y="6429375"/>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D641BF4-17A8-438B-B4CE-40B807D293A1}"/>
              </a:ext>
            </a:extLst>
          </p:cNvPr>
          <p:cNvSpPr>
            <a:spLocks xmlns:a="http://schemas.openxmlformats.org/drawingml/2006/main" noGrp="1"/>
          </p:cNvSpPr>
          <p:nvPr/>
        </p:nvSpPr>
        <p:spPr>
          <a:xfrm xmlns:a="http://schemas.openxmlformats.org/drawingml/2006/main">
            <a:off x="685800" y="168592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Nội dung đã chuẩn bị</a:t>
            </a:r>
          </a:p>
        </p:txBody>
      </p:sp>
      <p:sp>
        <p:nvSpPr>
          <p:cNvPr id="4" name="">
            <a:extLst xmlns:a="http://schemas.openxmlformats.org/drawingml/2006/main">
              <a:ext uri="{FF2B5EF4-FFF2-40B4-BE49-F238E27FC236}">
                <a16:creationId xmlns:a16="http://schemas.microsoft.com/office/drawing/2014/main" id="{F4EE607E-CDFE-4FE6-95DF-96312919BC5E}"/>
              </a:ext>
            </a:extLst>
          </p:cNvPr>
          <p:cNvSpPr>
            <a:spLocks xmlns:a="http://schemas.openxmlformats.org/drawingml/2006/main" noGrp="1"/>
          </p:cNvSpPr>
          <p:nvPr/>
        </p:nvSpPr>
        <p:spPr>
          <a:xfrm xmlns:a="http://schemas.openxmlformats.org/drawingml/2006/main">
            <a:off x="685800" y="2181225"/>
            <a:ext cx="5334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Thiết kế 10 màn hình</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Ba luồng sử dụng chính</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Nhật ký AI và ảnh các phiên bản</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Hướng dẫn triển khai giao diện</a:t>
            </a:r>
          </a:p>
        </p:txBody>
      </p:sp>
      <p:sp>
        <p:nvSpPr>
          <p:cNvPr id="5" name="">
            <a:extLst xmlns:a="http://schemas.openxmlformats.org/drawingml/2006/main">
              <a:ext uri="{FF2B5EF4-FFF2-40B4-BE49-F238E27FC236}">
                <a16:creationId xmlns:a16="http://schemas.microsoft.com/office/drawing/2014/main" id="{5134805F-0D0E-46C3-9231-BDF412EC7112}"/>
              </a:ext>
            </a:extLst>
          </p:cNvPr>
          <p:cNvSpPr>
            <a:spLocks xmlns:a="http://schemas.openxmlformats.org/drawingml/2006/main" noGrp="1"/>
          </p:cNvSpPr>
          <p:nvPr/>
        </p:nvSpPr>
        <p:spPr>
          <a:xfrm xmlns:a="http://schemas.openxmlformats.org/drawingml/2006/main">
            <a:off x="6762750" y="1685925"/>
            <a:ext cx="4743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93C13"/>
                </a:solidFill>
                <a:latin typeface="Arial"/>
                <a:ea typeface="Arial"/>
                <a:cs typeface="Arial"/>
              </a:defRPr>
            </a:defPPr>
          </a:lstStyle>
          <a:p xmlns:a="http://schemas.openxmlformats.org/drawingml/2006/main">
            <a:pPr>
              <a:defRPr sz="2325" b="1">
                <a:solidFill>
                  <a:srgbClr val="C93C13"/>
                </a:solidFill>
                <a:latin typeface="Arial"/>
                <a:ea typeface="Arial"/>
                <a:cs typeface="Arial"/>
              </a:defRPr>
            </a:pPr>
            <a:r>
              <a:rPr sz="2325" b="1">
                <a:solidFill>
                  <a:srgbClr val="C93C13"/>
                </a:solidFill>
                <a:latin typeface="Arial"/>
                <a:ea typeface="Arial"/>
                <a:cs typeface="Arial"/>
              </a:rPr>
              <a:t>Liên kết sử dụng</a:t>
            </a:r>
          </a:p>
        </p:txBody>
      </p:sp>
      <p:sp>
        <p:nvSpPr>
          <p:cNvPr id="6" name="">
            <a:extLst xmlns:a="http://schemas.openxmlformats.org/drawingml/2006/main">
              <a:ext uri="{FF2B5EF4-FFF2-40B4-BE49-F238E27FC236}">
                <a16:creationId xmlns:a16="http://schemas.microsoft.com/office/drawing/2014/main" id="{856E6680-0975-4BF4-8041-1BA4250C4658}"/>
              </a:ext>
            </a:extLst>
          </p:cNvPr>
          <p:cNvSpPr>
            <a:spLocks xmlns:a="http://schemas.openxmlformats.org/drawingml/2006/main" noGrp="1"/>
          </p:cNvSpPr>
          <p:nvPr/>
        </p:nvSpPr>
        <p:spPr>
          <a:xfrm xmlns:a="http://schemas.openxmlformats.org/drawingml/2006/main">
            <a:off x="6762750" y="2181225"/>
            <a:ext cx="4743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stStyle>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Prototype tương tác trên Stitch</a:t>
            </a:r>
          </a:p>
          <a:p xmlns:a="http://schemas.openxmlformats.org/drawingml/2006/main">
            <a:pPr>
              <a:defRPr sz="2175" b="0">
                <a:solidFill>
                  <a:srgbClr val="243047"/>
                </a:solidFill>
                <a:latin typeface="Arial"/>
                <a:ea typeface="Arial"/>
                <a:cs typeface="Arial"/>
              </a:defRPr>
            </a:pPr>
            <a:r>
              <a:rPr sz="2175" b="0">
                <a:solidFill>
                  <a:srgbClr val="243047"/>
                </a:solidFill>
                <a:latin typeface="Arial"/>
                <a:ea typeface="Arial"/>
                <a:cs typeface="Arial"/>
              </a:rPr>
              <a:t>Tài liệu và bằng chứng trên GitHub</a:t>
            </a:r>
          </a:p>
        </p:txBody>
      </p:sp>
      <p:sp>
        <p:nvSpPr>
          <p:cNvPr id="7" name="">
            <a:extLst xmlns:a="http://schemas.openxmlformats.org/drawingml/2006/main">
              <a:ext uri="{FF2B5EF4-FFF2-40B4-BE49-F238E27FC236}">
                <a16:creationId xmlns:a16="http://schemas.microsoft.com/office/drawing/2014/main" id="{4BEABF89-A873-4F98-9D5F-BACAA1CE9672}"/>
              </a:ext>
            </a:extLst>
          </p:cNvPr>
          <p:cNvSpPr>
            <a:spLocks xmlns:a="http://schemas.openxmlformats.org/drawingml/2006/main" noGrp="1"/>
          </p:cNvSpPr>
          <p:nvPr/>
        </p:nvSpPr>
        <p:spPr>
          <a:xfrm xmlns:a="http://schemas.openxmlformats.org/drawingml/2006/main">
            <a:off x="6762750" y="3324225"/>
            <a:ext cx="474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stStyle>
          <a:p xmlns:a="http://schemas.openxmlformats.org/drawingml/2006/main">
            <a:pPr>
              <a:defRPr sz="2175" b="1">
                <a:solidFill>
                  <a:srgbClr val="C93C13"/>
                </a:solidFill>
                <a:latin typeface="Arial"/>
                <a:ea typeface="Arial"/>
                <a:cs typeface="Arial"/>
              </a:defRPr>
            </a:pPr>
            <a:r>
              <a:rPr sz="2175" b="1">
                <a:solidFill>
                  <a:srgbClr val="C93C13"/>
                </a:solidFill>
                <a:latin typeface="Arial"/>
                <a:ea typeface="Arial"/>
                <a:cs typeface="Arial"/>
                <a:hlinkClick xmlns:r="http://schemas.openxmlformats.org/officeDocument/2006/relationships" r:id="R4c41f7f50ed943f8"/>
              </a:rPr>
              <a:t>Mở prototype Stitch</a:t>
            </a:r>
          </a:p>
        </p:txBody>
      </p:sp>
      <p:sp>
        <p:nvSpPr>
          <p:cNvPr id="8" name="">
            <a:extLst xmlns:a="http://schemas.openxmlformats.org/drawingml/2006/main">
              <a:ext uri="{FF2B5EF4-FFF2-40B4-BE49-F238E27FC236}">
                <a16:creationId xmlns:a16="http://schemas.microsoft.com/office/drawing/2014/main" id="{FA472339-FD11-4769-ACAB-CFDFB7710529}"/>
              </a:ext>
            </a:extLst>
          </p:cNvPr>
          <p:cNvSpPr>
            <a:spLocks xmlns:a="http://schemas.openxmlformats.org/drawingml/2006/main" noGrp="1"/>
          </p:cNvSpPr>
          <p:nvPr/>
        </p:nvSpPr>
        <p:spPr>
          <a:xfrm xmlns:a="http://schemas.openxmlformats.org/drawingml/2006/main">
            <a:off x="6762750" y="3943350"/>
            <a:ext cx="474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stStyle>
          <a:p xmlns:a="http://schemas.openxmlformats.org/drawingml/2006/main">
            <a:pPr>
              <a:defRPr sz="2175" b="1">
                <a:solidFill>
                  <a:srgbClr val="C93C13"/>
                </a:solidFill>
                <a:latin typeface="Arial"/>
                <a:ea typeface="Arial"/>
                <a:cs typeface="Arial"/>
              </a:defRPr>
            </a:pPr>
            <a:r>
              <a:rPr sz="2175" b="1">
                <a:solidFill>
                  <a:srgbClr val="C93C13"/>
                </a:solidFill>
                <a:latin typeface="Arial"/>
                <a:ea typeface="Arial"/>
                <a:cs typeface="Arial"/>
                <a:hlinkClick xmlns:r="http://schemas.openxmlformats.org/officeDocument/2006/relationships" r:id="R3099ecb782d7425c"/>
              </a:rPr>
              <a:t>Mở repository GitHub</a:t>
            </a:r>
          </a:p>
        </p:txBody>
      </p:sp>
      <p:sp>
        <p:nvSpPr>
          <p:cNvPr id="9" name="">
            <a:extLst xmlns:a="http://schemas.openxmlformats.org/drawingml/2006/main">
              <a:ext uri="{FF2B5EF4-FFF2-40B4-BE49-F238E27FC236}">
                <a16:creationId xmlns:a16="http://schemas.microsoft.com/office/drawing/2014/main" id="{EF83FC23-9072-42C1-BFE1-8DABCF5CA44E}"/>
              </a:ext>
            </a:extLst>
          </p:cNvPr>
          <p:cNvSpPr>
            <a:spLocks xmlns:a="http://schemas.openxmlformats.org/drawingml/2006/main" noGrp="1"/>
          </p:cNvSpPr>
          <p:nvPr/>
        </p:nvSpPr>
        <p:spPr>
          <a:xfrm xmlns:a="http://schemas.openxmlformats.org/drawingml/2006/main">
            <a:off x="6762750" y="4543425"/>
            <a:ext cx="4743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github.com/HungUniverse/prm323-lab2</a:t>
            </a:r>
          </a:p>
        </p:txBody>
      </p:sp>
      <p:sp>
        <p:nvSpPr>
          <p:cNvPr id="10" name="">
            <a:extLst xmlns:a="http://schemas.openxmlformats.org/drawingml/2006/main">
              <a:ext uri="{FF2B5EF4-FFF2-40B4-BE49-F238E27FC236}">
                <a16:creationId xmlns:a16="http://schemas.microsoft.com/office/drawing/2014/main" id="{AEF66B41-D5EC-4838-82FC-1C802324E0A5}"/>
              </a:ext>
            </a:extLst>
          </p:cNvPr>
          <p:cNvSpPr>
            <a:spLocks xmlns:a="http://schemas.openxmlformats.org/drawingml/2006/main" noGrp="1"/>
          </p:cNvSpPr>
          <p:nvPr/>
        </p:nvSpPr>
        <p:spPr>
          <a:xfrm xmlns:a="http://schemas.openxmlformats.org/drawingml/2006/main">
            <a:off x="685800" y="55435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67085"/>
                </a:solidFill>
                <a:latin typeface="Arial"/>
                <a:ea typeface="Arial"/>
                <a:cs typeface="Arial"/>
              </a:defRPr>
            </a:defPPr>
          </a:lstStyle>
          <a:p xmlns:a="http://schemas.openxmlformats.org/drawingml/2006/main">
            <a:pPr>
              <a:defRPr sz="1875" b="0">
                <a:solidFill>
                  <a:srgbClr val="667085"/>
                </a:solidFill>
                <a:latin typeface="Arial"/>
                <a:ea typeface="Arial"/>
                <a:cs typeface="Arial"/>
              </a:defRPr>
            </a:pPr>
            <a:r>
              <a:rPr sz="1875" b="0">
                <a:solidFill>
                  <a:srgbClr val="667085"/>
                </a:solidFill>
                <a:latin typeface="Arial"/>
                <a:ea typeface="Arial"/>
                <a:cs typeface="Arial"/>
              </a:rPr>
              <a:t>Còn kiểm thử thực tế và bổ sung bằng chứng.</a:t>
            </a:r>
          </a:p>
          <a:p xmlns:a="http://schemas.openxmlformats.org/drawingml/2006/main">
            <a:pPr>
              <a:defRPr sz="1875" b="0">
                <a:solidFill>
                  <a:srgbClr val="667085"/>
                </a:solidFill>
                <a:latin typeface="Arial"/>
                <a:ea typeface="Arial"/>
                <a:cs typeface="Arial"/>
              </a:defRPr>
            </a:pPr>
            <a:r>
              <a:rPr sz="1875" b="0">
                <a:solidFill>
                  <a:srgbClr val="667085"/>
                </a:solidFill>
                <a:latin typeface="Arial"/>
                <a:ea typeface="Arial"/>
                <a:cs typeface="Arial"/>
              </a:rPr>
              <a:t>Yêu cầu Figma cần xác nhận với giảng viên.</a:t>
            </a:r>
          </a:p>
        </p:txBody>
      </p:sp>
    </p:spTree>
    <p:extLst>
      <p:ext uri="{BB962C8B-B14F-4D97-AF65-F5344CB8AC3E}">
        <p14:creationId xmlns:p14="http://schemas.microsoft.com/office/powerpoint/2010/main" val="381050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2026-10-11T13:29:58.3790000Z</dcterms:created>
  <dcterms:modified xsi:type="dcterms:W3CDTF">2026-10-11T13:29:58.3790000Z</dcterms:modified>
</coreProperties>
</file>
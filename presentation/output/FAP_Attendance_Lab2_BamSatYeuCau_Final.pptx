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1622dcee054046" /><Relationship Type="http://schemas.openxmlformats.org/officeDocument/2006/relationships/extended-properties" Target="/docProps/app.xml" Id="Rad3692586ad64508" /><Relationship Type="http://schemas.openxmlformats.org/officeDocument/2006/relationships/officeDocument" Target="/ppt/presentation.xml" Id="R2a9164a4be174a8a" /></Relationships>
</file>

<file path=ppt/presentation.xml><?xml version="1.0" encoding="utf-8"?>
<p:presentation xmlns:p="http://schemas.openxmlformats.org/presentationml/2006/main">
  <p:sldMasterIdLst>
    <p:sldMasterId xmlns:r="http://schemas.openxmlformats.org/officeDocument/2006/relationships" id="2147483648" r:id="R5e03430cceed4e5d"/>
  </p:sldMasterIdLst>
  <p:notesMasterIdLst>
    <p:notesMasterId xmlns:r="http://schemas.openxmlformats.org/officeDocument/2006/relationships" r:id="Re06de782d4a540e9"/>
  </p:notesMasterIdLst>
  <p:sldIdLst>
    <p:sldId xmlns:r="http://schemas.openxmlformats.org/officeDocument/2006/relationships" id="256" r:id="R2479d89922c44d4e"/>
    <p:sldId xmlns:r="http://schemas.openxmlformats.org/officeDocument/2006/relationships" id="257" r:id="R205158944d6741b9"/>
    <p:sldId xmlns:r="http://schemas.openxmlformats.org/officeDocument/2006/relationships" id="258" r:id="R890cf4aee5134cde"/>
    <p:sldId xmlns:r="http://schemas.openxmlformats.org/officeDocument/2006/relationships" id="259" r:id="R146b618666694944"/>
    <p:sldId xmlns:r="http://schemas.openxmlformats.org/officeDocument/2006/relationships" id="260" r:id="R5db22107c84f4885"/>
    <p:sldId xmlns:r="http://schemas.openxmlformats.org/officeDocument/2006/relationships" id="261" r:id="Rf1b26fa96ab44d3e"/>
    <p:sldId xmlns:r="http://schemas.openxmlformats.org/officeDocument/2006/relationships" id="262" r:id="Rf64262ff8bda4120"/>
    <p:sldId xmlns:r="http://schemas.openxmlformats.org/officeDocument/2006/relationships" id="263" r:id="Rbcbf6ff5d73a4b8a"/>
    <p:sldId xmlns:r="http://schemas.openxmlformats.org/officeDocument/2006/relationships" id="264" r:id="Rf068d266e0264dc4"/>
    <p:sldId xmlns:r="http://schemas.openxmlformats.org/officeDocument/2006/relationships" id="265" r:id="R9fc6dde372a64edd"/>
    <p:sldId xmlns:r="http://schemas.openxmlformats.org/officeDocument/2006/relationships" id="266" r:id="R702827f150004f78"/>
    <p:sldId xmlns:r="http://schemas.openxmlformats.org/officeDocument/2006/relationships" id="267" r:id="R1df8c06e8c8543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52b85071b8477a" /><Relationship Type="http://schemas.openxmlformats.org/officeDocument/2006/relationships/slideMaster" Target="/ppt/slideMasters/slideMaster1.xml" Id="R5e03430cceed4e5d" /><Relationship Type="http://schemas.openxmlformats.org/officeDocument/2006/relationships/notesMaster" Target="/ppt/notesMasters/notesMaster1.xml" Id="Re06de782d4a540e9" /><Relationship Type="http://schemas.openxmlformats.org/officeDocument/2006/relationships/presProps" Target="/ppt/presProps.xml" Id="R072787ec23e6456b" /><Relationship Type="http://schemas.openxmlformats.org/officeDocument/2006/relationships/tableStyles" Target="/ppt/tableStyles.xml" Id="R709e1aba676b4f50" /><Relationship Type="http://schemas.openxmlformats.org/officeDocument/2006/relationships/slide" Target="/ppt/slides/slide1.xml" Id="R2479d89922c44d4e" /><Relationship Type="http://schemas.openxmlformats.org/officeDocument/2006/relationships/slide" Target="/ppt/slides/slide2.xml" Id="R205158944d6741b9" /><Relationship Type="http://schemas.openxmlformats.org/officeDocument/2006/relationships/slide" Target="/ppt/slides/slide3.xml" Id="R890cf4aee5134cde" /><Relationship Type="http://schemas.openxmlformats.org/officeDocument/2006/relationships/slide" Target="/ppt/slides/slide4.xml" Id="R146b618666694944" /><Relationship Type="http://schemas.openxmlformats.org/officeDocument/2006/relationships/slide" Target="/ppt/slides/slide5.xml" Id="R5db22107c84f4885" /><Relationship Type="http://schemas.openxmlformats.org/officeDocument/2006/relationships/slide" Target="/ppt/slides/slide6.xml" Id="Rf1b26fa96ab44d3e" /><Relationship Type="http://schemas.openxmlformats.org/officeDocument/2006/relationships/slide" Target="/ppt/slides/slide7.xml" Id="Rf64262ff8bda4120" /><Relationship Type="http://schemas.openxmlformats.org/officeDocument/2006/relationships/slide" Target="/ppt/slides/slide8.xml" Id="Rbcbf6ff5d73a4b8a" /><Relationship Type="http://schemas.openxmlformats.org/officeDocument/2006/relationships/slide" Target="/ppt/slides/slide9.xml" Id="Rf068d266e0264dc4" /><Relationship Type="http://schemas.openxmlformats.org/officeDocument/2006/relationships/slide" Target="/ppt/slides/slide10.xml" Id="R9fc6dde372a64edd" /><Relationship Type="http://schemas.openxmlformats.org/officeDocument/2006/relationships/slide" Target="/ppt/slides/slide11.xml" Id="R702827f150004f78" /><Relationship Type="http://schemas.openxmlformats.org/officeDocument/2006/relationships/slide" Target="/ppt/slides/slide12.xml" Id="R1df8c06e8c8543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ef4d60e0f94a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87a1cbe07d49b3" /><Relationship Type="http://schemas.openxmlformats.org/officeDocument/2006/relationships/notesMaster" Target="/ppt/notesMasters/notesMaster1.xml" Id="R838abeb8434f49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99790a961544bd" /><Relationship Type="http://schemas.openxmlformats.org/officeDocument/2006/relationships/notesMaster" Target="/ppt/notesMasters/notesMaster1.xml" Id="Re791c03ed93a43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cdbfdfd05a43e0" /><Relationship Type="http://schemas.openxmlformats.org/officeDocument/2006/relationships/notesMaster" Target="/ppt/notesMasters/notesMaster1.xml" Id="Rcb233b2cee1c4d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56517940e54d31" /><Relationship Type="http://schemas.openxmlformats.org/officeDocument/2006/relationships/notesMaster" Target="/ppt/notesMasters/notesMaster1.xml" Id="Rc9f6e0894823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3e868bf8d44a6f" /><Relationship Type="http://schemas.openxmlformats.org/officeDocument/2006/relationships/notesMaster" Target="/ppt/notesMasters/notesMaster1.xml" Id="Rde017a5095d449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c450f3714f433c" /><Relationship Type="http://schemas.openxmlformats.org/officeDocument/2006/relationships/notesMaster" Target="/ppt/notesMasters/notesMaster1.xml" Id="R176ac8c0b49b4c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3b959520a24573" /><Relationship Type="http://schemas.openxmlformats.org/officeDocument/2006/relationships/notesMaster" Target="/ppt/notesMasters/notesMaster1.xml" Id="R2c65ff87576740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f7feca5bcd4dd0" /><Relationship Type="http://schemas.openxmlformats.org/officeDocument/2006/relationships/notesMaster" Target="/ppt/notesMasters/notesMaster1.xml" Id="R81aee37c751a4e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ebc0903a8d4213" /><Relationship Type="http://schemas.openxmlformats.org/officeDocument/2006/relationships/notesMaster" Target="/ppt/notesMasters/notesMaster1.xml" Id="Re139588e518448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888680dbf04ac6" /><Relationship Type="http://schemas.openxmlformats.org/officeDocument/2006/relationships/notesMaster" Target="/ppt/notesMasters/notesMaster1.xml" Id="R9e10a65ee27c48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4b9ead717a4af7" /><Relationship Type="http://schemas.openxmlformats.org/officeDocument/2006/relationships/notesMaster" Target="/ppt/notesMasters/notesMaster1.xml" Id="R11454de1c7274d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08fe9f54ff4089" /><Relationship Type="http://schemas.openxmlformats.org/officeDocument/2006/relationships/notesMaster" Target="/ppt/notesMasters/notesMaster1.xml" Id="R3c30b11d76e24e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giây. Em thực hiện thiết kế UI/UX cho giảng viên FPT, dùng Stitch tạo giao diện và Codex hỗ trợ phản biện, tài liệu. Đây là bài cá nhân của SE193324. Vấn đề là chọn nhầm lớp/buổi và khó đối chiếu kết quả trên điện thoại. Ba flow đã có bản mô phỏng trên Stitch. Bài này không yêu cầu code Flutter. Link Figma theo đề chưa được cung cấp; cần xác nhận với giảng viên việc dùng Stitch thay thế.</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D:\Fall2026\PRM393\Project_PRM393\prm323-lab2-SE193324\README.md</a:t>
            </a:r>
          </a:p>
          <a:p xmlns:a="http://schemas.openxmlformats.org/drawingml/2006/main">
            <a:r>
              <a:t>https://github.com/HungUniverse/prm323-lab2</a:t>
            </a:r>
          </a:p>
          <a:p xmlns:a="http://schemas.openxmlformats.org/drawingml/2006/main">
            <a:r>
              <a:t>https://stitch.withgoogle.com/preview/10059602616228007293?node-id=f4c596c319264fa182ad8c2c92ebf951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Persona là nhóm giảng viên FPT quản lý nhiều lớp, dùng Android trước, trong và sau giờ học. Đây là giả định thiết kế, chưa khảo sát. Problem statement: giảng viên cần tìm đúng lớp và buổi, sửa sai có truy vết và biết kết quả đã lưu ở đâu. Những con số là mục tiêu kiểm thử, không phải số đo đạt được. Các chỉ tiêu đầy đủ ở persona.</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D:\Fall2026\PRM393\Project_PRM393\prm323-lab2-SE193324\ux\persona.md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Trước workspace có Bắt đầu, Import và Drive. Khi có dữ liệu, hai điểm đến cấp cao là Lịch và danh sách lớp, Google Drive. Điểm danh lớp là màn con, giữ lớp và buổi học. Các màn QR, cấu hình, lịch sử và chi tiết sinh viên đều có Back về đúng ngữ cảnh. Danh sách lớp và lịch tuần là hai chế độ của cùng một màn; dialog và sheet không tính thêm. Sơ đồ là cấu trúc thiết kế mục tiêu, chưa chứng minh mọi nhánh đã nối.</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D:\Fall2026\PRM393\Project_PRM393\prm323-lab2-SE193324\design\screen-spec.md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Sơ đồ rút gọn ánh xạ tên màn hình để dễ đọc; bản đầy đủ có ID trong user-flow. Flow 1 bắt đầu ở workspace, import hợp lệ rồi cấu hình lớp chưa bắt đầu; file lỗi phải chọn lại. Flow 2 bắt đầu từ lớp, mở QR, xác nhận rồi về kết quả đã chốt; hủy sheet trở lại QR. Flow 3 từ lịch sử, sửa P/A với lý do, rồi xuất slot đã chốt; lý do trống giữ form và sửa lại. Nét đứt biểu diễn nhánh phục hồi/hủy mục tiêu. Back không chốt QR và không lưu form. Các nhánh cần chạy thử, chưa có kết quả xác minh.</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D:\Fall2026\PRM393\Project_PRM393\prm323-lab2-SE193324\ux\user-flow.md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Stitch sinh UI ban đầu từ prompt nguyên văn và các tài liệu persona, flow, design brief. Codex hỗ trợ phân tích và phản biện. Các đoạn trên slide được trích từ prompt đã lưu, không phải prompt tái dựng. Prompt có persona, tác vụ, mobile, ràng buộc và phong cách; toàn văn nằm trong Notes và AI log. Ảnh bên phải là S03 V0 thật, không phải ảnh minh họa.</a:t>
            </a:r>
          </a:p>
          <a:p xmlns:a="http://schemas.openxmlformats.org/drawingml/2006/main">
            <a:r>
              <a:t/>
            </a:r>
          </a:p>
          <a:p xmlns:a="http://schemas.openxmlformats.org/drawingml/2006/main">
            <a:r>
              <a:t>PROMPT NGUYÊN VĂN:</a:t>
            </a:r>
          </a:p>
          <a:p xmlns:a="http://schemas.openxmlformats.org/drawingml/2006/main">
            <a:r>
              <a:t>Bạn là chuyên gia thiết kế UI/UX mobile.</a:t>
            </a:r>
          </a:p>
          <a:p xmlns:a="http://schemas.openxmlformats.org/drawingml/2006/main">
            <a:r>
              <a:t/>
            </a:r>
          </a:p>
          <a:p xmlns:a="http://schemas.openxmlformats.org/drawingml/2006/main">
            <a:r>
              <a:t>Hãy thiết kế đầy đủ 10 màn hình cho ứng dụng FAP Attendance dành</a:t>
            </a:r>
          </a:p>
          <a:p xmlns:a="http://schemas.openxmlformats.org/drawingml/2006/main">
            <a:r>
              <a:t>cho giảng viên Trường Đại học FPT. Đây là bản thiết kế V0 của</a:t>
            </a:r>
          </a:p>
          <a:p xmlns:a="http://schemas.openxmlformats.org/drawingml/2006/main">
            <a:r>
              <a:t>bài Lab 2: Thiết kế UI/UX có hỗ trợ AI.</a:t>
            </a:r>
          </a:p>
          <a:p xmlns:a="http://schemas.openxmlformats.org/drawingml/2006/main">
            <a:r>
              <a:t/>
            </a:r>
          </a:p>
          <a:p xmlns:a="http://schemas.openxmlformats.org/drawingml/2006/main">
            <a:r>
              <a:t>Sản phẩm cần là một hệ thống giao diện nhất quán, có luồng sử dụng</a:t>
            </a:r>
          </a:p>
          <a:p xmlns:a="http://schemas.openxmlformats.org/drawingml/2006/main">
            <a:r>
              <a:t>rõ ràng, không phải 10 màn hình rời rạc.</a:t>
            </a:r>
          </a:p>
          <a:p xmlns:a="http://schemas.openxmlformats.org/drawingml/2006/main">
            <a:r>
              <a:t/>
            </a:r>
          </a:p>
          <a:p xmlns:a="http://schemas.openxmlformats.org/drawingml/2006/main">
            <a:r>
              <a:t>Nếu có tài liệu đính kèm, hãy đọc persona.md, DESIGN.md và</a:t>
            </a:r>
          </a:p>
          <a:p xmlns:a="http://schemas.openxmlformats.org/drawingml/2006/main">
            <a:r>
              <a:t>user-flow.md trước khi thiết kế. Nếu phát hiện nội dung mâu thuẫn,</a:t>
            </a:r>
          </a:p>
          <a:p xmlns:a="http://schemas.openxmlformats.org/drawingml/2006/main">
            <a:r>
              <a:t>hãy nêu rõ để tôi xác nhận, không tự thay đổi nghiệp vụ.</a:t>
            </a:r>
          </a:p>
          <a:p xmlns:a="http://schemas.openxmlformats.org/drawingml/2006/main">
            <a:r>
              <a:t/>
            </a:r>
          </a:p>
          <a:p xmlns:a="http://schemas.openxmlformats.org/drawingml/2006/main">
            <a:r>
              <a:t>==================================================</a:t>
            </a:r>
          </a:p>
          <a:p xmlns:a="http://schemas.openxmlformats.org/drawingml/2006/main">
            <a:r>
              <a:t>1. BỐI CẢNH SẢN PHẨM</a:t>
            </a:r>
          </a:p>
          <a:p xmlns:a="http://schemas.openxmlformats.org/drawingml/2006/main">
            <a:r>
              <a:t>==================================================</a:t>
            </a:r>
          </a:p>
          <a:p xmlns:a="http://schemas.openxmlformats.org/drawingml/2006/main">
            <a:r>
              <a:t/>
            </a:r>
          </a:p>
          <a:p xmlns:a="http://schemas.openxmlformats.org/drawingml/2006/main">
            <a:r>
              <a:t>FAP Attendance hỗ trợ giảng viên:</a:t>
            </a:r>
          </a:p>
          <a:p xmlns:a="http://schemas.openxmlformats.org/drawingml/2006/main">
            <a:r>
              <a:t>- Import danh sách lớp và sinh viên từ markbook.</a:t>
            </a:r>
          </a:p>
          <a:p xmlns:a="http://schemas.openxmlformats.org/drawingml/2006/main">
            <a:r>
              <a:t>- Xem lịch dạy theo tuần.</a:t>
            </a:r>
          </a:p>
          <a:p xmlns:a="http://schemas.openxmlformats.org/drawingml/2006/main">
            <a:r>
              <a:t>- Cấu hình lịch riêng cho từng lớp.</a:t>
            </a:r>
          </a:p>
          <a:p xmlns:a="http://schemas.openxmlformats.org/drawingml/2006/main">
            <a:r>
              <a:t>- Mở QR để sinh viên điểm danh.</a:t>
            </a:r>
          </a:p>
          <a:p xmlns:a="http://schemas.openxmlformats.org/drawingml/2006/main">
            <a:r>
              <a:t>- Theo dõi kết quả theo thời gian thực.</a:t>
            </a:r>
          </a:p>
          <a:p xmlns:a="http://schemas.openxmlformats.org/drawingml/2006/main">
            <a:r>
              <a:t>- Chốt danh sách, xem lịch sử và ghi chú sửa điểm danh.</a:t>
            </a:r>
          </a:p>
          <a:p xmlns:a="http://schemas.openxmlformats.org/drawingml/2006/main">
            <a:r>
              <a:t>- Xuất JSON/CSV phục vụ nhập kết quả vào FAP.</a:t>
            </a:r>
          </a:p>
          <a:p xmlns:a="http://schemas.openxmlformats.org/drawingml/2006/main">
            <a:r>
              <a:t>- Đồng bộ dữ liệu qua Google Drive.</a:t>
            </a:r>
          </a:p>
          <a:p xmlns:a="http://schemas.openxmlformats.org/drawingml/2006/main">
            <a:r>
              <a:t/>
            </a:r>
          </a:p>
          <a:p xmlns:a="http://schemas.openxmlformats.org/drawingml/2006/main">
            <a:r>
              <a:t>Ứng dụng không dùng database.</a:t>
            </a:r>
          </a:p>
          <a:p xmlns:a="http://schemas.openxmlformats.org/drawingml/2006/main">
            <a:r>
              <a:t>Dữ liệu được lưu bằng file local và có thể đồng bộ Google Drive.</a:t>
            </a:r>
          </a:p>
          <a:p xmlns:a="http://schemas.openxmlformats.org/drawingml/2006/main">
            <a:r>
              <a:t/>
            </a:r>
          </a:p>
          <a:p xmlns:a="http://schemas.openxmlformats.org/drawingml/2006/main">
            <a:r>
              <a:t>Lab này tập trung thiết kế giao diện mobile cho GIẢNG VIÊN,</a:t>
            </a:r>
          </a:p>
          <a:p xmlns:a="http://schemas.openxmlformats.org/drawingml/2006/main">
            <a:r>
              <a:t>dựa trên nghiệp vụ của ứng dụng desktop hiện có.</a:t>
            </a:r>
          </a:p>
          <a:p xmlns:a="http://schemas.openxmlformats.org/drawingml/2006/main">
            <a:r>
              <a:t/>
            </a:r>
          </a:p>
          <a:p xmlns:a="http://schemas.openxmlformats.org/drawingml/2006/main">
            <a:r>
              <a:t>Sinh viên quét QR bằng camera điện thoại và mở trình duyệt để</a:t>
            </a:r>
          </a:p>
          <a:p xmlns:a="http://schemas.openxmlformats.org/drawingml/2006/main">
            <a:r>
              <a:t>đăng nhập, điểm danh. Sinh viên không cần cài ứng dụng.</a:t>
            </a:r>
          </a:p>
          <a:p xmlns:a="http://schemas.openxmlformats.org/drawingml/2006/main">
            <a:r>
              <a:t/>
            </a:r>
          </a:p>
          <a:p xmlns:a="http://schemas.openxmlformats.org/drawingml/2006/main">
            <a:r>
              <a:t>Không thiết kế Chrome Extension, website FAP clone hoặc ứng dụng</a:t>
            </a:r>
          </a:p>
          <a:p xmlns:a="http://schemas.openxmlformats.org/drawingml/2006/main">
            <a:r>
              <a:t>riêng cho sinh viên trong bộ 10 màn hình này.</a:t>
            </a:r>
          </a:p>
          <a:p xmlns:a="http://schemas.openxmlformats.org/drawingml/2006/main">
            <a:r>
              <a:t/>
            </a:r>
          </a:p>
          <a:p xmlns:a="http://schemas.openxmlformats.org/drawingml/2006/main">
            <a:r>
              <a:t>==================================================</a:t>
            </a:r>
          </a:p>
          <a:p xmlns:a="http://schemas.openxmlformats.org/drawingml/2006/main">
            <a:r>
              <a:t>2. NGƯỜI DÙNG VÀ MỤC TIÊU UX</a:t>
            </a:r>
          </a:p>
          <a:p xmlns:a="http://schemas.openxmlformats.org/drawingml/2006/main">
            <a:r>
              <a:t>==================================================</a:t>
            </a:r>
          </a:p>
          <a:p xmlns:a="http://schemas.openxmlformats.org/drawingml/2006/main">
            <a:r>
              <a:t/>
            </a:r>
          </a:p>
          <a:p xmlns:a="http://schemas.openxmlformats.org/drawingml/2006/main">
            <a:r>
              <a:t>Người dùng chính:</a:t>
            </a:r>
          </a:p>
          <a:p xmlns:a="http://schemas.openxmlformats.org/drawingml/2006/main">
            <a:r>
              <a:t>Giảng viên Trường Đại học FPT.</a:t>
            </a:r>
          </a:p>
          <a:p xmlns:a="http://schemas.openxmlformats.org/drawingml/2006/main">
            <a:r>
              <a:t/>
            </a:r>
          </a:p>
          <a:p xmlns:a="http://schemas.openxmlformats.org/drawingml/2006/main">
            <a:r>
              <a:t>Không tự đặt tên, tuổi, giới tính hoặc thông tin cá nhân cho persona.</a:t>
            </a:r>
          </a:p>
          <a:p xmlns:a="http://schemas.openxmlformats.org/drawingml/2006/main">
            <a:r>
              <a:t/>
            </a:r>
          </a:p>
          <a:p xmlns:a="http://schemas.openxmlformats.org/drawingml/2006/main">
            <a:r>
              <a:t>Bối cảnh:</a:t>
            </a:r>
          </a:p>
          <a:p xmlns:a="http://schemas.openxmlformats.org/drawingml/2006/main">
            <a:r>
              <a:t>- Giảng viên quản lý nhiều lớp trong học kỳ.</a:t>
            </a:r>
          </a:p>
          <a:p xmlns:a="http://schemas.openxmlformats.org/drawingml/2006/main">
            <a:r>
              <a:t>- Thường thao tác nhanh trước hoặc trong giờ học.</a:t>
            </a:r>
          </a:p>
          <a:p xmlns:a="http://schemas.openxmlformats.org/drawingml/2006/main">
            <a:r>
              <a:t>- Có thể cầm điện thoại bằng một tay.</a:t>
            </a:r>
          </a:p>
          <a:p xmlns:a="http://schemas.openxmlformats.org/drawingml/2006/main">
            <a:r>
              <a:t>- Cần nhìn rõ môn, lớp, ngày và slot để tránh điểm danh nhầm.</a:t>
            </a:r>
          </a:p>
          <a:p xmlns:a="http://schemas.openxmlformats.org/drawingml/2006/main">
            <a:r>
              <a:t>- Mạng có thể không ổn định.</a:t>
            </a:r>
          </a:p>
          <a:p xmlns:a="http://schemas.openxmlformats.org/drawingml/2006/main">
            <a:r>
              <a:t>- Cần biết dữ liệu đã lưu local hay đã đồng bộ Drive.</a:t>
            </a:r>
          </a:p>
          <a:p xmlns:a="http://schemas.openxmlformats.org/drawingml/2006/main">
            <a:r>
              <a:t/>
            </a:r>
          </a:p>
          <a:p xmlns:a="http://schemas.openxmlformats.org/drawingml/2006/main">
            <a:r>
              <a:t>Mục tiêu UX:</a:t>
            </a:r>
          </a:p>
          <a:p xmlns:a="http://schemas.openxmlformats.org/drawingml/2006/main">
            <a:r>
              <a:t>- Từ dashboard, mở đúng lớp và slot với ít thao tác.</a:t>
            </a:r>
          </a:p>
          <a:p xmlns:a="http://schemas.openxmlformats.org/drawingml/2006/main">
            <a:r>
              <a:t>- Dễ phân biệt đang điểm danh, đã chốt và chưa điểm danh.</a:t>
            </a:r>
          </a:p>
          <a:p xmlns:a="http://schemas.openxmlformats.org/drawingml/2006/main">
            <a:r>
              <a:t>- Không chốt nhầm hoặc mất dữ liệu do thao tác thiếu xác nhận.</a:t>
            </a:r>
          </a:p>
          <a:p xmlns:a="http://schemas.openxmlformats.org/drawingml/2006/main">
            <a:r>
              <a:t>- Đọc được đầy đủ họ tên sinh viên.</a:t>
            </a:r>
          </a:p>
          <a:p xmlns:a="http://schemas.openxmlformats.org/drawingml/2006/main">
            <a:r>
              <a:t>- Có thông báo lỗi cụ thể và hành động khôi phục rõ ràng.</a:t>
            </a:r>
          </a:p>
          <a:p xmlns:a="http://schemas.openxmlformats.org/drawingml/2006/main">
            <a:r>
              <a:t>- Không hiển thị thông tin kỹ thuật không cần thiết.</a:t>
            </a:r>
          </a:p>
          <a:p xmlns:a="http://schemas.openxmlformats.org/drawingml/2006/main">
            <a:r>
              <a:t/>
            </a:r>
          </a:p>
          <a:p xmlns:a="http://schemas.openxmlformats.org/drawingml/2006/main">
            <a:r>
              <a:t>==================================================</a:t>
            </a:r>
          </a:p>
          <a:p xmlns:a="http://schemas.openxmlformats.org/drawingml/2006/main">
            <a:r>
              <a:t>3. PHONG CÁCH THIẾT KẾ</a:t>
            </a:r>
          </a:p>
          <a:p xmlns:a="http://schemas.openxmlformats.org/drawingml/2006/main">
            <a:r>
              <a:t>==================================================</a:t>
            </a:r>
          </a:p>
          <a:p xmlns:a="http://schemas.openxmlformats.org/drawingml/2006/main">
            <a:r>
              <a:t/>
            </a:r>
          </a:p>
          <a:p xmlns:a="http://schemas.openxmlformats.org/drawingml/2006/main">
            <a:r>
              <a:t>Phong cách:</a:t>
            </a:r>
          </a:p>
          <a:p xmlns:a="http://schemas.openxmlformats.org/drawingml/2006/main">
            <a:r>
              <a:t>- Hiện đại, gọn gàng, chuyên nghiệp, phù hợp môi trường đại học.</a:t>
            </a:r>
          </a:p>
          <a:p xmlns:a="http://schemas.openxmlformats.org/drawingml/2006/main">
            <a:r>
              <a:t>- Trắng và cam là màu chủ đạo.</a:t>
            </a:r>
          </a:p>
          <a:p xmlns:a="http://schemas.openxmlformats.org/drawingml/2006/main">
            <a:r>
              <a:t>- Có thể thêm xanh lá, đỏ và xanh dương để biểu thị trạng thái.</a:t>
            </a:r>
          </a:p>
          <a:p xmlns:a="http://schemas.openxmlformats.org/drawingml/2006/main">
            <a:r>
              <a:t>- Ưu tiên tính dễ đọc và hiệu quả sử dụng hơn trang trí.</a:t>
            </a:r>
          </a:p>
          <a:p xmlns:a="http://schemas.openxmlformats.org/drawingml/2006/main">
            <a:r>
              <a:t>- Không dùng quá nhiều gradient, hiệu ứng kính hoặc shadow lớn.</a:t>
            </a:r>
          </a:p>
          <a:p xmlns:a="http://schemas.openxmlformats.org/drawingml/2006/main">
            <a:r>
              <a:t>- Không biến giao diện thành một dashboard thống kê quá phức tạp.</a:t>
            </a:r>
          </a:p>
          <a:p xmlns:a="http://schemas.openxmlformats.org/drawingml/2006/main">
            <a:r>
              <a:t/>
            </a:r>
          </a:p>
          <a:p xmlns:a="http://schemas.openxmlformats.org/drawingml/2006/main">
            <a:r>
              <a:t>Bảng màu:</a:t>
            </a:r>
          </a:p>
          <a:p xmlns:a="http://schemas.openxmlformats.org/drawingml/2006/main">
            <a:r>
              <a:t>- Primary: #C93C13.</a:t>
            </a:r>
          </a:p>
          <a:p xmlns:a="http://schemas.openxmlformats.org/drawingml/2006/main">
            <a:r>
              <a:t>- Brand orange: #F4511E.</a:t>
            </a:r>
          </a:p>
          <a:p xmlns:a="http://schemas.openxmlformats.org/drawingml/2006/main">
            <a:r>
              <a:t>- Background: #FFF7F3.</a:t>
            </a:r>
          </a:p>
          <a:p xmlns:a="http://schemas.openxmlformats.org/drawingml/2006/main">
            <a:r>
              <a:t>- Surface/card: #FFFFFF.</a:t>
            </a:r>
          </a:p>
          <a:p xmlns:a="http://schemas.openxmlformats.org/drawingml/2006/main">
            <a:r>
              <a:t>- Text chính: #243047.</a:t>
            </a:r>
          </a:p>
          <a:p xmlns:a="http://schemas.openxmlformats.org/drawingml/2006/main">
            <a:r>
              <a:t>- Text phụ: #667085.</a:t>
            </a:r>
          </a:p>
          <a:p xmlns:a="http://schemas.openxmlformats.org/drawingml/2006/main">
            <a:r>
              <a:t>- Success/Present: #16835D.</a:t>
            </a:r>
          </a:p>
          <a:p xmlns:a="http://schemas.openxmlformats.org/drawingml/2006/main">
            <a:r>
              <a:t>- Error/Absent: #C93A2B.</a:t>
            </a:r>
          </a:p>
          <a:p xmlns:a="http://schemas.openxmlformats.org/drawingml/2006/main">
            <a:r>
              <a:t>- Information: #2563B8.</a:t>
            </a:r>
          </a:p>
          <a:p xmlns:a="http://schemas.openxmlformats.org/drawingml/2006/main">
            <a:r>
              <a:t/>
            </a:r>
          </a:p>
          <a:p xmlns:a="http://schemas.openxmlformats.org/drawingml/2006/main">
            <a:r>
              <a:t>Dùng #C93C13 cho nút có chữ trắng thông thường.</a:t>
            </a:r>
          </a:p>
          <a:p xmlns:a="http://schemas.openxmlformats.org/drawingml/2006/main">
            <a:r>
              <a:t>Cam sáng #F4511E ưu tiên dùng làm điểm nhấn nhận diện.</a:t>
            </a:r>
          </a:p>
          <a:p xmlns:a="http://schemas.openxmlformats.org/drawingml/2006/main">
            <a:r>
              <a:t>Kiểm tra tương phản khi phối màu, không mặc định mọi cặp màu</a:t>
            </a:r>
          </a:p>
          <a:p xmlns:a="http://schemas.openxmlformats.org/drawingml/2006/main">
            <a:r>
              <a:t>trong bảng đều đạt yêu cầu.</a:t>
            </a:r>
          </a:p>
          <a:p xmlns:a="http://schemas.openxmlformats.org/drawingml/2006/main">
            <a:r>
              <a:t/>
            </a:r>
          </a:p>
          <a:p xmlns:a="http://schemas.openxmlformats.org/drawingml/2006/main">
            <a:r>
              <a:t>Typography:</a:t>
            </a:r>
          </a:p>
          <a:p xmlns:a="http://schemas.openxmlformats.org/drawingml/2006/main">
            <a:r>
              <a:t>- Font hỗ trợ đầy đủ tiếng Việt, ưu tiên Roboto.</a:t>
            </a:r>
          </a:p>
          <a:p xmlns:a="http://schemas.openxmlformats.org/drawingml/2006/main">
            <a:r>
              <a:t>- Heading khoảng 24px.</a:t>
            </a:r>
          </a:p>
          <a:p xmlns:a="http://schemas.openxmlformats.org/drawingml/2006/main">
            <a:r>
              <a:t>- Section title khoảng 20px.</a:t>
            </a:r>
          </a:p>
          <a:p xmlns:a="http://schemas.openxmlformats.org/drawingml/2006/main">
            <a:r>
              <a:t>- Body mặc định 16px.</a:t>
            </a:r>
          </a:p>
          <a:p xmlns:a="http://schemas.openxmlformats.org/drawingml/2006/main">
            <a:r>
              <a:t>- Nội dung phụ tối thiểu 14px.</a:t>
            </a:r>
          </a:p>
          <a:p xmlns:a="http://schemas.openxmlformats.org/drawingml/2006/main">
            <a:r>
              <a:t>- Phân cấp chữ rõ ràng.</a:t>
            </a:r>
          </a:p>
          <a:p xmlns:a="http://schemas.openxmlformats.org/drawingml/2006/main">
            <a:r>
              <a:t/>
            </a:r>
          </a:p>
          <a:p xmlns:a="http://schemas.openxmlformats.org/drawingml/2006/main">
            <a:r>
              <a:t>Spacing:</a:t>
            </a:r>
          </a:p>
          <a:p xmlns:a="http://schemas.openxmlformats.org/drawingml/2006/main">
            <a:r>
              <a:t>- Sử dụng hệ khoảng cách 4, 8, 12, 16, 24, 32px.</a:t>
            </a:r>
          </a:p>
          <a:p xmlns:a="http://schemas.openxmlformats.org/drawingml/2006/main">
            <a:r>
              <a:t>- Lề nội dung chính khoảng 16px.</a:t>
            </a:r>
          </a:p>
          <a:p xmlns:a="http://schemas.openxmlformats.org/drawingml/2006/main">
            <a:r>
              <a:t>- Bo góc nhất quán theo các mức 8, 12, 16px.</a:t>
            </a:r>
          </a:p>
          <a:p xmlns:a="http://schemas.openxmlformats.org/drawingml/2006/main">
            <a:r>
              <a:t>- Nút chính cao khoảng 52px.</a:t>
            </a:r>
          </a:p>
          <a:p xmlns:a="http://schemas.openxmlformats.org/drawingml/2006/main">
            <a:r>
              <a:t>- Vùng chạm tối thiểu 48 × 48px.</a:t>
            </a:r>
          </a:p>
          <a:p xmlns:a="http://schemas.openxmlformats.org/drawingml/2006/main">
            <a:r>
              <a:t/>
            </a:r>
          </a:p>
          <a:p xmlns:a="http://schemas.openxmlformats.org/drawingml/2006/main">
            <a:r>
              <a:t>Accessibility:</a:t>
            </a:r>
          </a:p>
          <a:p xmlns:a="http://schemas.openxmlformats.org/drawingml/2006/main">
            <a:r>
              <a:t>- Chữ thông thường đạt tương phản tối thiểu 4.5:1.</a:t>
            </a:r>
          </a:p>
          <a:p xmlns:a="http://schemas.openxmlformats.org/drawingml/2006/main">
            <a:r>
              <a:t>- Chữ lớn và thành phần giao diện đạt tối thiểu 3:1.</a:t>
            </a:r>
          </a:p>
          <a:p xmlns:a="http://schemas.openxmlformats.org/drawingml/2006/main">
            <a:r>
              <a:t>- Không chỉ dùng màu để biểu thị trạng thái.</a:t>
            </a:r>
          </a:p>
          <a:p xmlns:a="http://schemas.openxmlformats.org/drawingml/2006/main">
            <a:r>
              <a:t>- Kết hợp chữ, icon và màu cho Present, Absent, lỗi và đồng bộ.</a:t>
            </a:r>
          </a:p>
          <a:p xmlns:a="http://schemas.openxmlformats.org/drawingml/2006/main">
            <a:r>
              <a:t>- Text field có label rõ ràng, không chỉ có placeholder.</a:t>
            </a:r>
          </a:p>
          <a:p xmlns:a="http://schemas.openxmlformats.org/drawingml/2006/main">
            <a:r>
              <a:t>- Hỗ trợ nội dung dài và tăng kích thước chữ hợp lý.</a:t>
            </a:r>
          </a:p>
          <a:p xmlns:a="http://schemas.openxmlformats.org/drawingml/2006/main">
            <a:r>
              <a:t>- Không cắt mất tên sinh viên hoặc thông báo quan trọng.</a:t>
            </a:r>
          </a:p>
          <a:p xmlns:a="http://schemas.openxmlformats.org/drawingml/2006/main">
            <a:r>
              <a:t/>
            </a:r>
          </a:p>
          <a:p xmlns:a="http://schemas.openxmlformats.org/drawingml/2006/main">
            <a:r>
              <a:t>==================================================</a:t>
            </a:r>
          </a:p>
          <a:p xmlns:a="http://schemas.openxmlformats.org/drawingml/2006/main">
            <a:r>
              <a:t>4. KÍCH THƯỚC VÀ ĐIỀU HƯỚNG</a:t>
            </a:r>
          </a:p>
          <a:p xmlns:a="http://schemas.openxmlformats.org/drawingml/2006/main">
            <a:r>
              <a:t>==================================================</a:t>
            </a:r>
          </a:p>
          <a:p xmlns:a="http://schemas.openxmlformats.org/drawingml/2006/main">
            <a:r>
              <a:t/>
            </a:r>
          </a:p>
          <a:p xmlns:a="http://schemas.openxmlformats.org/drawingml/2006/main">
            <a:r>
              <a:t>Thiết kế mobile portrait với frame chính 360 × 800px.</a:t>
            </a:r>
          </a:p>
          <a:p xmlns:a="http://schemas.openxmlformats.org/drawingml/2006/main">
            <a:r>
              <a:t/>
            </a:r>
          </a:p>
          <a:p xmlns:a="http://schemas.openxmlformats.org/drawingml/2006/main">
            <a:r>
              <a:t>Bố cục cần thích ứng được với chiều rộng 412px:</a:t>
            </a:r>
          </a:p>
          <a:p xmlns:a="http://schemas.openxmlformats.org/drawingml/2006/main">
            <a:r>
              <a:t>- Không tràn ngang ngoài các vùng cuộn có chủ đích.</a:t>
            </a:r>
          </a:p>
          <a:p xmlns:a="http://schemas.openxmlformats.org/drawingml/2006/main">
            <a:r>
              <a:t>- Không thu nhỏ chữ để ép nội dung.</a:t>
            </a:r>
          </a:p>
          <a:p xmlns:a="http://schemas.openxmlformats.org/drawingml/2006/main">
            <a:r>
              <a:t>- Màn hình có nội dung dài được cuộn dọc.</a:t>
            </a:r>
          </a:p>
          <a:p xmlns:a="http://schemas.openxmlformats.org/drawingml/2006/main">
            <a:r>
              <a:t>- Nút quan trọng không che nội dung hoặc bị bàn phím che.</a:t>
            </a:r>
          </a:p>
          <a:p xmlns:a="http://schemas.openxmlformats.org/drawingml/2006/main">
            <a:r>
              <a:t/>
            </a:r>
          </a:p>
          <a:p xmlns:a="http://schemas.openxmlformats.org/drawingml/2006/main">
            <a:r>
              <a:t>Điều hướng:</a:t>
            </a:r>
          </a:p>
          <a:p xmlns:a="http://schemas.openxmlformats.org/drawingml/2006/main">
            <a:r>
              <a:t>- Sau khi có workspace, hai điểm đến cấp cao là:</a:t>
            </a:r>
          </a:p>
          <a:p xmlns:a="http://schemas.openxmlformats.org/drawingml/2006/main">
            <a:r>
              <a:t>  “Lịch tuần” và “Google Drive”.</a:t>
            </a:r>
          </a:p>
          <a:p xmlns:a="http://schemas.openxmlformats.org/drawingml/2006/main">
            <a:r>
              <a:t>- Các màn hình lớp, QR, lịch sử, chi tiết sinh viên và xuất file</a:t>
            </a:r>
          </a:p>
          <a:p xmlns:a="http://schemas.openxmlformats.org/drawingml/2006/main">
            <a:r>
              <a:t>  là màn hình con với nút Back rõ ràng.</a:t>
            </a:r>
          </a:p>
          <a:p xmlns:a="http://schemas.openxmlformats.org/drawingml/2006/main">
            <a:r>
              <a:t>- Trước khi có workspace, không hiển thị dashboard có dữ liệu giả</a:t>
            </a:r>
          </a:p>
          <a:p xmlns:a="http://schemas.openxmlformats.org/drawingml/2006/main">
            <a:r>
              <a:t>  như thể giảng viên đã import thành công.</a:t>
            </a:r>
          </a:p>
          <a:p xmlns:a="http://schemas.openxmlformats.org/drawingml/2006/main">
            <a:r>
              <a:t>- Giữ ngữ cảnh lớp và slot khi chuyển màn hình hoặc quay lại.</a:t>
            </a:r>
          </a:p>
          <a:p xmlns:a="http://schemas.openxmlformats.org/drawingml/2006/main">
            <a:r>
              <a:t>- Không dùng menu gồm cả 10 mục như 10 chức năng ngang hàng.</a:t>
            </a:r>
          </a:p>
          <a:p xmlns:a="http://schemas.openxmlformats.org/drawingml/2006/main">
            <a:r>
              <a:t/>
            </a:r>
          </a:p>
          <a:p xmlns:a="http://schemas.openxmlformats.org/drawingml/2006/main">
            <a:r>
              <a:t>==================================================</a:t>
            </a:r>
          </a:p>
          <a:p xmlns:a="http://schemas.openxmlformats.org/drawingml/2006/main">
            <a:r>
              <a:t>5. DỮ LIỆU VÀ QUY TẮC NGHIỆP VỤ</a:t>
            </a:r>
          </a:p>
          <a:p xmlns:a="http://schemas.openxmlformats.org/drawingml/2006/main">
            <a:r>
              <a:t>==================================================</a:t>
            </a:r>
          </a:p>
          <a:p xmlns:a="http://schemas.openxmlformats.org/drawingml/2006/main">
            <a:r>
              <a:t/>
            </a:r>
          </a:p>
          <a:p xmlns:a="http://schemas.openxmlformats.org/drawingml/2006/main">
            <a:r>
              <a:t>Import:</a:t>
            </a:r>
          </a:p>
          <a:p xmlns:a="http://schemas.openxmlformats.org/drawingml/2006/main">
            <a:r>
              <a:t>- Hỗ trợ file .ods và .xlsx.</a:t>
            </a:r>
          </a:p>
          <a:p xmlns:a="http://schemas.openxmlformats.org/drawingml/2006/main">
            <a:r>
              <a:t>- Đọc mã lớp, MSSV, email, họ tên và MemberCode nếu có.</a:t>
            </a:r>
          </a:p>
          <a:p xmlns:a="http://schemas.openxmlformats.org/drawingml/2006/main">
            <a:r>
              <a:t>- Bỏ qua các cột điểm.</a:t>
            </a:r>
          </a:p>
          <a:p xmlns:a="http://schemas.openxmlformats.org/drawingml/2006/main">
            <a:r>
              <a:t>- Import cập nhật dữ liệu, không mặc định xóa lịch sử cũ.</a:t>
            </a:r>
          </a:p>
          <a:p xmlns:a="http://schemas.openxmlformats.org/drawingml/2006/main">
            <a:r>
              <a:t>- Lớp hoặc sinh viên không xuất hiện trong file mới không bị</a:t>
            </a:r>
          </a:p>
          <a:p xmlns:a="http://schemas.openxmlformats.org/drawingml/2006/main">
            <a:r>
              <a:t>  tự động xóa.</a:t>
            </a:r>
          </a:p>
          <a:p xmlns:a="http://schemas.openxmlformats.org/drawingml/2006/main">
            <a:r>
              <a:t>- Có cảnh báo thiếu header, trùng MSSV/email hoặc dữ liệu sai.</a:t>
            </a:r>
          </a:p>
          <a:p xmlns:a="http://schemas.openxmlformats.org/drawingml/2006/main">
            <a:r>
              <a:t/>
            </a:r>
          </a:p>
          <a:p xmlns:a="http://schemas.openxmlformats.org/drawingml/2006/main">
            <a:r>
              <a:t>Lịch:</a:t>
            </a:r>
          </a:p>
          <a:p xmlns:a="http://schemas.openxmlformats.org/drawingml/2006/main">
            <a:r>
              <a:t>- Mặc định 10 tuần, 2 slot mỗi tuần.</a:t>
            </a:r>
          </a:p>
          <a:p xmlns:a="http://schemas.openxmlformats.org/drawingml/2006/main">
            <a:r>
              <a:t>- Có thể cấu hình riêng từng lớp: số tuần, 1 hoặc 2 slot mỗi tuần,</a:t>
            </a:r>
          </a:p>
          <a:p xmlns:a="http://schemas.openxmlformats.org/drawingml/2006/main">
            <a:r>
              <a:t>  ngày học, khung giờ, ngày nghỉ và học bù.</a:t>
            </a:r>
          </a:p>
          <a:p xmlns:a="http://schemas.openxmlformats.org/drawingml/2006/main">
            <a:r>
              <a:t>- Theo phiên bản nguồn hiện tại, lớp đã có slot đang điểm danh</a:t>
            </a:r>
          </a:p>
          <a:p xmlns:a="http://schemas.openxmlformats.org/drawingml/2006/main">
            <a:r>
              <a:t>  hoặc đã chốt thì không được thay đổi cấu hình lịch.</a:t>
            </a:r>
          </a:p>
          <a:p xmlns:a="http://schemas.openxmlformats.org/drawingml/2006/main">
            <a:r>
              <a:t>- Khi bị khóa, phải giải thích lý do; không chỉ vô hiệu hóa nút.</a:t>
            </a:r>
          </a:p>
          <a:p xmlns:a="http://schemas.openxmlformats.org/drawingml/2006/main">
            <a:r>
              <a:t/>
            </a:r>
          </a:p>
          <a:p xmlns:a="http://schemas.openxmlformats.org/drawingml/2006/main">
            <a:r>
              <a:t>Điểm danh:</a:t>
            </a:r>
          </a:p>
          <a:p xmlns:a="http://schemas.openxmlformats.org/drawingml/2006/main">
            <a:r>
              <a:t>- Chỉ có P — Present và A — Absent.</a:t>
            </a:r>
          </a:p>
          <a:p xmlns:a="http://schemas.openxmlformats.org/drawingml/2006/main">
            <a:r>
              <a:t>- Slot tương lai để trống, không tự đánh A.</a:t>
            </a:r>
          </a:p>
          <a:p xmlns:a="http://schemas.openxmlformats.org/drawingml/2006/main">
            <a:r>
              <a:t>- Slot đã qua ngày tự chốt phần chưa có kết quả thành A,</a:t>
            </a:r>
          </a:p>
          <a:p xmlns:a="http://schemas.openxmlformats.org/drawingml/2006/main">
            <a:r>
              <a:t>  giữ nguyên các P đã ghi nhận.</a:t>
            </a:r>
          </a:p>
          <a:p xmlns:a="http://schemas.openxmlformats.org/drawingml/2006/main">
            <a:r>
              <a:t>- Slot đã qua ngày chỉ cho xem kết quả và ghi chú.</a:t>
            </a:r>
          </a:p>
          <a:p xmlns:a="http://schemas.openxmlformats.org/drawingml/2006/main">
            <a:r>
              <a:t>- Một workspace chỉ có một phiên điểm danh đang hoạt động.</a:t>
            </a:r>
          </a:p>
          <a:p xmlns:a="http://schemas.openxmlformats.org/drawingml/2006/main">
            <a:r>
              <a:t>- Giảng viên chọn đúng slot của ngày hiện tại để mở điểm danh.</a:t>
            </a:r>
          </a:p>
          <a:p xmlns:a="http://schemas.openxmlformats.org/drawingml/2006/main">
            <a:r>
              <a:t>- Không tự thêm quy tắc bắt buộc phải đúng phút bắt đầu lớp.</a:t>
            </a:r>
          </a:p>
          <a:p xmlns:a="http://schemas.openxmlformats.org/drawingml/2006/main">
            <a:r>
              <a:t/>
            </a:r>
          </a:p>
          <a:p xmlns:a="http://schemas.openxmlformats.org/drawingml/2006/main">
            <a:r>
              <a:t>QR:</a:t>
            </a:r>
          </a:p>
          <a:p xmlns:a="http://schemas.openxmlformats.org/drawingml/2006/main">
            <a:r>
              <a:t>- QR đổi mỗi 15 giây.</a:t>
            </a:r>
          </a:p>
          <a:p xmlns:a="http://schemas.openxmlformats.org/drawingml/2006/main">
            <a:r>
              <a:t>- Có QR thường và QR + mã bí mật.</a:t>
            </a:r>
          </a:p>
          <a:p xmlns:a="http://schemas.openxmlformats.org/drawingml/2006/main">
            <a:r>
              <a:t>- Mã bí mật gồm 6 chữ số, giữ nguyên trong một lần bật chế độ</a:t>
            </a:r>
          </a:p>
          <a:p xmlns:a="http://schemas.openxmlformats.org/drawingml/2006/main">
            <a:r>
              <a:t>  QR + mã bí mật; không đổi theo từng lượt QR.</a:t>
            </a:r>
          </a:p>
          <a:p xmlns:a="http://schemas.openxmlformats.org/drawingml/2006/main">
            <a:r>
              <a:t>- Mỗi lượt quét hợp lệ tạo thời hạn 2 phút cho sinh viên hoàn tất</a:t>
            </a:r>
          </a:p>
          <a:p xmlns:a="http://schemas.openxmlformats.org/drawingml/2006/main">
            <a:r>
              <a:t>  đăng nhập và gửi điểm danh.</a:t>
            </a:r>
          </a:p>
          <a:p xmlns:a="http://schemas.openxmlformats.org/drawingml/2006/main">
            <a:r>
              <a:t>- Đây không phải thời gian tự động chốt toàn bộ phiên của lớp.</a:t>
            </a:r>
          </a:p>
          <a:p xmlns:a="http://schemas.openxmlformats.org/drawingml/2006/main">
            <a:r>
              <a:t>- Gửi điểm danh hợp lệ cập nhật P.</a:t>
            </a:r>
          </a:p>
          <a:p xmlns:a="http://schemas.openxmlformats.org/drawingml/2006/main">
            <a:r>
              <a:t>- Sinh viên đã có P gửi lại không tạo bản ghi trùng.</a:t>
            </a:r>
          </a:p>
          <a:p xmlns:a="http://schemas.openxmlformats.org/drawingml/2006/main">
            <a:r>
              <a:t>- Giảng viên chủ động bấm chốt danh sách.</a:t>
            </a:r>
          </a:p>
          <a:p xmlns:a="http://schemas.openxmlformats.org/drawingml/2006/main">
            <a:r>
              <a:t>- Khi chốt, các ô chưa có kết quả chuyển thành A.</a:t>
            </a:r>
          </a:p>
          <a:p xmlns:a="http://schemas.openxmlformats.org/drawingml/2006/main">
            <a:r>
              <a:t>- Chốt xong quay về màn hình lớp, giữ đúng slot.</a:t>
            </a:r>
          </a:p>
          <a:p xmlns:a="http://schemas.openxmlformats.org/drawingml/2006/main">
            <a:r>
              <a:t>- Phiên đã chốt trong ngày có thể mở lại để nhận bổ sung,</a:t>
            </a:r>
          </a:p>
          <a:p xmlns:a="http://schemas.openxmlformats.org/drawingml/2006/main">
            <a:r>
              <a:t>  giữ nguyên kết quả trước đó.</a:t>
            </a:r>
          </a:p>
          <a:p xmlns:a="http://schemas.openxmlformats.org/drawingml/2006/main">
            <a:r>
              <a:t>- Nếu rời màn hình QR, cần thông báo việc nhận check-in sẽ dừng;</a:t>
            </a:r>
          </a:p>
          <a:p xmlns:a="http://schemas.openxmlformats.org/drawingml/2006/main">
            <a:r>
              <a:t>  không mô tả rằng QR vẫn hoạt động nền.</a:t>
            </a:r>
          </a:p>
          <a:p xmlns:a="http://schemas.openxmlformats.org/drawingml/2006/main">
            <a:r>
              <a:t/>
            </a:r>
          </a:p>
          <a:p xmlns:a="http://schemas.openxmlformats.org/drawingml/2006/main">
            <a:r>
              <a:t>Sửa điểm danh:</a:t>
            </a:r>
          </a:p>
          <a:p xmlns:a="http://schemas.openxmlformats.org/drawingml/2006/main">
            <a:r>
              <a:t>- Khi sửa kết quả đã chốt trong ngày, phải nhập lý do.</a:t>
            </a:r>
          </a:p>
          <a:p xmlns:a="http://schemas.openxmlformats.org/drawingml/2006/main">
            <a:r>
              <a:t>- Lý do không được để trống hoặc chỉ chứa khoảng trắng.</a:t>
            </a:r>
          </a:p>
          <a:p xmlns:a="http://schemas.openxmlformats.org/drawingml/2006/main">
            <a:r>
              <a:t>- Lưu ghi chú và lịch sử sửa cùng dữ liệu điểm danh.</a:t>
            </a:r>
          </a:p>
          <a:p xmlns:a="http://schemas.openxmlformats.org/drawingml/2006/main">
            <a:r>
              <a:t>- Ô đã sửa có icon note.</a:t>
            </a:r>
          </a:p>
          <a:p xmlns:a="http://schemas.openxmlformats.org/drawingml/2006/main">
            <a:r>
              <a:t>- Chạm vào ô có note để xem lý do, thời gian và thay đổi.</a:t>
            </a:r>
          </a:p>
          <a:p xmlns:a="http://schemas.openxmlformats.org/drawingml/2006/main">
            <a:r>
              <a:t>- Qua ngày vẫn đọc được note nhưng không sửa trực tiếp.</a:t>
            </a:r>
          </a:p>
          <a:p xmlns:a="http://schemas.openxmlformats.org/drawingml/2006/main">
            <a:r>
              <a:t/>
            </a:r>
          </a:p>
          <a:p xmlns:a="http://schemas.openxmlformats.org/drawingml/2006/main">
            <a:r>
              <a:t>Thống kê:</a:t>
            </a:r>
          </a:p>
          <a:p xmlns:a="http://schemas.openxmlformats.org/drawingml/2006/main">
            <a:r>
              <a:t>- Tổng P và A được tính từ kết quả đã ghi nhận.</a:t>
            </a:r>
          </a:p>
          <a:p xmlns:a="http://schemas.openxmlformats.org/drawingml/2006/main">
            <a:r>
              <a:t>- Tỷ lệ vắng = số A / tổng slot đã lên lịch của lớp.</a:t>
            </a:r>
          </a:p>
          <a:p xmlns:a="http://schemas.openxmlformats.org/drawingml/2006/main">
            <a:r>
              <a:t>- Không đổi mẫu số thành số slot đã diễn ra.</a:t>
            </a:r>
          </a:p>
          <a:p xmlns:a="http://schemas.openxmlformats.org/drawingml/2006/main">
            <a:r>
              <a:t>- Chưa có slot thì tỷ lệ hiển thị 0%, không gây lỗi chia cho 0.</a:t>
            </a:r>
          </a:p>
          <a:p xmlns:a="http://schemas.openxmlformats.org/drawingml/2006/main">
            <a:r>
              <a:t/>
            </a:r>
          </a:p>
          <a:p xmlns:a="http://schemas.openxmlformats.org/drawingml/2006/main">
            <a:r>
              <a:t>Xuất và đồng bộ:</a:t>
            </a:r>
          </a:p>
          <a:p xmlns:a="http://schemas.openxmlformats.org/drawingml/2006/main">
            <a:r>
              <a:t>- Chỉ xuất kết quả của một lớp và một slot đã chốt.</a:t>
            </a:r>
          </a:p>
          <a:p xmlns:a="http://schemas.openxmlformats.org/drawingml/2006/main">
            <a:r>
              <a:t>- Không xuất khi còn kết quả chưa xác định.</a:t>
            </a:r>
          </a:p>
          <a:p xmlns:a="http://schemas.openxmlformats.org/drawingml/2006/main">
            <a:r>
              <a:t>- Có JSON phục vụ extension và CSV.</a:t>
            </a:r>
          </a:p>
          <a:p xmlns:a="http://schemas.openxmlformats.org/drawingml/2006/main">
            <a:r>
              <a:t>- Không lưu OTP, QR token, mật khẩu hoặc token đăng nhập</a:t>
            </a:r>
          </a:p>
          <a:p xmlns:a="http://schemas.openxmlformats.org/drawingml/2006/main">
            <a:r>
              <a:t>  trong file lịch sử hay file xuất.</a:t>
            </a:r>
          </a:p>
          <a:p xmlns:a="http://schemas.openxmlformats.org/drawingml/2006/main">
            <a:r>
              <a:t>- Google Drive là tùy chọn, mất mạng vẫn dùng dữ liệu local.</a:t>
            </a:r>
          </a:p>
          <a:p xmlns:a="http://schemas.openxmlformats.org/drawingml/2006/main">
            <a:r>
              <a:t>- Không tự ghi đè khi phát hiện xung đột.</a:t>
            </a:r>
          </a:p>
          <a:p xmlns:a="http://schemas.openxmlformats.org/drawingml/2006/main">
            <a:r>
              <a:t>- Không tuyên bố đã có chức năng gộp xung đột tự động.</a:t>
            </a:r>
          </a:p>
          <a:p xmlns:a="http://schemas.openxmlformats.org/drawingml/2006/main">
            <a:r>
              <a:t/>
            </a:r>
          </a:p>
          <a:p xmlns:a="http://schemas.openxmlformats.org/drawingml/2006/main">
            <a:r>
              <a:t>==================================================</a:t>
            </a:r>
          </a:p>
          <a:p xmlns:a="http://schemas.openxmlformats.org/drawingml/2006/main">
            <a:r>
              <a:t>6. THIẾT KẾ ĐẦY ĐỦ 10 MÀN HÌNH</a:t>
            </a:r>
          </a:p>
          <a:p xmlns:a="http://schemas.openxmlformats.org/drawingml/2006/main">
            <a:r>
              <a:t>==================================================</a:t>
            </a:r>
          </a:p>
          <a:p xmlns:a="http://schemas.openxmlformats.org/drawingml/2006/main">
            <a:r>
              <a:t/>
            </a:r>
          </a:p>
          <a:p xmlns:a="http://schemas.openxmlformats.org/drawingml/2006/main">
            <a:r>
              <a:t>S01 — Bắt đầu workspace</a:t>
            </a:r>
          </a:p>
          <a:p xmlns:a="http://schemas.openxmlformats.org/drawingml/2006/main">
            <a:r>
              <a:t/>
            </a:r>
          </a:p>
          <a:p xmlns:a="http://schemas.openxmlformats.org/drawingml/2006/main">
            <a:r>
              <a:t>Mục tiêu:</a:t>
            </a:r>
          </a:p>
          <a:p xmlns:a="http://schemas.openxmlformats.org/drawingml/2006/main">
            <a:r>
              <a:t>Giúp giảng viên bắt đầu sử dụng ứng dụng.</a:t>
            </a:r>
          </a:p>
          <a:p xmlns:a="http://schemas.openxmlformats.org/drawingml/2006/main">
            <a:r>
              <a:t/>
            </a:r>
          </a:p>
          <a:p xmlns:a="http://schemas.openxmlformats.org/drawingml/2006/main">
            <a:r>
              <a:t>Nội dung:</a:t>
            </a:r>
          </a:p>
          <a:p xmlns:a="http://schemas.openxmlformats.org/drawingml/2006/main">
            <a:r>
              <a:t>- Nhận diện FAP Attendance.</a:t>
            </a:r>
          </a:p>
          <a:p xmlns:a="http://schemas.openxmlformats.org/drawingml/2006/main">
            <a:r>
              <a:t>- Giới thiệu ngắn lợi ích.</a:t>
            </a:r>
          </a:p>
          <a:p xmlns:a="http://schemas.openxmlformats.org/drawingml/2006/main">
            <a:r>
              <a:t>- Ô email giảng viên có label.</a:t>
            </a:r>
          </a:p>
          <a:p xmlns:a="http://schemas.openxmlformats.org/drawingml/2006/main">
            <a:r>
              <a:t>- Nút chính “Bắt đầu với markbook”.</a:t>
            </a:r>
          </a:p>
          <a:p xmlns:a="http://schemas.openxmlformats.org/drawingml/2006/main">
            <a:r>
              <a:t>- Lựa chọn “Kết nối Google Drive”.</a:t>
            </a:r>
          </a:p>
          <a:p xmlns:a="http://schemas.openxmlformats.org/drawingml/2006/main">
            <a:r>
              <a:t>- Ghi chú ngắn dữ liệu được lưu local, Drive là tùy chọn.</a:t>
            </a:r>
          </a:p>
          <a:p xmlns:a="http://schemas.openxmlformats.org/drawingml/2006/main">
            <a:r>
              <a:t/>
            </a:r>
          </a:p>
          <a:p xmlns:a="http://schemas.openxmlformats.org/drawingml/2006/main">
            <a:r>
              <a:t>Lưu ý:</a:t>
            </a:r>
          </a:p>
          <a:p xmlns:a="http://schemas.openxmlformats.org/drawingml/2006/main">
            <a:r>
              <a:t>Email dùng nhận diện workspace, không phải bằng chứng đăng nhập</a:t>
            </a:r>
          </a:p>
          <a:p xmlns:a="http://schemas.openxmlformats.org/drawingml/2006/main">
            <a:r>
              <a:t>đã được xác thực. Không tự thêm ô mật khẩu giảng viên.</a:t>
            </a:r>
          </a:p>
          <a:p xmlns:a="http://schemas.openxmlformats.org/drawingml/2006/main">
            <a:r>
              <a:t/>
            </a:r>
          </a:p>
          <a:p xmlns:a="http://schemas.openxmlformats.org/drawingml/2006/main">
            <a:r>
              <a:t>Trạng thái:</a:t>
            </a:r>
          </a:p>
          <a:p xmlns:a="http://schemas.openxmlformats.org/drawingml/2006/main">
            <a:r>
              <a:t>- Mặc định.</a:t>
            </a:r>
          </a:p>
          <a:p xmlns:a="http://schemas.openxmlformats.org/drawingml/2006/main">
            <a:r>
              <a:t>- Email không hợp lệ.</a:t>
            </a:r>
          </a:p>
          <a:p xmlns:a="http://schemas.openxmlformats.org/drawingml/2006/main">
            <a:r>
              <a:t>- Đang mở workspace.</a:t>
            </a:r>
          </a:p>
          <a:p xmlns:a="http://schemas.openxmlformats.org/drawingml/2006/main">
            <a:r>
              <a:t>- Lỗi mở dữ liệu và thử lại.</a:t>
            </a:r>
          </a:p>
          <a:p xmlns:a="http://schemas.openxmlformats.org/drawingml/2006/main">
            <a:r>
              <a:t/>
            </a:r>
          </a:p>
          <a:p xmlns:a="http://schemas.openxmlformats.org/drawingml/2006/main">
            <a:r>
              <a:t>Điều hướng:</a:t>
            </a:r>
          </a:p>
          <a:p xmlns:a="http://schemas.openxmlformats.org/drawingml/2006/main">
            <a:r>
              <a:t>- Markbook → S03.</a:t>
            </a:r>
          </a:p>
          <a:p xmlns:a="http://schemas.openxmlformats.org/drawingml/2006/main">
            <a:r>
              <a:t>- Google Drive → S10.</a:t>
            </a:r>
          </a:p>
          <a:p xmlns:a="http://schemas.openxmlformats.org/drawingml/2006/main">
            <a:r>
              <a:t>- Workspace sẵn sàng → S02.</a:t>
            </a:r>
          </a:p>
          <a:p xmlns:a="http://schemas.openxmlformats.org/drawingml/2006/main">
            <a:r>
              <a:t/>
            </a:r>
          </a:p>
          <a:p xmlns:a="http://schemas.openxmlformats.org/drawingml/2006/main">
            <a:r>
              <a:t/>
            </a:r>
          </a:p>
          <a:p xmlns:a="http://schemas.openxmlformats.org/drawingml/2006/main">
            <a:r>
              <a:t>S02 — Dashboard / Thời khóa biểu tuần</a:t>
            </a:r>
          </a:p>
          <a:p xmlns:a="http://schemas.openxmlformats.org/drawingml/2006/main">
            <a:r>
              <a:t/>
            </a:r>
          </a:p>
          <a:p xmlns:a="http://schemas.openxmlformats.org/drawingml/2006/main">
            <a:r>
              <a:t>Mục tiêu:</a:t>
            </a:r>
          </a:p>
          <a:p xmlns:a="http://schemas.openxmlformats.org/drawingml/2006/main">
            <a:r>
              <a:t>Giảng viên nhìn được lịch tuần và mở đúng lớp, đúng slot.</a:t>
            </a:r>
          </a:p>
          <a:p xmlns:a="http://schemas.openxmlformats.org/drawingml/2006/main">
            <a:r>
              <a:t/>
            </a:r>
          </a:p>
          <a:p xmlns:a="http://schemas.openxmlformats.org/drawingml/2006/main">
            <a:r>
              <a:t>Nội dung:</a:t>
            </a:r>
          </a:p>
          <a:p xmlns:a="http://schemas.openxmlformats.org/drawingml/2006/main">
            <a:r>
              <a:t>- Tên học kỳ.</a:t>
            </a:r>
          </a:p>
          <a:p xmlns:a="http://schemas.openxmlformats.org/drawingml/2006/main">
            <a:r>
              <a:t>- Tiêu đề “Thời khóa biểu tuần”.</a:t>
            </a:r>
          </a:p>
          <a:p xmlns:a="http://schemas.openxmlformats.org/drawingml/2006/main">
            <a:r>
              <a:t>- Khoảng ngày của tuần.</a:t>
            </a:r>
          </a:p>
          <a:p xmlns:a="http://schemas.openxmlformats.org/drawingml/2006/main">
            <a:r>
              <a:t>- Tuần trước, tuần sau và “Hôm nay”.</a:t>
            </a:r>
          </a:p>
          <a:p xmlns:a="http://schemas.openxmlformats.org/drawingml/2006/main">
            <a:r>
              <a:t>- Chọn ngày hoặc tuần.</a:t>
            </a:r>
          </a:p>
          <a:p xmlns:a="http://schemas.openxmlformats.org/drawingml/2006/main">
            <a:r>
              <a:t>- Bảng 7 ngày từ thứ Hai đến Chủ nhật.</a:t>
            </a:r>
          </a:p>
          <a:p xmlns:a="http://schemas.openxmlformats.org/drawingml/2006/main">
            <a:r>
              <a:t>- 4 hàng slot:</a:t>
            </a:r>
          </a:p>
          <a:p xmlns:a="http://schemas.openxmlformats.org/drawingml/2006/main">
            <a:r>
              <a:t>  Slot 1: 07:00–09:15.</a:t>
            </a:r>
          </a:p>
          <a:p xmlns:a="http://schemas.openxmlformats.org/drawingml/2006/main">
            <a:r>
              <a:t>  Slot 2: 09:30–11:45.</a:t>
            </a:r>
          </a:p>
          <a:p xmlns:a="http://schemas.openxmlformats.org/drawingml/2006/main">
            <a:r>
              <a:t>  Slot 3: 12:30–14:45.</a:t>
            </a:r>
          </a:p>
          <a:p xmlns:a="http://schemas.openxmlformats.org/drawingml/2006/main">
            <a:r>
              <a:t>  Slot 4: 15:00–17:15.</a:t>
            </a:r>
          </a:p>
          <a:p xmlns:a="http://schemas.openxmlformats.org/drawingml/2006/main">
            <a:r>
              <a:t>- Ô lớp có mã môn, mã lớp, giờ và trạng thái điểm danh.</a:t>
            </a:r>
          </a:p>
          <a:p xmlns:a="http://schemas.openxmlformats.org/drawingml/2006/main">
            <a:r>
              <a:t>- Highlight ngày hiện tại.</a:t>
            </a:r>
          </a:p>
          <a:p xmlns:a="http://schemas.openxmlformats.org/drawingml/2006/main">
            <a:r>
              <a:t>- Nếu trùng lịch, hiển thị đủ các lớp trong ô.</a:t>
            </a:r>
          </a:p>
          <a:p xmlns:a="http://schemas.openxmlformats.org/drawingml/2006/main">
            <a:r>
              <a:t>- Hành động import/cập nhật markbook.</a:t>
            </a:r>
          </a:p>
          <a:p xmlns:a="http://schemas.openxmlformats.org/drawingml/2006/main">
            <a:r>
              <a:t>- Lối mở danh sách quản lý lớp, có thể dùng section thu gọn.</a:t>
            </a:r>
          </a:p>
          <a:p xmlns:a="http://schemas.openxmlformats.org/drawingml/2006/main">
            <a:r>
              <a:t/>
            </a:r>
          </a:p>
          <a:p xmlns:a="http://schemas.openxmlformats.org/drawingml/2006/main">
            <a:r>
              <a:t>Thiết kế mobile:</a:t>
            </a:r>
          </a:p>
          <a:p xmlns:a="http://schemas.openxmlformats.org/drawingml/2006/main">
            <a:r>
              <a:t>- Bảng có thể cuộn ngang.</a:t>
            </a:r>
          </a:p>
          <a:p xmlns:a="http://schemas.openxmlformats.org/drawingml/2006/main">
            <a:r>
              <a:t>- Giữ cột nhãn slot bên trái.</a:t>
            </a:r>
          </a:p>
          <a:p xmlns:a="http://schemas.openxmlformats.org/drawingml/2006/main">
            <a:r>
              <a:t>- Có dấu hiệu giúp người dùng nhận biết bảng cuộn ngang.</a:t>
            </a:r>
          </a:p>
          <a:p xmlns:a="http://schemas.openxmlformats.org/drawingml/2006/main">
            <a:r>
              <a:t>- Không ép cả 7 cột thành chữ quá nhỏ.</a:t>
            </a:r>
          </a:p>
          <a:p xmlns:a="http://schemas.openxmlformats.org/drawingml/2006/main">
            <a:r>
              <a:t>- Không sao chép bố cục desktop nguyên xi vào điện thoại.</a:t>
            </a:r>
          </a:p>
          <a:p xmlns:a="http://schemas.openxmlformats.org/drawingml/2006/main">
            <a:r>
              <a:t/>
            </a:r>
          </a:p>
          <a:p xmlns:a="http://schemas.openxmlformats.org/drawingml/2006/main">
            <a:r>
              <a:t>Không tự thêm:</a:t>
            </a:r>
          </a:p>
          <a:p xmlns:a="http://schemas.openxmlformats.org/drawingml/2006/main">
            <a:r>
              <a:t>Phòng học, tên giảng viên khác, link Meet hoặc trạng thái online</a:t>
            </a:r>
          </a:p>
          <a:p xmlns:a="http://schemas.openxmlformats.org/drawingml/2006/main">
            <a:r>
              <a:t>nếu không có trong dữ liệu.</a:t>
            </a:r>
          </a:p>
          <a:p xmlns:a="http://schemas.openxmlformats.org/drawingml/2006/main">
            <a:r>
              <a:t/>
            </a:r>
          </a:p>
          <a:p xmlns:a="http://schemas.openxmlformats.org/drawingml/2006/main">
            <a:r>
              <a:t>Trạng thái:</a:t>
            </a:r>
          </a:p>
          <a:p xmlns:a="http://schemas.openxmlformats.org/drawingml/2006/main">
            <a:r>
              <a:t>- Có lịch.</a:t>
            </a:r>
          </a:p>
          <a:p xmlns:a="http://schemas.openxmlformats.org/drawingml/2006/main">
            <a:r>
              <a:t>- Tuần không có lịch.</a:t>
            </a:r>
          </a:p>
          <a:p xmlns:a="http://schemas.openxmlformats.org/drawingml/2006/main">
            <a:r>
              <a:t>- Chưa có lớp với CTA import.</a:t>
            </a:r>
          </a:p>
          <a:p xmlns:a="http://schemas.openxmlformats.org/drawingml/2006/main">
            <a:r>
              <a:t>- Đang tải và lỗi tải.</a:t>
            </a:r>
          </a:p>
          <a:p xmlns:a="http://schemas.openxmlformats.org/drawingml/2006/main">
            <a:r>
              <a:t/>
            </a:r>
          </a:p>
          <a:p xmlns:a="http://schemas.openxmlformats.org/drawingml/2006/main">
            <a:r>
              <a:t>Điều hướng:</a:t>
            </a:r>
          </a:p>
          <a:p xmlns:a="http://schemas.openxmlformats.org/drawingml/2006/main">
            <a:r>
              <a:t>- Ô lớp → S04 với đúng meeting được chọn.</a:t>
            </a:r>
          </a:p>
          <a:p xmlns:a="http://schemas.openxmlformats.org/drawingml/2006/main">
            <a:r>
              <a:t>- Import → S03.</a:t>
            </a:r>
          </a:p>
          <a:p xmlns:a="http://schemas.openxmlformats.org/drawingml/2006/main">
            <a:r>
              <a:t>- Google Drive → S10.</a:t>
            </a:r>
          </a:p>
          <a:p xmlns:a="http://schemas.openxmlformats.org/drawingml/2006/main">
            <a:r>
              <a:t/>
            </a:r>
          </a:p>
          <a:p xmlns:a="http://schemas.openxmlformats.org/drawingml/2006/main">
            <a:r>
              <a:t/>
            </a:r>
          </a:p>
          <a:p xmlns:a="http://schemas.openxmlformats.org/drawingml/2006/main">
            <a:r>
              <a:t>S03 — Import markbook</a:t>
            </a:r>
          </a:p>
          <a:p xmlns:a="http://schemas.openxmlformats.org/drawingml/2006/main">
            <a:r>
              <a:t/>
            </a:r>
          </a:p>
          <a:p xmlns:a="http://schemas.openxmlformats.org/drawingml/2006/main">
            <a:r>
              <a:t>Mục tiêu:</a:t>
            </a:r>
          </a:p>
          <a:p xmlns:a="http://schemas.openxmlformats.org/drawingml/2006/main">
            <a:r>
              <a:t>Nhập hoặc cập nhật dữ liệu lớp an toàn.</a:t>
            </a:r>
          </a:p>
          <a:p xmlns:a="http://schemas.openxmlformats.org/drawingml/2006/main">
            <a:r>
              <a:t/>
            </a:r>
          </a:p>
          <a:p xmlns:a="http://schemas.openxmlformats.org/drawingml/2006/main">
            <a:r>
              <a:t>Nội dung:</a:t>
            </a:r>
          </a:p>
          <a:p xmlns:a="http://schemas.openxmlformats.org/drawingml/2006/main">
            <a:r>
              <a:t>- Chọn file .ods hoặc .xlsx.</a:t>
            </a:r>
          </a:p>
          <a:p xmlns:a="http://schemas.openxmlformats.org/drawingml/2006/main">
            <a:r>
              <a:t>- Nguồn local; Drive chỉ khi đã kết nối và có quyền chọn file.</a:t>
            </a:r>
          </a:p>
          <a:p xmlns:a="http://schemas.openxmlformats.org/drawingml/2006/main">
            <a:r>
              <a:t>- Tên file được chọn.</a:t>
            </a:r>
          </a:p>
          <a:p xmlns:a="http://schemas.openxmlformats.org/drawingml/2006/main">
            <a:r>
              <a:t>- Học kỳ, ngày bắt đầu, số tuần mặc định.</a:t>
            </a:r>
          </a:p>
          <a:p xmlns:a="http://schemas.openxmlformats.org/drawingml/2006/main">
            <a:r>
              <a:t>- Lựa chọn 1 hoặc 2 slot mỗi tuần.</a:t>
            </a:r>
          </a:p>
          <a:p xmlns:a="http://schemas.openxmlformats.org/drawingml/2006/main">
            <a:r>
              <a:t>- Preview số lớp và số sinh viên.</a:t>
            </a:r>
          </a:p>
          <a:p xmlns:a="http://schemas.openxmlformats.org/drawingml/2006/main">
            <a:r>
              <a:t>- Danh sách cảnh báo dễ đọc.</a:t>
            </a:r>
          </a:p>
          <a:p xmlns:a="http://schemas.openxmlformats.org/drawingml/2006/main">
            <a:r>
              <a:t>- Giải thích ngắn: cập nhật roster, giữ lịch sử điểm danh.</a:t>
            </a:r>
          </a:p>
          <a:p xmlns:a="http://schemas.openxmlformats.org/drawingml/2006/main">
            <a:r>
              <a:t>- Nút xác nhận import và hủy.</a:t>
            </a:r>
          </a:p>
          <a:p xmlns:a="http://schemas.openxmlformats.org/drawingml/2006/main">
            <a:r>
              <a:t/>
            </a:r>
          </a:p>
          <a:p xmlns:a="http://schemas.openxmlformats.org/drawingml/2006/main">
            <a:r>
              <a:t>Trạng thái:</a:t>
            </a:r>
          </a:p>
          <a:p xmlns:a="http://schemas.openxmlformats.org/drawingml/2006/main">
            <a:r>
              <a:t>- Chưa chọn file.</a:t>
            </a:r>
          </a:p>
          <a:p xmlns:a="http://schemas.openxmlformats.org/drawingml/2006/main">
            <a:r>
              <a:t>- Đang đọc file.</a:t>
            </a:r>
          </a:p>
          <a:p xmlns:a="http://schemas.openxmlformats.org/drawingml/2006/main">
            <a:r>
              <a:t>- Preview thành công.</a:t>
            </a:r>
          </a:p>
          <a:p xmlns:a="http://schemas.openxmlformats.org/drawingml/2006/main">
            <a:r>
              <a:t>- File sai định dạng hoặc thiếu header.</a:t>
            </a:r>
          </a:p>
          <a:p xmlns:a="http://schemas.openxmlformats.org/drawingml/2006/main">
            <a:r>
              <a:t>- Có dữ liệu trùng cần xử lý.</a:t>
            </a:r>
          </a:p>
          <a:p xmlns:a="http://schemas.openxmlformats.org/drawingml/2006/main">
            <a:r>
              <a:t>- Import thành công.</a:t>
            </a:r>
          </a:p>
          <a:p xmlns:a="http://schemas.openxmlformats.org/drawingml/2006/main">
            <a:r>
              <a:t/>
            </a:r>
          </a:p>
          <a:p xmlns:a="http://schemas.openxmlformats.org/drawingml/2006/main">
            <a:r>
              <a:t>Điều hướng:</a:t>
            </a:r>
          </a:p>
          <a:p xmlns:a="http://schemas.openxmlformats.org/drawingml/2006/main">
            <a:r>
              <a:t>- Thành công → S02.</a:t>
            </a:r>
          </a:p>
          <a:p xmlns:a="http://schemas.openxmlformats.org/drawingml/2006/main">
            <a:r>
              <a:t>- Hủy → nơi mở import.</a:t>
            </a:r>
          </a:p>
          <a:p xmlns:a="http://schemas.openxmlformats.org/drawingml/2006/main">
            <a:r>
              <a:t/>
            </a:r>
          </a:p>
          <a:p xmlns:a="http://schemas.openxmlformats.org/drawingml/2006/main">
            <a:r>
              <a:t/>
            </a:r>
          </a:p>
          <a:p xmlns:a="http://schemas.openxmlformats.org/drawingml/2006/main">
            <a:r>
              <a:t>S04 — Điểm danh lớp</a:t>
            </a:r>
          </a:p>
          <a:p xmlns:a="http://schemas.openxmlformats.org/drawingml/2006/main">
            <a:r>
              <a:t/>
            </a:r>
          </a:p>
          <a:p xmlns:a="http://schemas.openxmlformats.org/drawingml/2006/main">
            <a:r>
              <a:t>Mục tiêu:</a:t>
            </a:r>
          </a:p>
          <a:p xmlns:a="http://schemas.openxmlformats.org/drawingml/2006/main">
            <a:r>
              <a:t>Xem và quản lý kết quả của lớp theo slot.</a:t>
            </a:r>
          </a:p>
          <a:p xmlns:a="http://schemas.openxmlformats.org/drawingml/2006/main">
            <a:r>
              <a:t/>
            </a:r>
          </a:p>
          <a:p xmlns:a="http://schemas.openxmlformats.org/drawingml/2006/main">
            <a:r>
              <a:t>Nội dung:</a:t>
            </a:r>
          </a:p>
          <a:p xmlns:a="http://schemas.openxmlformats.org/drawingml/2006/main">
            <a:r>
              <a:t>- Mã môn, mã lớp.</a:t>
            </a:r>
          </a:p>
          <a:p xmlns:a="http://schemas.openxmlformats.org/drawingml/2006/main">
            <a:r>
              <a:t>- Ngày, giờ và slot đang chọn.</a:t>
            </a:r>
          </a:p>
          <a:p xmlns:a="http://schemas.openxmlformats.org/drawingml/2006/main">
            <a:r>
              <a:t>- Bộ chọn slot rõ ràng.</a:t>
            </a:r>
          </a:p>
          <a:p xmlns:a="http://schemas.openxmlformats.org/drawingml/2006/main">
            <a:r>
              <a:t>- Tổng sinh viên, số P, số A và tiến độ.</a:t>
            </a:r>
          </a:p>
          <a:p xmlns:a="http://schemas.openxmlformats.org/drawingml/2006/main">
            <a:r>
              <a:t>- Tìm sinh viên theo MSSV hoặc họ tên.</a:t>
            </a:r>
          </a:p>
          <a:p xmlns:a="http://schemas.openxmlformats.org/drawingml/2006/main">
            <a:r>
              <a:t>- Danh sách MSSV, họ tên đầy đủ và kết quả slot đang chọn.</a:t>
            </a:r>
          </a:p>
          <a:p xmlns:a="http://schemas.openxmlformats.org/drawingml/2006/main">
            <a:r>
              <a:t>- Lối xem thống kê P/A/% vắng của từng sinh viên.</a:t>
            </a:r>
          </a:p>
          <a:p xmlns:a="http://schemas.openxmlformats.org/drawingml/2006/main">
            <a:r>
              <a:t>- Icon note tại kết quả có ghi chú.</a:t>
            </a:r>
          </a:p>
          <a:p xmlns:a="http://schemas.openxmlformats.org/drawingml/2006/main">
            <a:r>
              <a:t>- Nút mở QR hoặc mở lại điểm danh tùy trạng thái.</a:t>
            </a:r>
          </a:p>
          <a:p xmlns:a="http://schemas.openxmlformats.org/drawingml/2006/main">
            <a:r>
              <a:t>- Nút cấu hình lịch.</a:t>
            </a:r>
          </a:p>
          <a:p xmlns:a="http://schemas.openxmlformats.org/drawingml/2006/main">
            <a:r>
              <a:t>- Lối xem lịch sử và xuất kết quả.</a:t>
            </a:r>
          </a:p>
          <a:p xmlns:a="http://schemas.openxmlformats.org/drawingml/2006/main">
            <a:r>
              <a:t/>
            </a:r>
          </a:p>
          <a:p xmlns:a="http://schemas.openxmlformats.org/drawingml/2006/main">
            <a:r>
              <a:t>Thiết kế mobile:</a:t>
            </a:r>
          </a:p>
          <a:p xmlns:a="http://schemas.openxmlformats.org/drawingml/2006/main">
            <a:r>
              <a:t>Ưu tiên danh sách đọc rõ. Nếu có bảng toàn học kỳ, sử dụng</a:t>
            </a:r>
          </a:p>
          <a:p xmlns:a="http://schemas.openxmlformats.org/drawingml/2006/main">
            <a:r>
              <a:t>vùng cuộn ngang có chủ đích hoặc chế độ xem riêng;</a:t>
            </a:r>
          </a:p>
          <a:p xmlns:a="http://schemas.openxmlformats.org/drawingml/2006/main">
            <a:r>
              <a:t>không ép tất cả cột vào 360px.</a:t>
            </a:r>
          </a:p>
          <a:p xmlns:a="http://schemas.openxmlformats.org/drawingml/2006/main">
            <a:r>
              <a:t/>
            </a:r>
          </a:p>
          <a:p xmlns:a="http://schemas.openxmlformats.org/drawingml/2006/main">
            <a:r>
              <a:t>Trạng thái:</a:t>
            </a:r>
          </a:p>
          <a:p xmlns:a="http://schemas.openxmlformats.org/drawingml/2006/main">
            <a:r>
              <a:t>- Slot hôm nay chưa mở.</a:t>
            </a:r>
          </a:p>
          <a:p xmlns:a="http://schemas.openxmlformats.org/drawingml/2006/main">
            <a:r>
              <a:t>- Đang điểm danh.</a:t>
            </a:r>
          </a:p>
          <a:p xmlns:a="http://schemas.openxmlformats.org/drawingml/2006/main">
            <a:r>
              <a:t>- Đã chốt trong ngày.</a:t>
            </a:r>
          </a:p>
          <a:p xmlns:a="http://schemas.openxmlformats.org/drawingml/2006/main">
            <a:r>
              <a:t>- Slot đã qua ngày, chỉ xem.</a:t>
            </a:r>
          </a:p>
          <a:p xmlns:a="http://schemas.openxmlformats.org/drawingml/2006/main">
            <a:r>
              <a:t>- Slot tương lai.</a:t>
            </a:r>
          </a:p>
          <a:p xmlns:a="http://schemas.openxmlformats.org/drawingml/2006/main">
            <a:r>
              <a:t>- Không tìm thấy sinh viên.</a:t>
            </a:r>
          </a:p>
          <a:p xmlns:a="http://schemas.openxmlformats.org/drawingml/2006/main">
            <a:r>
              <a:t/>
            </a:r>
          </a:p>
          <a:p xmlns:a="http://schemas.openxmlformats.org/drawingml/2006/main">
            <a:r>
              <a:t>Điều hướng:</a:t>
            </a:r>
          </a:p>
          <a:p xmlns:a="http://schemas.openxmlformats.org/drawingml/2006/main">
            <a:r>
              <a:t>- Mở QR → S06.</a:t>
            </a:r>
          </a:p>
          <a:p xmlns:a="http://schemas.openxmlformats.org/drawingml/2006/main">
            <a:r>
              <a:t>- Cấu hình → S05.</a:t>
            </a:r>
          </a:p>
          <a:p xmlns:a="http://schemas.openxmlformats.org/drawingml/2006/main">
            <a:r>
              <a:t>- Sinh viên → S07.</a:t>
            </a:r>
          </a:p>
          <a:p xmlns:a="http://schemas.openxmlformats.org/drawingml/2006/main">
            <a:r>
              <a:t>- Lịch sử → S08.</a:t>
            </a:r>
          </a:p>
          <a:p xmlns:a="http://schemas.openxmlformats.org/drawingml/2006/main">
            <a:r>
              <a:t>- Xuất kết quả → S09.</a:t>
            </a:r>
          </a:p>
          <a:p xmlns:a="http://schemas.openxmlformats.org/drawingml/2006/main">
            <a:r>
              <a:t/>
            </a:r>
          </a:p>
          <a:p xmlns:a="http://schemas.openxmlformats.org/drawingml/2006/main">
            <a:r>
              <a:t/>
            </a:r>
          </a:p>
          <a:p xmlns:a="http://schemas.openxmlformats.org/drawingml/2006/main">
            <a:r>
              <a:t>S05 — Cấu hình lịch lớp</a:t>
            </a:r>
          </a:p>
          <a:p xmlns:a="http://schemas.openxmlformats.org/drawingml/2006/main">
            <a:r>
              <a:t/>
            </a:r>
          </a:p>
          <a:p xmlns:a="http://schemas.openxmlformats.org/drawingml/2006/main">
            <a:r>
              <a:t>Mục tiêu:</a:t>
            </a:r>
          </a:p>
          <a:p xmlns:a="http://schemas.openxmlformats.org/drawingml/2006/main">
            <a:r>
              <a:t>Override lịch riêng của lớp trước khi có hoạt động điểm danh.</a:t>
            </a:r>
          </a:p>
          <a:p xmlns:a="http://schemas.openxmlformats.org/drawingml/2006/main">
            <a:r>
              <a:t/>
            </a:r>
          </a:p>
          <a:p xmlns:a="http://schemas.openxmlformats.org/drawingml/2006/main">
            <a:r>
              <a:t>Nội dung:</a:t>
            </a:r>
          </a:p>
          <a:p xmlns:a="http://schemas.openxmlformats.org/drawingml/2006/main">
            <a:r>
              <a:t>- Môn, mã lớp.</a:t>
            </a:r>
          </a:p>
          <a:p xmlns:a="http://schemas.openxmlformats.org/drawingml/2006/main">
            <a:r>
              <a:t>- Ngày bắt đầu.</a:t>
            </a:r>
          </a:p>
          <a:p xmlns:a="http://schemas.openxmlformats.org/drawingml/2006/main">
            <a:r>
              <a:t>- Số tuần.</a:t>
            </a:r>
          </a:p>
          <a:p xmlns:a="http://schemas.openxmlformats.org/drawingml/2006/main">
            <a:r>
              <a:t>- 1 hoặc 2 slot mỗi tuần.</a:t>
            </a:r>
          </a:p>
          <a:p xmlns:a="http://schemas.openxmlformats.org/drawingml/2006/main">
            <a:r>
              <a:t>- Chọn ngày học và khung giờ.</a:t>
            </a:r>
          </a:p>
          <a:p xmlns:a="http://schemas.openxmlformats.org/drawingml/2006/main">
            <a:r>
              <a:t>- Quản lý ngày nghỉ và học bù.</a:t>
            </a:r>
          </a:p>
          <a:p xmlns:a="http://schemas.openxmlformats.org/drawingml/2006/main">
            <a:r>
              <a:t>- Preview tổng slot và lịch được sinh.</a:t>
            </a:r>
          </a:p>
          <a:p xmlns:a="http://schemas.openxmlformats.org/drawingml/2006/main">
            <a:r>
              <a:t>- Nút lưu và hủy.</a:t>
            </a:r>
          </a:p>
          <a:p xmlns:a="http://schemas.openxmlformats.org/drawingml/2006/main">
            <a:r>
              <a:t/>
            </a:r>
          </a:p>
          <a:p xmlns:a="http://schemas.openxmlformats.org/drawingml/2006/main">
            <a:r>
              <a:t>Validation:</a:t>
            </a:r>
          </a:p>
          <a:p xmlns:a="http://schemas.openxmlformats.org/drawingml/2006/main">
            <a:r>
              <a:t>- Số tuần phải hợp lệ.</a:t>
            </a:r>
          </a:p>
          <a:p xmlns:a="http://schemas.openxmlformats.org/drawingml/2006/main">
            <a:r>
              <a:t>- Ngày và khung giờ phải đầy đủ.</a:t>
            </a:r>
          </a:p>
          <a:p xmlns:a="http://schemas.openxmlformats.org/drawingml/2006/main">
            <a:r>
              <a:t>- Báo lỗi cấu hình không hợp lệ.</a:t>
            </a:r>
          </a:p>
          <a:p xmlns:a="http://schemas.openxmlformats.org/drawingml/2006/main">
            <a:r>
              <a:t>- Nếu lớp đã có slot đang điểm danh hoặc đã chốt:</a:t>
            </a:r>
          </a:p>
          <a:p xmlns:a="http://schemas.openxmlformats.org/drawingml/2006/main">
            <a:r>
              <a:t>  hiển thị thông báo khóa chỉnh lịch và lý do.</a:t>
            </a:r>
          </a:p>
          <a:p xmlns:a="http://schemas.openxmlformats.org/drawingml/2006/main">
            <a:r>
              <a:t/>
            </a:r>
          </a:p>
          <a:p xmlns:a="http://schemas.openxmlformats.org/drawingml/2006/main">
            <a:r>
              <a:t>Điều hướng:</a:t>
            </a:r>
          </a:p>
          <a:p xmlns:a="http://schemas.openxmlformats.org/drawingml/2006/main">
            <a:r>
              <a:t>- Lưu thành công → S04 với lịch được cập nhật.</a:t>
            </a:r>
          </a:p>
          <a:p xmlns:a="http://schemas.openxmlformats.org/drawingml/2006/main">
            <a:r>
              <a:t>- Hủy → S04.</a:t>
            </a:r>
          </a:p>
          <a:p xmlns:a="http://schemas.openxmlformats.org/drawingml/2006/main">
            <a:r>
              <a:t/>
            </a:r>
          </a:p>
          <a:p xmlns:a="http://schemas.openxmlformats.org/drawingml/2006/main">
            <a:r>
              <a:t/>
            </a:r>
          </a:p>
          <a:p xmlns:a="http://schemas.openxmlformats.org/drawingml/2006/main">
            <a:r>
              <a:t>S06 — Điểm danh QR</a:t>
            </a:r>
          </a:p>
          <a:p xmlns:a="http://schemas.openxmlformats.org/drawingml/2006/main">
            <a:r>
              <a:t/>
            </a:r>
          </a:p>
          <a:p xmlns:a="http://schemas.openxmlformats.org/drawingml/2006/main">
            <a:r>
              <a:t>Mục tiêu:</a:t>
            </a:r>
          </a:p>
          <a:p xmlns:a="http://schemas.openxmlformats.org/drawingml/2006/main">
            <a:r>
              <a:t>Mở phiên cho sinh viên check-in và chốt danh sách.</a:t>
            </a:r>
          </a:p>
          <a:p xmlns:a="http://schemas.openxmlformats.org/drawingml/2006/main">
            <a:r>
              <a:t/>
            </a:r>
          </a:p>
          <a:p xmlns:a="http://schemas.openxmlformats.org/drawingml/2006/main">
            <a:r>
              <a:t>Nội dung:</a:t>
            </a:r>
          </a:p>
          <a:p xmlns:a="http://schemas.openxmlformats.org/drawingml/2006/main">
            <a:r>
              <a:t>- Môn, lớp, slot và ngày.</a:t>
            </a:r>
          </a:p>
          <a:p xmlns:a="http://schemas.openxmlformats.org/drawingml/2006/main">
            <a:r>
              <a:t>- Segmented control “QR thường” / “QR + mã bí mật”.</a:t>
            </a:r>
          </a:p>
          <a:p xmlns:a="http://schemas.openxmlformats.org/drawingml/2006/main">
            <a:r>
              <a:t>- QR lớn, tương phản cao.</a:t>
            </a:r>
          </a:p>
          <a:p xmlns:a="http://schemas.openxmlformats.org/drawingml/2006/main">
            <a:r>
              <a:t>- Đếm ngược tới lượt đổi QR tiếp theo.</a:t>
            </a:r>
          </a:p>
          <a:p xmlns:a="http://schemas.openxmlformats.org/drawingml/2006/main">
            <a:r>
              <a:t>- Mã bí mật 6 chữ số khi bật chế độ tương ứng.</a:t>
            </a:r>
          </a:p>
          <a:p xmlns:a="http://schemas.openxmlformats.org/drawingml/2006/main">
            <a:r>
              <a:t>- Chú thích mã bí mật giữ nguyên trong lần bật chế độ này.</a:t>
            </a:r>
          </a:p>
          <a:p xmlns:a="http://schemas.openxmlformats.org/drawingml/2006/main">
            <a:r>
              <a:t>- Thông báo mỗi lượt quét hợp lệ có 2 phút hoàn tất.</a:t>
            </a:r>
          </a:p>
          <a:p xmlns:a="http://schemas.openxmlformats.org/drawingml/2006/main">
            <a:r>
              <a:t>- Trạng thái sẵn sàng nhận điểm danh.</a:t>
            </a:r>
          </a:p>
          <a:p xmlns:a="http://schemas.openxmlformats.org/drawingml/2006/main">
            <a:r>
              <a:t>- Tổng sinh viên đã có mặt.</a:t>
            </a:r>
          </a:p>
          <a:p xmlns:a="http://schemas.openxmlformats.org/drawingml/2006/main">
            <a:r>
              <a:t>- Danh sách check-in mới.</a:t>
            </a:r>
          </a:p>
          <a:p xmlns:a="http://schemas.openxmlformats.org/drawingml/2006/main">
            <a:r>
              <a:t>- Nút “Chốt danh sách”.</a:t>
            </a:r>
          </a:p>
          <a:p xmlns:a="http://schemas.openxmlformats.org/drawingml/2006/main">
            <a:r>
              <a:t/>
            </a:r>
          </a:p>
          <a:p xmlns:a="http://schemas.openxmlformats.org/drawingml/2006/main">
            <a:r>
              <a:t>Hộp xác nhận chốt:</a:t>
            </a:r>
          </a:p>
          <a:p xmlns:a="http://schemas.openxmlformats.org/drawingml/2006/main">
            <a:r>
              <a:t>- Số Present hiện tại.</a:t>
            </a:r>
          </a:p>
          <a:p xmlns:a="http://schemas.openxmlformats.org/drawingml/2006/main">
            <a:r>
              <a:t>- Số sinh viên chưa có kết quả sẽ chuyển Absent.</a:t>
            </a:r>
          </a:p>
          <a:p xmlns:a="http://schemas.openxmlformats.org/drawingml/2006/main">
            <a:r>
              <a:t>- Hai hành động rõ ràng: “Tiếp tục điểm danh” và “Chốt danh sách”.</a:t>
            </a:r>
          </a:p>
          <a:p xmlns:a="http://schemas.openxmlformats.org/drawingml/2006/main">
            <a:r>
              <a:t/>
            </a:r>
          </a:p>
          <a:p xmlns:a="http://schemas.openxmlformats.org/drawingml/2006/main">
            <a:r>
              <a:t>Trạng thái:</a:t>
            </a:r>
          </a:p>
          <a:p xmlns:a="http://schemas.openxmlformats.org/drawingml/2006/main">
            <a:r>
              <a:t>- Đang chuẩn bị QR.</a:t>
            </a:r>
          </a:p>
          <a:p xmlns:a="http://schemas.openxmlformats.org/drawingml/2006/main">
            <a:r>
              <a:t>- Đang nhận check-in.</a:t>
            </a:r>
          </a:p>
          <a:p xmlns:a="http://schemas.openxmlformats.org/drawingml/2006/main">
            <a:r>
              <a:t>- Lỗi kết nối và thử lại.</a:t>
            </a:r>
          </a:p>
          <a:p xmlns:a="http://schemas.openxmlformats.org/drawingml/2006/main">
            <a:r>
              <a:t>- Đang chốt.</a:t>
            </a:r>
          </a:p>
          <a:p xmlns:a="http://schemas.openxmlformats.org/drawingml/2006/main">
            <a:r>
              <a:t>- Chốt thất bại và thử lại.</a:t>
            </a:r>
          </a:p>
          <a:p xmlns:a="http://schemas.openxmlformats.org/drawingml/2006/main">
            <a:r>
              <a:t/>
            </a:r>
          </a:p>
          <a:p xmlns:a="http://schemas.openxmlformats.org/drawingml/2006/main">
            <a:r>
              <a:t>Back:</a:t>
            </a:r>
          </a:p>
          <a:p xmlns:a="http://schemas.openxmlformats.org/drawingml/2006/main">
            <a:r>
              <a:t>Cảnh báo việc nhận check-in sẽ dừng khi rời màn hình.</a:t>
            </a:r>
          </a:p>
          <a:p xmlns:a="http://schemas.openxmlformats.org/drawingml/2006/main">
            <a:r>
              <a:t>Không tự chốt chỉ vì bấm Back.</a:t>
            </a:r>
          </a:p>
          <a:p xmlns:a="http://schemas.openxmlformats.org/drawingml/2006/main">
            <a:r>
              <a:t/>
            </a:r>
          </a:p>
          <a:p xmlns:a="http://schemas.openxmlformats.org/drawingml/2006/main">
            <a:r>
              <a:t>Không hiển thị:</a:t>
            </a:r>
          </a:p>
          <a:p xmlns:a="http://schemas.openxmlformats.org/drawingml/2006/main">
            <a:r>
              <a:t>- Mô phỏng Lab 1.</a:t>
            </a:r>
          </a:p>
          <a:p xmlns:a="http://schemas.openxmlformats.org/drawingml/2006/main">
            <a:r>
              <a:t>- Ô email sinh viên giả lập.</a:t>
            </a:r>
          </a:p>
          <a:p xmlns:a="http://schemas.openxmlformats.org/drawingml/2006/main">
            <a:r>
              <a:t>- localhost, URL tunnel dài hoặc hướng dẫn cấu hình kỹ thuật.</a:t>
            </a:r>
          </a:p>
          <a:p xmlns:a="http://schemas.openxmlformats.org/drawingml/2006/main">
            <a:r>
              <a:t>- Nút giả lập “Ghi nhận Present”.</a:t>
            </a:r>
          </a:p>
          <a:p xmlns:a="http://schemas.openxmlformats.org/drawingml/2006/main">
            <a:r>
              <a:t/>
            </a:r>
          </a:p>
          <a:p xmlns:a="http://schemas.openxmlformats.org/drawingml/2006/main">
            <a:r>
              <a:t>Điều hướng:</a:t>
            </a:r>
          </a:p>
          <a:p xmlns:a="http://schemas.openxmlformats.org/drawingml/2006/main">
            <a:r>
              <a:t>- Chốt thành công → S04 với đúng slot.</a:t>
            </a:r>
          </a:p>
          <a:p xmlns:a="http://schemas.openxmlformats.org/drawingml/2006/main">
            <a:r>
              <a:t>- Rời màn hình có xác nhận → S04.</a:t>
            </a:r>
          </a:p>
          <a:p xmlns:a="http://schemas.openxmlformats.org/drawingml/2006/main">
            <a:r>
              <a:t/>
            </a:r>
          </a:p>
          <a:p xmlns:a="http://schemas.openxmlformats.org/drawingml/2006/main">
            <a:r>
              <a:t/>
            </a:r>
          </a:p>
          <a:p xmlns:a="http://schemas.openxmlformats.org/drawingml/2006/main">
            <a:r>
              <a:t>S07 — Chi tiết sinh viên</a:t>
            </a:r>
          </a:p>
          <a:p xmlns:a="http://schemas.openxmlformats.org/drawingml/2006/main">
            <a:r>
              <a:t/>
            </a:r>
          </a:p>
          <a:p xmlns:a="http://schemas.openxmlformats.org/drawingml/2006/main">
            <a:r>
              <a:t>Mục tiêu:</a:t>
            </a:r>
          </a:p>
          <a:p xmlns:a="http://schemas.openxmlformats.org/drawingml/2006/main">
            <a:r>
              <a:t>Theo dõi chuyên cần và đọc lịch sử sửa của một sinh viên.</a:t>
            </a:r>
          </a:p>
          <a:p xmlns:a="http://schemas.openxmlformats.org/drawingml/2006/main">
            <a:r>
              <a:t/>
            </a:r>
          </a:p>
          <a:p xmlns:a="http://schemas.openxmlformats.org/drawingml/2006/main">
            <a:r>
              <a:t>Nội dung:</a:t>
            </a:r>
          </a:p>
          <a:p xmlns:a="http://schemas.openxmlformats.org/drawingml/2006/main">
            <a:r>
              <a:t>- MSSV, họ tên đầy đủ, email và lớp.</a:t>
            </a:r>
          </a:p>
          <a:p xmlns:a="http://schemas.openxmlformats.org/drawingml/2006/main">
            <a:r>
              <a:t>- Tổng P, tổng A, tỷ lệ vắng.</a:t>
            </a:r>
          </a:p>
          <a:p xmlns:a="http://schemas.openxmlformats.org/drawingml/2006/main">
            <a:r>
              <a:t>- Giải thích ngắn mẫu số tỷ lệ vắng.</a:t>
            </a:r>
          </a:p>
          <a:p xmlns:a="http://schemas.openxmlformats.org/drawingml/2006/main">
            <a:r>
              <a:t>- Danh sách kết quả từng slot theo ngày.</a:t>
            </a:r>
          </a:p>
          <a:p xmlns:a="http://schemas.openxmlformats.org/drawingml/2006/main">
            <a:r>
              <a:t>- Icon note nếu kết quả có ghi chú.</a:t>
            </a:r>
          </a:p>
          <a:p xmlns:a="http://schemas.openxmlformats.org/drawingml/2006/main">
            <a:r>
              <a:t>- Chi tiết ghi chú gồm lý do, thời gian và thay đổi.</a:t>
            </a:r>
          </a:p>
          <a:p xmlns:a="http://schemas.openxmlformats.org/drawingml/2006/main">
            <a:r>
              <a:t>- Hành động sửa cho slot đã chốt trong ngày còn được phép sửa.</a:t>
            </a:r>
          </a:p>
          <a:p xmlns:a="http://schemas.openxmlformats.org/drawingml/2006/main">
            <a:r>
              <a:t/>
            </a:r>
          </a:p>
          <a:p xmlns:a="http://schemas.openxmlformats.org/drawingml/2006/main">
            <a:r>
              <a:t>Form sửa:</a:t>
            </a:r>
          </a:p>
          <a:p xmlns:a="http://schemas.openxmlformats.org/drawingml/2006/main">
            <a:r>
              <a:t>- Kết quả P/A.</a:t>
            </a:r>
          </a:p>
          <a:p xmlns:a="http://schemas.openxmlformats.org/drawingml/2006/main">
            <a:r>
              <a:t>- Lý do bắt buộc.</a:t>
            </a:r>
          </a:p>
          <a:p xmlns:a="http://schemas.openxmlformats.org/drawingml/2006/main">
            <a:r>
              <a:t>- Lưu và hủy.</a:t>
            </a:r>
          </a:p>
          <a:p xmlns:a="http://schemas.openxmlformats.org/drawingml/2006/main">
            <a:r>
              <a:t>- Không cho lưu lý do trống.</a:t>
            </a:r>
          </a:p>
          <a:p xmlns:a="http://schemas.openxmlformats.org/drawingml/2006/main">
            <a:r>
              <a:t>- Không tạo thay đổi nếu chỉ hủy.</a:t>
            </a:r>
          </a:p>
          <a:p xmlns:a="http://schemas.openxmlformats.org/drawingml/2006/main">
            <a:r>
              <a:t/>
            </a:r>
          </a:p>
          <a:p xmlns:a="http://schemas.openxmlformats.org/drawingml/2006/main">
            <a:r>
              <a:t>Trạng thái:</a:t>
            </a:r>
          </a:p>
          <a:p xmlns:a="http://schemas.openxmlformats.org/drawingml/2006/main">
            <a:r>
              <a:t>- Chưa có kết quả.</a:t>
            </a:r>
          </a:p>
          <a:p xmlns:a="http://schemas.openxmlformats.org/drawingml/2006/main">
            <a:r>
              <a:t>- Có kết quả.</a:t>
            </a:r>
          </a:p>
          <a:p xmlns:a="http://schemas.openxmlformats.org/drawingml/2006/main">
            <a:r>
              <a:t>- Đang lưu.</a:t>
            </a:r>
          </a:p>
          <a:p xmlns:a="http://schemas.openxmlformats.org/drawingml/2006/main">
            <a:r>
              <a:t>- Lỗi lưu và thử lại.</a:t>
            </a:r>
          </a:p>
          <a:p xmlns:a="http://schemas.openxmlformats.org/drawingml/2006/main">
            <a:r>
              <a:t>- Slot đã qua ngày: chỉ xem kết quả và note.</a:t>
            </a:r>
          </a:p>
          <a:p xmlns:a="http://schemas.openxmlformats.org/drawingml/2006/main">
            <a:r>
              <a:t/>
            </a:r>
          </a:p>
          <a:p xmlns:a="http://schemas.openxmlformats.org/drawingml/2006/main">
            <a:r>
              <a:t>Điều hướng:</a:t>
            </a:r>
          </a:p>
          <a:p xmlns:a="http://schemas.openxmlformats.org/drawingml/2006/main">
            <a:r>
              <a:t>Back trở lại đúng màn hình và ngữ cảnh trước đó.</a:t>
            </a:r>
          </a:p>
          <a:p xmlns:a="http://schemas.openxmlformats.org/drawingml/2006/main">
            <a:r>
              <a:t/>
            </a:r>
          </a:p>
          <a:p xmlns:a="http://schemas.openxmlformats.org/drawingml/2006/main">
            <a:r>
              <a:t/>
            </a:r>
          </a:p>
          <a:p xmlns:a="http://schemas.openxmlformats.org/drawingml/2006/main">
            <a:r>
              <a:t>S08 — Lịch sử điểm danh lớp</a:t>
            </a:r>
          </a:p>
          <a:p xmlns:a="http://schemas.openxmlformats.org/drawingml/2006/main">
            <a:r>
              <a:t/>
            </a:r>
          </a:p>
          <a:p xmlns:a="http://schemas.openxmlformats.org/drawingml/2006/main">
            <a:r>
              <a:t>Mục tiêu:</a:t>
            </a:r>
          </a:p>
          <a:p xmlns:a="http://schemas.openxmlformats.org/drawingml/2006/main">
            <a:r>
              <a:t>Tìm lại và kiểm tra các slot đã chốt.</a:t>
            </a:r>
          </a:p>
          <a:p xmlns:a="http://schemas.openxmlformats.org/drawingml/2006/main">
            <a:r>
              <a:t/>
            </a:r>
          </a:p>
          <a:p xmlns:a="http://schemas.openxmlformats.org/drawingml/2006/main">
            <a:r>
              <a:t>Nội dung:</a:t>
            </a:r>
          </a:p>
          <a:p xmlns:a="http://schemas.openxmlformats.org/drawingml/2006/main">
            <a:r>
              <a:t>- Môn, mã lớp.</a:t>
            </a:r>
          </a:p>
          <a:p xmlns:a="http://schemas.openxmlformats.org/drawingml/2006/main">
            <a:r>
              <a:t>- Danh sách slot đã chốt.</a:t>
            </a:r>
          </a:p>
          <a:p xmlns:a="http://schemas.openxmlformats.org/drawingml/2006/main">
            <a:r>
              <a:t>- Ngày, giờ, số thứ tự slot.</a:t>
            </a:r>
          </a:p>
          <a:p xmlns:a="http://schemas.openxmlformats.org/drawingml/2006/main">
            <a:r>
              <a:t>- Tổng P/A.</a:t>
            </a:r>
          </a:p>
          <a:p xmlns:a="http://schemas.openxmlformats.org/drawingml/2006/main">
            <a:r>
              <a:t>- Dấu hiệu có chỉnh sửa.</a:t>
            </a:r>
          </a:p>
          <a:p xmlns:a="http://schemas.openxmlformats.org/drawingml/2006/main">
            <a:r>
              <a:t>- Bộ lọc ngày hoặc trạng thái phù hợp.</a:t>
            </a:r>
          </a:p>
          <a:p xmlns:a="http://schemas.openxmlformats.org/drawingml/2006/main">
            <a:r>
              <a:t>- Chọn slot để xem danh sách kết quả.</a:t>
            </a:r>
          </a:p>
          <a:p xmlns:a="http://schemas.openxmlformats.org/drawingml/2006/main">
            <a:r>
              <a:t>- Lối mở chi tiết sinh viên và xuất kết quả.</a:t>
            </a:r>
          </a:p>
          <a:p xmlns:a="http://schemas.openxmlformats.org/drawingml/2006/main">
            <a:r>
              <a:t/>
            </a:r>
          </a:p>
          <a:p xmlns:a="http://schemas.openxmlformats.org/drawingml/2006/main">
            <a:r>
              <a:t>Trạng thái:</a:t>
            </a:r>
          </a:p>
          <a:p xmlns:a="http://schemas.openxmlformats.org/drawingml/2006/main">
            <a:r>
              <a:t>- Có lịch sử.</a:t>
            </a:r>
          </a:p>
          <a:p xmlns:a="http://schemas.openxmlformats.org/drawingml/2006/main">
            <a:r>
              <a:t>- Chưa có lịch sử.</a:t>
            </a:r>
          </a:p>
          <a:p xmlns:a="http://schemas.openxmlformats.org/drawingml/2006/main">
            <a:r>
              <a:t>- Bộ lọc không có kết quả.</a:t>
            </a:r>
          </a:p>
          <a:p xmlns:a="http://schemas.openxmlformats.org/drawingml/2006/main">
            <a:r>
              <a:t>- Đang tải, lỗi và thử lại.</a:t>
            </a:r>
          </a:p>
          <a:p xmlns:a="http://schemas.openxmlformats.org/drawingml/2006/main">
            <a:r>
              <a:t/>
            </a:r>
          </a:p>
          <a:p xmlns:a="http://schemas.openxmlformats.org/drawingml/2006/main">
            <a:r>
              <a:t>Không hiển thị:</a:t>
            </a:r>
          </a:p>
          <a:p xmlns:a="http://schemas.openxmlformats.org/drawingml/2006/main">
            <a:r>
              <a:t>QR token, OTP, mật khẩu hoặc token đăng nhập.</a:t>
            </a:r>
          </a:p>
          <a:p xmlns:a="http://schemas.openxmlformats.org/drawingml/2006/main">
            <a:r>
              <a:t/>
            </a:r>
          </a:p>
          <a:p xmlns:a="http://schemas.openxmlformats.org/drawingml/2006/main">
            <a:r>
              <a:t>Điều hướng:</a:t>
            </a:r>
          </a:p>
          <a:p xmlns:a="http://schemas.openxmlformats.org/drawingml/2006/main">
            <a:r>
              <a:t>- Kết quả sinh viên → S07.</a:t>
            </a:r>
          </a:p>
          <a:p xmlns:a="http://schemas.openxmlformats.org/drawingml/2006/main">
            <a:r>
              <a:t>- Xuất slot đã chọn → S09.</a:t>
            </a:r>
          </a:p>
          <a:p xmlns:a="http://schemas.openxmlformats.org/drawingml/2006/main">
            <a:r>
              <a:t>- Back → S04.</a:t>
            </a:r>
          </a:p>
          <a:p xmlns:a="http://schemas.openxmlformats.org/drawingml/2006/main">
            <a:r>
              <a:t/>
            </a:r>
          </a:p>
          <a:p xmlns:a="http://schemas.openxmlformats.org/drawingml/2006/main">
            <a:r>
              <a:t/>
            </a:r>
          </a:p>
          <a:p xmlns:a="http://schemas.openxmlformats.org/drawingml/2006/main">
            <a:r>
              <a:t>S09 — Xuất kết quả</a:t>
            </a:r>
          </a:p>
          <a:p xmlns:a="http://schemas.openxmlformats.org/drawingml/2006/main">
            <a:r>
              <a:t/>
            </a:r>
          </a:p>
          <a:p xmlns:a="http://schemas.openxmlformats.org/drawingml/2006/main">
            <a:r>
              <a:t>Mục tiêu:</a:t>
            </a:r>
          </a:p>
          <a:p xmlns:a="http://schemas.openxmlformats.org/drawingml/2006/main">
            <a:r>
              <a:t>Tạo file điểm danh của đúng lớp và đúng slot.</a:t>
            </a:r>
          </a:p>
          <a:p xmlns:a="http://schemas.openxmlformats.org/drawingml/2006/main">
            <a:r>
              <a:t/>
            </a:r>
          </a:p>
          <a:p xmlns:a="http://schemas.openxmlformats.org/drawingml/2006/main">
            <a:r>
              <a:t>Nội dung:</a:t>
            </a:r>
          </a:p>
          <a:p xmlns:a="http://schemas.openxmlformats.org/drawingml/2006/main">
            <a:r>
              <a:t>- Mã môn, mã lớp, ngày và slot.</a:t>
            </a:r>
          </a:p>
          <a:p xmlns:a="http://schemas.openxmlformats.org/drawingml/2006/main">
            <a:r>
              <a:t>- Tổng P/A.</a:t>
            </a:r>
          </a:p>
          <a:p xmlns:a="http://schemas.openxmlformats.org/drawingml/2006/main">
            <a:r>
              <a:t>- Lựa chọn JSON hoặc CSV.</a:t>
            </a:r>
          </a:p>
          <a:p xmlns:a="http://schemas.openxmlformats.org/drawingml/2006/main">
            <a:r>
              <a:t>- Giải thích ngắn:</a:t>
            </a:r>
          </a:p>
          <a:p xmlns:a="http://schemas.openxmlformats.org/drawingml/2006/main">
            <a:r>
              <a:t>  JSON phục vụ extension; CSV phục vụ trao đổi dữ liệu.</a:t>
            </a:r>
          </a:p>
          <a:p xmlns:a="http://schemas.openxmlformats.org/drawingml/2006/main">
            <a:r>
              <a:t>- Tên file preview dễ hiểu.</a:t>
            </a:r>
          </a:p>
          <a:p xmlns:a="http://schemas.openxmlformats.org/drawingml/2006/main">
            <a:r>
              <a:t>- Nút xuất file local.</a:t>
            </a:r>
          </a:p>
          <a:p xmlns:a="http://schemas.openxmlformats.org/drawingml/2006/main">
            <a:r>
              <a:t>- Tùy chọn đồng bộ Drive khi đã kết nối.</a:t>
            </a:r>
          </a:p>
          <a:p xmlns:a="http://schemas.openxmlformats.org/drawingml/2006/main">
            <a:r>
              <a:t/>
            </a:r>
          </a:p>
          <a:p xmlns:a="http://schemas.openxmlformats.org/drawingml/2006/main">
            <a:r>
              <a:t>Validation:</a:t>
            </a:r>
          </a:p>
          <a:p xmlns:a="http://schemas.openxmlformats.org/drawingml/2006/main">
            <a:r>
              <a:t>- Chỉ xuất slot đã chốt.</a:t>
            </a:r>
          </a:p>
          <a:p xmlns:a="http://schemas.openxmlformats.org/drawingml/2006/main">
            <a:r>
              <a:t>- Chặn nếu còn kết quả chưa xác định.</a:t>
            </a:r>
          </a:p>
          <a:p xmlns:a="http://schemas.openxmlformats.org/drawingml/2006/main">
            <a:r>
              <a:t>- Thông báo cụ thể cần quay lại đâu để xử lý.</a:t>
            </a:r>
          </a:p>
          <a:p xmlns:a="http://schemas.openxmlformats.org/drawingml/2006/main">
            <a:r>
              <a:t/>
            </a:r>
          </a:p>
          <a:p xmlns:a="http://schemas.openxmlformats.org/drawingml/2006/main">
            <a:r>
              <a:t>Trạng thái:</a:t>
            </a:r>
          </a:p>
          <a:p xmlns:a="http://schemas.openxmlformats.org/drawingml/2006/main">
            <a:r>
              <a:t>- Sẵn sàng xuất.</a:t>
            </a:r>
          </a:p>
          <a:p xmlns:a="http://schemas.openxmlformats.org/drawingml/2006/main">
            <a:r>
              <a:t>- Đang xuất.</a:t>
            </a:r>
          </a:p>
          <a:p xmlns:a="http://schemas.openxmlformats.org/drawingml/2006/main">
            <a:r>
              <a:t>- Thành công với tên/vị trí file.</a:t>
            </a:r>
          </a:p>
          <a:p xmlns:a="http://schemas.openxmlformats.org/drawingml/2006/main">
            <a:r>
              <a:t>- Lỗi và thử lại.</a:t>
            </a:r>
          </a:p>
          <a:p xmlns:a="http://schemas.openxmlformats.org/drawingml/2006/main">
            <a:r>
              <a:t>- Xuất local thành công nhưng đang chờ đồng bộ.</a:t>
            </a:r>
          </a:p>
          <a:p xmlns:a="http://schemas.openxmlformats.org/drawingml/2006/main">
            <a:r>
              <a:t/>
            </a:r>
          </a:p>
          <a:p xmlns:a="http://schemas.openxmlformats.org/drawingml/2006/main">
            <a:r>
              <a:t>Không yêu cầu kết nối Drive mới được xuất local.</a:t>
            </a:r>
          </a:p>
          <a:p xmlns:a="http://schemas.openxmlformats.org/drawingml/2006/main">
            <a:r>
              <a:t/>
            </a:r>
          </a:p>
          <a:p xmlns:a="http://schemas.openxmlformats.org/drawingml/2006/main">
            <a:r>
              <a:t>Điều hướng:</a:t>
            </a:r>
          </a:p>
          <a:p xmlns:a="http://schemas.openxmlformats.org/drawingml/2006/main">
            <a:r>
              <a:t>- Back → màn hình trước.</a:t>
            </a:r>
          </a:p>
          <a:p xmlns:a="http://schemas.openxmlformats.org/drawingml/2006/main">
            <a:r>
              <a:t>- Quản lý đồng bộ → S10.</a:t>
            </a:r>
          </a:p>
          <a:p xmlns:a="http://schemas.openxmlformats.org/drawingml/2006/main">
            <a:r>
              <a:t/>
            </a:r>
          </a:p>
          <a:p xmlns:a="http://schemas.openxmlformats.org/drawingml/2006/main">
            <a:r>
              <a:t/>
            </a:r>
          </a:p>
          <a:p xmlns:a="http://schemas.openxmlformats.org/drawingml/2006/main">
            <a:r>
              <a:t>S10 — Google Drive và đồng bộ</a:t>
            </a:r>
          </a:p>
          <a:p xmlns:a="http://schemas.openxmlformats.org/drawingml/2006/main">
            <a:r>
              <a:t/>
            </a:r>
          </a:p>
          <a:p xmlns:a="http://schemas.openxmlformats.org/drawingml/2006/main">
            <a:r>
              <a:t>Mục tiêu:</a:t>
            </a:r>
          </a:p>
          <a:p xmlns:a="http://schemas.openxmlformats.org/drawingml/2006/main">
            <a:r>
              <a:t>Giúp giảng viên hiểu trạng thái kết nối và lưu dữ liệu trên Drive.</a:t>
            </a:r>
          </a:p>
          <a:p xmlns:a="http://schemas.openxmlformats.org/drawingml/2006/main">
            <a:r>
              <a:t/>
            </a:r>
          </a:p>
          <a:p xmlns:a="http://schemas.openxmlformats.org/drawingml/2006/main">
            <a:r>
              <a:t>Nội dung:</a:t>
            </a:r>
          </a:p>
          <a:p xmlns:a="http://schemas.openxmlformats.org/drawingml/2006/main">
            <a:r>
              <a:t>- Chưa kết nối hoặc tài khoản đang kết nối.</a:t>
            </a:r>
          </a:p>
          <a:p xmlns:a="http://schemas.openxmlformats.org/drawingml/2006/main">
            <a:r>
              <a:t>- Nút kết nối/ngắt kết nối.</a:t>
            </a:r>
          </a:p>
          <a:p xmlns:a="http://schemas.openxmlformats.org/drawingml/2006/main">
            <a:r>
              <a:t>- Trạng thái dữ liệu local.</a:t>
            </a:r>
          </a:p>
          <a:p xmlns:a="http://schemas.openxmlformats.org/drawingml/2006/main">
            <a:r>
              <a:t>- Lần đồng bộ thành công gần nhất.</a:t>
            </a:r>
          </a:p>
          <a:p xmlns:a="http://schemas.openxmlformats.org/drawingml/2006/main">
            <a:r>
              <a:t>- Số thay đổi hoặc file đang chờ đồng bộ.</a:t>
            </a:r>
          </a:p>
          <a:p xmlns:a="http://schemas.openxmlformats.org/drawingml/2006/main">
            <a:r>
              <a:t>- Nút “Đồng bộ ngay”.</a:t>
            </a:r>
          </a:p>
          <a:p xmlns:a="http://schemas.openxmlformats.org/drawingml/2006/main">
            <a:r>
              <a:t>- Tóm tắt thư mục FAP Attendance và học kỳ.</a:t>
            </a:r>
          </a:p>
          <a:p xmlns:a="http://schemas.openxmlformats.org/drawingml/2006/main">
            <a:r>
              <a:t/>
            </a:r>
          </a:p>
          <a:p xmlns:a="http://schemas.openxmlformats.org/drawingml/2006/main">
            <a:r>
              <a:t>Trạng thái:</a:t>
            </a:r>
          </a:p>
          <a:p xmlns:a="http://schemas.openxmlformats.org/drawingml/2006/main">
            <a:r>
              <a:t>- Chưa kết nối.</a:t>
            </a:r>
          </a:p>
          <a:p xmlns:a="http://schemas.openxmlformats.org/drawingml/2006/main">
            <a:r>
              <a:t>- Đang kết nối.</a:t>
            </a:r>
          </a:p>
          <a:p xmlns:a="http://schemas.openxmlformats.org/drawingml/2006/main">
            <a:r>
              <a:t>- Đã kết nối.</a:t>
            </a:r>
          </a:p>
          <a:p xmlns:a="http://schemas.openxmlformats.org/drawingml/2006/main">
            <a:r>
              <a:t>- Đang đồng bộ: khóa nút chống bấm lặp.</a:t>
            </a:r>
          </a:p>
          <a:p xmlns:a="http://schemas.openxmlformats.org/drawingml/2006/main">
            <a:r>
              <a:t>- Đã đồng bộ.</a:t>
            </a:r>
          </a:p>
          <a:p xmlns:a="http://schemas.openxmlformats.org/drawingml/2006/main">
            <a:r>
              <a:t>- Mất mạng/chờ đồng bộ.</a:t>
            </a:r>
          </a:p>
          <a:p xmlns:a="http://schemas.openxmlformats.org/drawingml/2006/main">
            <a:r>
              <a:t>- Quyền truy cập bị thu hồi và kết nối lại.</a:t>
            </a:r>
          </a:p>
          <a:p xmlns:a="http://schemas.openxmlformats.org/drawingml/2006/main">
            <a:r>
              <a:t>- Phát hiện xung đột cần kiểm tra.</a:t>
            </a:r>
          </a:p>
          <a:p xmlns:a="http://schemas.openxmlformats.org/drawingml/2006/main">
            <a:r>
              <a:t/>
            </a:r>
          </a:p>
          <a:p xmlns:a="http://schemas.openxmlformats.org/drawingml/2006/main">
            <a:r>
              <a:t>Xung đột:</a:t>
            </a:r>
          </a:p>
          <a:p xmlns:a="http://schemas.openxmlformats.org/drawingml/2006/main">
            <a:r>
              <a:t>Không tự ghi đè và không tuyên bố đã gộp dữ liệu.</a:t>
            </a:r>
          </a:p>
          <a:p xmlns:a="http://schemas.openxmlformats.org/drawingml/2006/main">
            <a:r>
              <a:t>Hiển thị thông báo giữ dữ liệu và hướng dẫn kiểm tra phù hợp.</a:t>
            </a:r>
          </a:p>
          <a:p xmlns:a="http://schemas.openxmlformats.org/drawingml/2006/main">
            <a:r>
              <a:t/>
            </a:r>
          </a:p>
          <a:p xmlns:a="http://schemas.openxmlformats.org/drawingml/2006/main">
            <a:r>
              <a:t>Điều hướng:</a:t>
            </a:r>
          </a:p>
          <a:p xmlns:a="http://schemas.openxmlformats.org/drawingml/2006/main">
            <a:r>
              <a:t>Có thể mở từ S01 hoặc sau khi đã có workspace.</a:t>
            </a:r>
          </a:p>
          <a:p xmlns:a="http://schemas.openxmlformats.org/drawingml/2006/main">
            <a:r>
              <a:t>Back phải trở về đúng nơi đã mở màn hình này.</a:t>
            </a:r>
          </a:p>
          <a:p xmlns:a="http://schemas.openxmlformats.org/drawingml/2006/main">
            <a:r>
              <a:t/>
            </a:r>
          </a:p>
          <a:p xmlns:a="http://schemas.openxmlformats.org/drawingml/2006/main">
            <a:r>
              <a:t>==================================================</a:t>
            </a:r>
          </a:p>
          <a:p xmlns:a="http://schemas.openxmlformats.org/drawingml/2006/main">
            <a:r>
              <a:t>7. BA LUỒNG PROTOTYPE</a:t>
            </a:r>
          </a:p>
          <a:p xmlns:a="http://schemas.openxmlformats.org/drawingml/2006/main">
            <a:r>
              <a:t>==================================================</a:t>
            </a:r>
          </a:p>
          <a:p xmlns:a="http://schemas.openxmlformats.org/drawingml/2006/main">
            <a:r>
              <a:t/>
            </a:r>
          </a:p>
          <a:p xmlns:a="http://schemas.openxmlformats.org/drawingml/2006/main">
            <a:r>
              <a:t>Luồng 1 — Chuẩn bị lớp:</a:t>
            </a:r>
          </a:p>
          <a:p xmlns:a="http://schemas.openxmlformats.org/drawingml/2006/main">
            <a:r>
              <a:t>S01 → S03 → S02 → S04 → S05 → S04.</a:t>
            </a:r>
          </a:p>
          <a:p xmlns:a="http://schemas.openxmlformats.org/drawingml/2006/main">
            <a:r>
              <a:t/>
            </a:r>
          </a:p>
          <a:p xmlns:a="http://schemas.openxmlformats.org/drawingml/2006/main">
            <a:r>
              <a:t>Happy path:</a:t>
            </a:r>
          </a:p>
          <a:p xmlns:a="http://schemas.openxmlformats.org/drawingml/2006/main">
            <a:r>
              <a:t>Import hợp lệ, sinh lịch và lưu cấu hình lớp thành công.</a:t>
            </a:r>
          </a:p>
          <a:p xmlns:a="http://schemas.openxmlformats.org/drawingml/2006/main">
            <a:r>
              <a:t/>
            </a:r>
          </a:p>
          <a:p xmlns:a="http://schemas.openxmlformats.org/drawingml/2006/main">
            <a:r>
              <a:t>Alternate/error:</a:t>
            </a:r>
          </a:p>
          <a:p xmlns:a="http://schemas.openxmlformats.org/drawingml/2006/main">
            <a:r>
              <a:t>- File thiếu header → thông báo → chọn lại file.</a:t>
            </a:r>
          </a:p>
          <a:p xmlns:a="http://schemas.openxmlformats.org/drawingml/2006/main">
            <a:r>
              <a:t>- Hủy import → trở về màn hình trước.</a:t>
            </a:r>
          </a:p>
          <a:p xmlns:a="http://schemas.openxmlformats.org/drawingml/2006/main">
            <a:r>
              <a:t>- Lịch đã bị khóa → giải thích → quay lại lớp.</a:t>
            </a:r>
          </a:p>
          <a:p xmlns:a="http://schemas.openxmlformats.org/drawingml/2006/main">
            <a:r>
              <a:t/>
            </a:r>
          </a:p>
          <a:p xmlns:a="http://schemas.openxmlformats.org/drawingml/2006/main">
            <a:r>
              <a:t>Luồng 2 — Điểm danh:</a:t>
            </a:r>
          </a:p>
          <a:p xmlns:a="http://schemas.openxmlformats.org/drawingml/2006/main">
            <a:r>
              <a:t>S02 → S04 → S06 → xác nhận chốt → S04.</a:t>
            </a:r>
          </a:p>
          <a:p xmlns:a="http://schemas.openxmlformats.org/drawingml/2006/main">
            <a:r>
              <a:t/>
            </a:r>
          </a:p>
          <a:p xmlns:a="http://schemas.openxmlformats.org/drawingml/2006/main">
            <a:r>
              <a:t>Happy path:</a:t>
            </a:r>
          </a:p>
          <a:p xmlns:a="http://schemas.openxmlformats.org/drawingml/2006/main">
            <a:r>
              <a:t>Chọn đúng slot hôm nay, mở QR, nhận check-in và chốt.</a:t>
            </a:r>
          </a:p>
          <a:p xmlns:a="http://schemas.openxmlformats.org/drawingml/2006/main">
            <a:r>
              <a:t/>
            </a:r>
          </a:p>
          <a:p xmlns:a="http://schemas.openxmlformats.org/drawingml/2006/main">
            <a:r>
              <a:t>Alternate/error:</a:t>
            </a:r>
          </a:p>
          <a:p xmlns:a="http://schemas.openxmlformats.org/drawingml/2006/main">
            <a:r>
              <a:t>- Lỗi chuẩn bị QR → thử lại.</a:t>
            </a:r>
          </a:p>
          <a:p xmlns:a="http://schemas.openxmlformats.org/drawingml/2006/main">
            <a:r>
              <a:t>- Hủy xác nhận chốt → tiếp tục nhận điểm danh.</a:t>
            </a:r>
          </a:p>
          <a:p xmlns:a="http://schemas.openxmlformats.org/drawingml/2006/main">
            <a:r>
              <a:t>- Back khỏi QR → cảnh báo dừng nhận check-in.</a:t>
            </a:r>
          </a:p>
          <a:p xmlns:a="http://schemas.openxmlformats.org/drawingml/2006/main">
            <a:r>
              <a:t>- Mở lại slot đã chốt trong ngày → giữ kết quả cũ và nhận bổ sung.</a:t>
            </a:r>
          </a:p>
          <a:p xmlns:a="http://schemas.openxmlformats.org/drawingml/2006/main">
            <a:r>
              <a:t/>
            </a:r>
          </a:p>
          <a:p xmlns:a="http://schemas.openxmlformats.org/drawingml/2006/main">
            <a:r>
              <a:t>Luồng 3 — Kiểm tra và xuất:</a:t>
            </a:r>
          </a:p>
          <a:p xmlns:a="http://schemas.openxmlformats.org/drawingml/2006/main">
            <a:r>
              <a:t>S02 → S04 → S08 → S07 → S08 → S09 → S10 nếu cần.</a:t>
            </a:r>
          </a:p>
          <a:p xmlns:a="http://schemas.openxmlformats.org/drawingml/2006/main">
            <a:r>
              <a:t/>
            </a:r>
          </a:p>
          <a:p xmlns:a="http://schemas.openxmlformats.org/drawingml/2006/main">
            <a:r>
              <a:t>Happy path:</a:t>
            </a:r>
          </a:p>
          <a:p xmlns:a="http://schemas.openxmlformats.org/drawingml/2006/main">
            <a:r>
              <a:t>Xem kết quả, sửa kết quả được phép với lý do,</a:t>
            </a:r>
          </a:p>
          <a:p xmlns:a="http://schemas.openxmlformats.org/drawingml/2006/main">
            <a:r>
              <a:t>xuất file và đồng bộ.</a:t>
            </a:r>
          </a:p>
          <a:p xmlns:a="http://schemas.openxmlformats.org/drawingml/2006/main">
            <a:r>
              <a:t/>
            </a:r>
          </a:p>
          <a:p xmlns:a="http://schemas.openxmlformats.org/drawingml/2006/main">
            <a:r>
              <a:t>Alternate/error:</a:t>
            </a:r>
          </a:p>
          <a:p xmlns:a="http://schemas.openxmlformats.org/drawingml/2006/main">
            <a:r>
              <a:t>- Lý do trống → lỗi tại field → nhập lại.</a:t>
            </a:r>
          </a:p>
          <a:p xmlns:a="http://schemas.openxmlformats.org/drawingml/2006/main">
            <a:r>
              <a:t>- Slot đã qua ngày → chỉ đọc kết quả và note.</a:t>
            </a:r>
          </a:p>
          <a:p xmlns:a="http://schemas.openxmlformats.org/drawingml/2006/main">
            <a:r>
              <a:t>- Lỗi xuất → thử lại.</a:t>
            </a:r>
          </a:p>
          <a:p xmlns:a="http://schemas.openxmlformats.org/drawingml/2006/main">
            <a:r>
              <a:t>- Mất mạng → vẫn giữ file local và báo chờ đồng bộ.</a:t>
            </a:r>
          </a:p>
          <a:p xmlns:a="http://schemas.openxmlformats.org/drawingml/2006/main">
            <a:r>
              <a:t/>
            </a:r>
          </a:p>
          <a:p xmlns:a="http://schemas.openxmlformats.org/drawingml/2006/main">
            <a:r>
              <a:t>Dùng dữ liệu demo riêng phù hợp cho từng luồng:</a:t>
            </a:r>
          </a:p>
          <a:p xmlns:a="http://schemas.openxmlformats.org/drawingml/2006/main">
            <a:r>
              <a:t>- Luồng 1: lớp chưa có slot active/đã chốt.</a:t>
            </a:r>
          </a:p>
          <a:p xmlns:a="http://schemas.openxmlformats.org/drawingml/2006/main">
            <a:r>
              <a:t>- Luồng 2: có slot hôm nay.</a:t>
            </a:r>
          </a:p>
          <a:p xmlns:a="http://schemas.openxmlformats.org/drawingml/2006/main">
            <a:r>
              <a:t>- Luồng 3: có slot đã chốt hôm nay và slot đã qua ngày.</a:t>
            </a:r>
          </a:p>
          <a:p xmlns:a="http://schemas.openxmlformats.org/drawingml/2006/main">
            <a:r>
              <a:t/>
            </a:r>
          </a:p>
          <a:p xmlns:a="http://schemas.openxmlformats.org/drawingml/2006/main">
            <a:r>
              <a:t>Không tạo luồng thành công dựa trên dữ liệu vi phạm quy tắc nghiệp vụ.</a:t>
            </a:r>
          </a:p>
          <a:p xmlns:a="http://schemas.openxmlformats.org/drawingml/2006/main">
            <a:r>
              <a:t/>
            </a:r>
          </a:p>
          <a:p xmlns:a="http://schemas.openxmlformats.org/drawingml/2006/main">
            <a:r>
              <a:t>==================================================</a:t>
            </a:r>
          </a:p>
          <a:p xmlns:a="http://schemas.openxmlformats.org/drawingml/2006/main">
            <a:r>
              <a:t>8. COMPONENT VÀ TRẠNG THÁI</a:t>
            </a:r>
          </a:p>
          <a:p xmlns:a="http://schemas.openxmlformats.org/drawingml/2006/main">
            <a:r>
              <a:t>==================================================</a:t>
            </a:r>
          </a:p>
          <a:p xmlns:a="http://schemas.openxmlformats.org/drawingml/2006/main">
            <a:r>
              <a:t/>
            </a:r>
          </a:p>
          <a:p xmlns:a="http://schemas.openxmlformats.org/drawingml/2006/main">
            <a:r>
              <a:t>Thiết kế các nhóm component tái sử dụng:</a:t>
            </a:r>
          </a:p>
          <a:p xmlns:a="http://schemas.openxmlformats.org/drawingml/2006/main">
            <a:r>
              <a:t>1. Button: default, pressed, disabled, loading.</a:t>
            </a:r>
          </a:p>
          <a:p xmlns:a="http://schemas.openxmlformats.org/drawingml/2006/main">
            <a:r>
              <a:t>2. Text field: default, focused, filled, error, disabled.</a:t>
            </a:r>
          </a:p>
          <a:p xmlns:a="http://schemas.openxmlformats.org/drawingml/2006/main">
            <a:r>
              <a:t>3. Card: default và pressed nếu có tương tác.</a:t>
            </a:r>
          </a:p>
          <a:p xmlns:a="http://schemas.openxmlformats.org/drawingml/2006/main">
            <a:r>
              <a:t>4. Navigation: selected/unselected.</a:t>
            </a:r>
          </a:p>
          <a:p xmlns:a="http://schemas.openxmlformats.org/drawingml/2006/main">
            <a:r>
              <a:t>5. App bar: mặc định và có action.</a:t>
            </a:r>
          </a:p>
          <a:p xmlns:a="http://schemas.openxmlformats.org/drawingml/2006/main">
            <a:r>
              <a:t>6. Dialog: xác nhận, hủy và lỗi.</a:t>
            </a:r>
          </a:p>
          <a:p xmlns:a="http://schemas.openxmlformats.org/drawingml/2006/main">
            <a:r>
              <a:t>7. Loading: spinner hoặc skeleton có ngữ cảnh.</a:t>
            </a:r>
          </a:p>
          <a:p xmlns:a="http://schemas.openxmlformats.org/drawingml/2006/main">
            <a:r>
              <a:t>8. Empty state: icon, giải thích và CTA.</a:t>
            </a:r>
          </a:p>
          <a:p xmlns:a="http://schemas.openxmlformats.org/drawingml/2006/main">
            <a:r>
              <a:t>9. Error state: nguyên nhân dễ hiểu và hành động phục hồi.</a:t>
            </a:r>
          </a:p>
          <a:p xmlns:a="http://schemas.openxmlformats.org/drawingml/2006/main">
            <a:r>
              <a:t/>
            </a:r>
          </a:p>
          <a:p xmlns:a="http://schemas.openxmlformats.org/drawingml/2006/main">
            <a:r>
              <a:t>Ưu tiên cấu trúc có thể chuyển sang Auto Layout, component</a:t>
            </a:r>
          </a:p>
          <a:p xmlns:a="http://schemas.openxmlformats.org/drawingml/2006/main">
            <a:r>
              <a:t>và variant trong Figma.</a:t>
            </a:r>
          </a:p>
          <a:p xmlns:a="http://schemas.openxmlformats.org/drawingml/2006/main">
            <a:r>
              <a:t/>
            </a:r>
          </a:p>
          <a:p xmlns:a="http://schemas.openxmlformats.org/drawingml/2006/main">
            <a:r>
              <a:t>Các trạng thái và dialog phải đặt cạnh màn hình liên quan.</a:t>
            </a:r>
          </a:p>
          <a:p xmlns:a="http://schemas.openxmlformats.org/drawingml/2006/main">
            <a:r>
              <a:t>Chúng không được tính thay cho 10 màn hình chính.</a:t>
            </a:r>
          </a:p>
          <a:p xmlns:a="http://schemas.openxmlformats.org/drawingml/2006/main">
            <a:r>
              <a:t/>
            </a:r>
          </a:p>
          <a:p xmlns:a="http://schemas.openxmlformats.org/drawingml/2006/main">
            <a:r>
              <a:t>==================================================</a:t>
            </a:r>
          </a:p>
          <a:p xmlns:a="http://schemas.openxmlformats.org/drawingml/2006/main">
            <a:r>
              <a:t>9. DỮ LIỆU MINH HỌA</a:t>
            </a:r>
          </a:p>
          <a:p xmlns:a="http://schemas.openxmlformats.org/drawingml/2006/main">
            <a:r>
              <a:t>==================================================</a:t>
            </a:r>
          </a:p>
          <a:p xmlns:a="http://schemas.openxmlformats.org/drawingml/2006/main">
            <a:r>
              <a:t/>
            </a:r>
          </a:p>
          <a:p xmlns:a="http://schemas.openxmlformats.org/drawingml/2006/main">
            <a:r>
              <a:t>Có thể dùng môn PRN232, lớp SE1920 và học kỳ FA26</a:t>
            </a:r>
          </a:p>
          <a:p xmlns:a="http://schemas.openxmlformats.org/drawingml/2006/main">
            <a:r>
              <a:t>để giữ ngữ cảnh nhất quán.</a:t>
            </a:r>
          </a:p>
          <a:p xmlns:a="http://schemas.openxmlformats.org/drawingml/2006/main">
            <a:r>
              <a:t/>
            </a:r>
          </a:p>
          <a:p xmlns:a="http://schemas.openxmlformats.org/drawingml/2006/main">
            <a:r>
              <a:t>MSSV, họ tên, email minh họa phải là dữ liệu giả,</a:t>
            </a:r>
          </a:p>
          <a:p xmlns:a="http://schemas.openxmlformats.org/drawingml/2006/main">
            <a:r>
              <a:t>ghi rõ là demo nếu cần.</a:t>
            </a:r>
          </a:p>
          <a:p xmlns:a="http://schemas.openxmlformats.org/drawingml/2006/main">
            <a:r>
              <a:t/>
            </a:r>
          </a:p>
          <a:p xmlns:a="http://schemas.openxmlformats.org/drawingml/2006/main">
            <a:r>
              <a:t>Không lấy thông tin cá nhân, ảnh thẻ sinh viên thật hoặc</a:t>
            </a:r>
          </a:p>
          <a:p xmlns:a="http://schemas.openxmlformats.org/drawingml/2006/main">
            <a:r>
              <a:t>thông tin đăng nhập từ hình tham khảo.</a:t>
            </a:r>
          </a:p>
          <a:p xmlns:a="http://schemas.openxmlformats.org/drawingml/2006/main">
            <a:r>
              <a:t/>
            </a:r>
          </a:p>
          <a:p xmlns:a="http://schemas.openxmlformats.org/drawingml/2006/main">
            <a:r>
              <a:t>Dùng một mốc ngày demo nhất quán, ghi rõ ngày giả lập khi cần</a:t>
            </a:r>
          </a:p>
          <a:p xmlns:a="http://schemas.openxmlformats.org/drawingml/2006/main">
            <a:r>
              <a:t>để minh họa hôm nay, ngày đã qua và ngày tương lai.</a:t>
            </a:r>
          </a:p>
          <a:p xmlns:a="http://schemas.openxmlformats.org/drawingml/2006/main">
            <a:r>
              <a:t/>
            </a:r>
          </a:p>
          <a:p xmlns:a="http://schemas.openxmlformats.org/drawingml/2006/main">
            <a:r>
              <a:t>Không tự tạo phòng học, địa điểm, link họp hoặc giảng viên khác</a:t>
            </a:r>
          </a:p>
          <a:p xmlns:a="http://schemas.openxmlformats.org/drawingml/2006/main">
            <a:r>
              <a:t>khi chưa có dữ liệu.</a:t>
            </a:r>
          </a:p>
          <a:p xmlns:a="http://schemas.openxmlformats.org/drawingml/2006/main">
            <a:r>
              <a:t/>
            </a:r>
          </a:p>
          <a:p xmlns:a="http://schemas.openxmlformats.org/drawingml/2006/main">
            <a:r>
              <a:t>==================================================</a:t>
            </a:r>
          </a:p>
          <a:p xmlns:a="http://schemas.openxmlformats.org/drawingml/2006/main">
            <a:r>
              <a:t>10. KẾT QUẢ MONG MUỐN</a:t>
            </a:r>
          </a:p>
          <a:p xmlns:a="http://schemas.openxmlformats.org/drawingml/2006/main">
            <a:r>
              <a:t>==================================================</a:t>
            </a:r>
          </a:p>
          <a:p xmlns:a="http://schemas.openxmlformats.org/drawingml/2006/main">
            <a:r>
              <a:t/>
            </a:r>
          </a:p>
          <a:p xmlns:a="http://schemas.openxmlformats.org/drawingml/2006/main">
            <a:r>
              <a:t>Hãy tạo:</a:t>
            </a:r>
          </a:p>
          <a:p xmlns:a="http://schemas.openxmlformats.org/drawingml/2006/main">
            <a:r>
              <a:t>- Đủ 10 màn hình mobile có ID S01–S10 và tiêu đề rõ ràng.</a:t>
            </a:r>
          </a:p>
          <a:p xmlns:a="http://schemas.openxmlformats.org/drawingml/2006/main">
            <a:r>
              <a:t>- Cùng một hệ thống màu, typography, spacing và component.</a:t>
            </a:r>
          </a:p>
          <a:p xmlns:a="http://schemas.openxmlformats.org/drawingml/2006/main">
            <a:r>
              <a:t>- Các state/overlay quan trọng đặt cạnh màn hình tương ứng.</a:t>
            </a:r>
          </a:p>
          <a:p xmlns:a="http://schemas.openxmlformats.org/drawingml/2006/main">
            <a:r>
              <a:t>- Điều hướng thể hiện được cả 3 luồng.</a:t>
            </a:r>
          </a:p>
          <a:p xmlns:a="http://schemas.openxmlformats.org/drawingml/2006/main">
            <a:r>
              <a:t>- Ít nhất một confirmation overlay.</a:t>
            </a:r>
          </a:p>
          <a:p xmlns:a="http://schemas.openxmlformats.org/drawingml/2006/main">
            <a:r>
              <a:t>- Ít nhất một chuỗi loading → success hoặc error → retry.</a:t>
            </a:r>
          </a:p>
          <a:p xmlns:a="http://schemas.openxmlformats.org/drawingml/2006/main">
            <a:r>
              <a:t>- Nội dung tiếng Việt tự nhiên, ngắn gọn, không dùng lorem ipsum.</a:t>
            </a:r>
          </a:p>
          <a:p xmlns:a="http://schemas.openxmlformats.org/drawingml/2006/main">
            <a:r>
              <a:t/>
            </a:r>
          </a:p>
          <a:p xmlns:a="http://schemas.openxmlformats.org/drawingml/2006/main">
            <a:r>
              <a:t>Thứ tự trình bày:</a:t>
            </a:r>
          </a:p>
          <a:p xmlns:a="http://schemas.openxmlformats.org/drawingml/2006/main">
            <a:r>
              <a:t>S01, S02, S03, S04, S05, S06, S07, S08, S09, S10.</a:t>
            </a:r>
          </a:p>
          <a:p xmlns:a="http://schemas.openxmlformats.org/drawingml/2006/main">
            <a:r>
              <a:t/>
            </a:r>
          </a:p>
          <a:p xmlns:a="http://schemas.openxmlformats.org/drawingml/2006/main">
            <a:r>
              <a:t>Sau khi tạo:</a:t>
            </a:r>
          </a:p>
          <a:p xmlns:a="http://schemas.openxmlformats.org/drawingml/2006/main">
            <a:r>
              <a:t>- Giải thích ngắn bố cục và cách điều hướng.</a:t>
            </a:r>
          </a:p>
          <a:p xmlns:a="http://schemas.openxmlformats.org/drawingml/2006/main">
            <a:r>
              <a:t>- Nêu cách xử lý thời khóa biểu 7 ngày trên mobile.</a:t>
            </a:r>
          </a:p>
          <a:p xmlns:a="http://schemas.openxmlformats.org/drawingml/2006/main">
            <a:r>
              <a:t>- Liệt kê điểm cần kiểm tra accessibility.</a:t>
            </a:r>
          </a:p>
          <a:p xmlns:a="http://schemas.openxmlformats.org/drawingml/2006/main">
            <a:r>
              <a:t>- Nêu giả định và giới hạn chưa giải quyết.</a:t>
            </a:r>
          </a:p>
          <a:p xmlns:a="http://schemas.openxmlformats.org/drawingml/2006/main">
            <a:r>
              <a:t>- Không tuyên bố đã kiểm thử với người dùng nếu chưa thực hiện.</a:t>
            </a:r>
          </a:p>
          <a:p xmlns:a="http://schemas.openxmlformats.org/drawingml/2006/main">
            <a:r>
              <a:t>- Không tuyên bố đã tạo Figma component/Auto Layout nếu công cụ</a:t>
            </a:r>
          </a:p>
          <a:p xmlns:a="http://schemas.openxmlformats.org/drawingml/2006/main">
            <a:r>
              <a:t>  chỉ tạo hình ảnh hoặc giao diện preview.</a:t>
            </a:r>
          </a:p>
          <a:p xmlns:a="http://schemas.openxmlformats.org/drawingml/2006/main">
            <a:r>
              <a:t/>
            </a:r>
          </a:p>
          <a:p xmlns:a="http://schemas.openxmlformats.org/drawingml/2006/main">
            <a:r>
              <a:t>Đây là bản V0 để lưu bằng chứng và phản biện.</a:t>
            </a:r>
          </a:p>
          <a:p xmlns:a="http://schemas.openxmlformats.org/drawingml/2006/main">
            <a:r>
              <a:t>Chưa tự tính bản V0 là ba vòng cải tiến UX.</a:t>
            </a:r>
          </a:p>
          <a:p xmlns:a="http://schemas.openxmlformats.org/drawingml/2006/main">
            <a:r>
              <a:t/>
            </a:r>
          </a:p>
          <a:p xmlns:a="http://schemas.openxmlformats.org/drawingml/2006/main">
            <a:r>
              <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D:\Fall2026\PRM393\Project_PRM393\prm323-lab2-SE193324\ai\evidence\2026-10-11\01-stitch-v0-prompt.md</a:t>
            </a:r>
          </a:p>
          <a:p xmlns:a="http://schemas.openxmlformats.org/drawingml/2006/main">
            <a:r>
              <a:t>D:\Fall2026\PRM393\Project_PRM393\prm323-lab2-SE193324\ai\ai-design-log.md</a:t>
            </a:r>
          </a:p>
          <a:p xmlns:a="http://schemas.openxmlformats.org/drawingml/2006/main">
            <a:r>
              <a:t>D:\Fall2026\PRM393\Project_PRM393\prm323-lab2-SE193324\assets\stitch\v0-s03-import.png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giây. Không suy từ tên V1/V2/V3 rằng đã đủ ba vòng được chứng minh. Bảng tổng hợp trọng tâm đối chiếu các phiên bản: V1 cấu trúc/ngữ cảnh; V2 lịch, note và sửa có lý do; V3 điều kiện xuất và trạng thái sao lưu. V1/V2 có ảnh nhưng thiếu prompt thực gửi; V3 đã được gửi trong hội thoại, chưa lưu riêng đầy đủ. Hai ảnh là S07 V1 và V2 nguyên bản. Năm vấn đề cụ thể lấy từ phản biện: lịch S02 sai ngày; S04 nhầm slot; S05 điều kiện khóa; S07 giờ/note và lý do; S09 tên file không thống nhất. Ảnh trước/sau chứng minh có thay đổi hình thức nhưng không chứng minh mọi lỗi đã sửa hoặc thao tác chạy được.</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D:\Fall2026\PRM393\Project_PRM393\prm323-lab2-SE193324\ai\ai-design-log.md</a:t>
            </a:r>
          </a:p>
          <a:p xmlns:a="http://schemas.openxmlformats.org/drawingml/2006/main">
            <a:r>
              <a:t>D:\Fall2026\PRM393\Project_PRM393\prm323-lab2-SE193324\design\prototype-review.md</a:t>
            </a:r>
          </a:p>
          <a:p xmlns:a="http://schemas.openxmlformats.org/drawingml/2006/main">
            <a:r>
              <a:t>D:\Fall2026\PRM393\Project_PRM393\prm323-lab2-SE193324\assets\stitch\v1-s07-student.png</a:t>
            </a:r>
          </a:p>
          <a:p xmlns:a="http://schemas.openxmlformats.org/drawingml/2006/main">
            <a:r>
              <a:t>D:\Fall2026\PRM393\Project_PRM393\prm323-lab2-SE193324\assets\stitch\v2-s07-student.png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Bốn ví dụ được lấy từ design-decisions. Đây vẫn là đề xuất D01, D05, D06, D07 chờ sinh viên chốt, không phải quyết định đã phê duyệt. Giữ local-first để giảng viên hoàn tất khi mạng yếu. Chỉnh mốc hai phút theo từng lượt quét tránh nhầm deadline cả lớp. Chỉnh form sửa để bắt buộc lý do mới và giữ lịch sử. Loại bỏ giữ QR chạy ngầm khi Back vì trái quy tắc nghiệp vụ đã chọn. Mỗi quyết định gắn với khả năng quan sát trạng thái, ngăn lỗi, quyền kiểm soát hoặc nhu cầu persona. Cần xác nhận rồi cập nhật UI và ảnh sau sửa.</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giây. Bộ low-fi riêng chưa có, vì vậy không gọi UI V0 là wireframe. Gallery cho thấy mười khái niệm màn hình đã thiết kế; chín ảnh từ prototype hiện tại, Drive dùng ảnh V1 cũ và được ghi rõ. Các sheet không tính thêm screen. Mở từng màn trong prototype hoặc ảnh gốc khi cần đọc nội dung; thumbnail chỉ dùng nhận diện phạm vi. UI cuối còn phải rà soát tính nhất quán, bổ sung low-fi và trạng thái empty/loading/error. Không coi gallery là bằng chứng tất cả màn cuối đã hoàn tất.</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D:\Fall2026\PRM393\Project_PRM393\prm323-lab2-SE193324\design\screen-spec.md</a:t>
            </a:r>
          </a:p>
          <a:p xmlns:a="http://schemas.openxmlformats.org/drawingml/2006/main">
            <a:r>
              <a:t>D:\Fall2026\PRM393\Project_PRM393\prm323-lab2-SE193324\design\prototype-review.md</a:t>
            </a:r>
          </a:p>
          <a:p xmlns:a="http://schemas.openxmlformats.org/drawingml/2006/main">
            <a:r>
              <a:t>D:\Fall2026\PRM393\Project_PRM393\prm323-lab2-SE193324\assets\stitch\v1-s10-drive.png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Các thông số là đặc tả mục tiêu trong DESIGN, chưa chứng minh liên kết tokens/instances thực tế. Màu cam đậm dùng hành động chính, cam sáng chỉ nhận diện, trạng thái có chữ/icon. Roboto: tiêu đề 24, body16, phụ14. Khoảng cách theo thang4,8,12,16,24,32. Bo góc8/12/16; bóng nhẹ cho card và sheet. Bên phải đủ chín nhóm component cùng các trạng thái quan trọng. Figma cần Auto Layout, variants, instances và Variables/styles; chưa có bằng chứng hiện thực. Không dùng bảng đặc tả để tự nhận đã có thư viện component.</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D:\Fall2026\PRM393\Project_PRM393\prm323-lab2-SE193324\design\DESIGN.md</a:t>
            </a:r>
          </a:p>
          <a:p xmlns:a="http://schemas.openxmlformats.org/drawingml/2006/main">
            <a:r>
              <a:t>D:\Fall2026\PRM393\Project_PRM393\prm323-lab2-SE193324\handoff\flutter-handoff.md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Phân biệt mục tiêu với bằng chứng: chữ thường4.5, chữ lớn/control3, target48, body14. Cặp token trắng/cam hành động đã tính5.07 đạt; trắng/cam brand3.48 không đạt cho chữ thường. Đây là tính theo token, chưa lấy màu UI cuối. P/A có chữ và màu thấy trên ảnh, vẫn cần kiểm các states. Chưa đo vùng chạm, cỡ chữ hoặc chạy viewport360/412. Responsive cần cùng dữ liệu tên dài, bàn phím, path dài, QR, thanh điều hướng và CTA; không dùng hai ảnh co giãn như phép thử.</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Demo5 phút ngoài10phút thuyết trình.20giây giới thiệu/reset,60giây flow1,90giây flow2,110giây flow3,20giây kết. Mở link Stitch. Flow1 import và cấu hình lớp chưa bắt đầu; Flow2 hủy sheet rồi chốt; Flow3 thử lý do trống rồi sửa hợp lệ và xuất. Phải chạy một lỗi/phục hồi, Back, overlay và loading rồi result. Hai ảnh chỉ chứng minh trạng thái xác nhận/kết quả đã có; chưa có bằng chứng chuyển cảnh loading hoặc validation hoạt động. Dữ liệu ngày24/09/2026 giả lập, các phản hồi QR/lưu/Drive là mô phỏng. Nếu flow tách fixture, nói rõ reset. Không gọi nhánh chưa chạy thử là đã đạt.</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D:\Fall2026\PRM393\Project_PRM393\prm323-lab2-SE193324\presentation\output\demo-script.md</a:t>
            </a:r>
          </a:p>
          <a:p xmlns:a="http://schemas.openxmlformats.org/drawingml/2006/main">
            <a:r>
              <a:t>D:\Fall2026\PRM393\Project_PRM393\prm323-lab2-SE193324\design\prototype-review.md</a:t>
            </a:r>
          </a:p>
          <a:p xmlns:a="http://schemas.openxmlformats.org/drawingml/2006/main">
            <a:r>
              <a:t>https://stitch.withgoogle.com/preview/10059602616228007293?node-id=f4c596c319264fa182ad8c2c92ebf951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Handoff đủ6phần mỗi màn: layout,components,states,interactions,navigation,constraints. Hai bảng đầy đủ nằm trong flutter-handoff; slide trích ví dụ. Token chuyển thành theme chung: màu/kiểu chữ/khoảng cách. Nút thành FilledButton,ô nhập TextFormField,sheet showModalBottomSheet. Đây là tên widget để người lập trình dùng, không phải code đã triển khai. Lab2không yêu cầu viếtFlutter. Tồn tại: lowfi,AIevidence,quyết định,chạytest và xác nhậnFigma. Nếu theo đề gốc cần sáu page01UserFlow02Wireframe03FinalUI04DesignSystem05Components06Prototype cùng linkview. GitHub/Stitch do sinh viên cung cấp; cần thử chưa đăng nhập và upload bản mới. Chưa có kết quả thử bàn giao với người khác.</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D:\Fall2026\PRM393\Project_PRM393\prm323-lab2-SE193324\handoff\flutter-handoff.md</a:t>
            </a:r>
          </a:p>
          <a:p xmlns:a="http://schemas.openxmlformats.org/drawingml/2006/main">
            <a:r>
              <a:t>D:\Fall2026\PRM393\Project_PRM393\prm323-lab2-SE193324\SUBMISSION_CHECKLIST.md</a:t>
            </a:r>
          </a:p>
          <a:p xmlns:a="http://schemas.openxmlformats.org/drawingml/2006/main">
            <a:r>
              <a:t>https://github.com/HungUniverse/prm323-lab2</a:t>
            </a:r>
          </a:p>
          <a:p xmlns:a="http://schemas.openxmlformats.org/drawingml/2006/main">
            <a:r>
              <a:t>https://stitch.withgoogle.com/preview/10059602616228007293?node-id=f4c596c319264fa182ad8c2c92ebf951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1acf0252984f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0c57dc060546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be5c84d0024f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476eca34954c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61484bf19f4f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6cc2b204cf43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2DB91D-356F-4655-9625-FF9E079FE7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C06B5C-CA79-48D2-9CE6-D91DEF0A92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BA05D3-7373-4057-A24D-03EA252FEE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D1753B-B146-43BF-B60F-77C4DF0D62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95A265-ED01-4201-B385-E90222EBE3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0EF7AF-C41E-4B1F-8882-2BA35FAAD0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9DE67-CC28-4F09-A09A-AA605E6D6F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A0E750-19CA-43E7-B089-9A7F7090E7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784FC3-2C40-498C-AE03-4F581969B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F9D87B-BBA3-4A98-B7C7-B8AC6BC243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4f8607ea244465" /><Relationship Type="http://schemas.openxmlformats.org/officeDocument/2006/relationships/slideLayout" Target="/ppt/slideLayouts/slideLayout1.xml" Id="R2a693995c90347c8" /><Relationship Type="http://schemas.openxmlformats.org/officeDocument/2006/relationships/slideLayout" Target="/ppt/slideLayouts/slideLayout2.xml" Id="R8303f1a349a647dc" /><Relationship Type="http://schemas.openxmlformats.org/officeDocument/2006/relationships/slideLayout" Target="/ppt/slideLayouts/slideLayout3.xml" Id="R23ec157756534a1c" /><Relationship Type="http://schemas.openxmlformats.org/officeDocument/2006/relationships/slideLayout" Target="/ppt/slideLayouts/slideLayout4.xml" Id="R9c94bc00d9d64f32" /><Relationship Type="http://schemas.openxmlformats.org/officeDocument/2006/relationships/slideLayout" Target="/ppt/slideLayouts/slideLayout5.xml" Id="Rcbe2a341a145415b" /><Relationship Type="http://schemas.openxmlformats.org/officeDocument/2006/relationships/slideLayout" Target="/ppt/slideLayouts/slideLayout6.xml" Id="Rbade6c67f9d041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693995c90347c8"/>
    <p:sldLayoutId xmlns:r="http://schemas.openxmlformats.org/officeDocument/2006/relationships" id="2147483650" r:id="R8303f1a349a647dc"/>
    <p:sldLayoutId xmlns:r="http://schemas.openxmlformats.org/officeDocument/2006/relationships" id="2147483651" r:id="R23ec157756534a1c"/>
    <p:sldLayoutId xmlns:r="http://schemas.openxmlformats.org/officeDocument/2006/relationships" id="2147483652" r:id="R9c94bc00d9d64f32"/>
    <p:sldLayoutId xmlns:r="http://schemas.openxmlformats.org/officeDocument/2006/relationships" id="2147483653" r:id="Rcbe2a341a145415b"/>
    <p:sldLayoutId xmlns:r="http://schemas.openxmlformats.org/officeDocument/2006/relationships" id="2147483654" r:id="Rbade6c67f9d041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aa5336ab5743d5" /><Relationship Type="http://schemas.openxmlformats.org/officeDocument/2006/relationships/hyperlink" Target="https://stitch.withgoogle.com/preview/10059602616228007293?node-id=f4c596c319264fa182ad8c2c92ebf951" TargetMode="External" Id="Re887c47d47214246" /><Relationship Type="http://schemas.openxmlformats.org/officeDocument/2006/relationships/hyperlink" Target="https://github.com/HungUniverse/prm323-lab2" TargetMode="External" Id="R77e92be9d8e64b15" /><Relationship Type="http://schemas.openxmlformats.org/officeDocument/2006/relationships/notesSlide" Target="/ppt/notesSlides/notesSlide1.xml" Id="R1a9bf493bd5e46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dd390e8cc74d05" /><Relationship Type="http://schemas.openxmlformats.org/officeDocument/2006/relationships/notesSlide" Target="/ppt/notesSlides/notesSlide2.xml" Id="R8709838ef6c34a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dd921d7c2c4aed" /><Relationship Type="http://schemas.openxmlformats.org/officeDocument/2006/relationships/notesSlide" Target="/ppt/notesSlides/notesSlide3.xml" Id="R6f634991c46147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43068d52194ebd" /><Relationship Type="http://schemas.openxmlformats.org/officeDocument/2006/relationships/notesSlide" Target="/ppt/notesSlides/notesSlide4.xml" Id="Ra660a64a738447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7b41b3b328408c" /><Relationship Type="http://schemas.openxmlformats.org/officeDocument/2006/relationships/image" Target="/ppt/media/image.png" Id="R3c8bfba47ec542c1" /><Relationship Type="http://schemas.openxmlformats.org/officeDocument/2006/relationships/notesSlide" Target="/ppt/notesSlides/notesSlide5.xml" Id="R3a7de99dad5640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10a52b81de4f5e" /><Relationship Type="http://schemas.openxmlformats.org/officeDocument/2006/relationships/image" Target="/ppt/media/image2.png" Id="R0b31df048f494ace" /><Relationship Type="http://schemas.openxmlformats.org/officeDocument/2006/relationships/image" Target="/ppt/media/image3.png" Id="Rb6dc3ad0a14745ae" /><Relationship Type="http://schemas.openxmlformats.org/officeDocument/2006/relationships/notesSlide" Target="/ppt/notesSlides/notesSlide6.xml" Id="Rda0a4b842cf74a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b6bd22611541c8" /><Relationship Type="http://schemas.openxmlformats.org/officeDocument/2006/relationships/notesSlide" Target="/ppt/notesSlides/notesSlide7.xml" Id="R0d817f4b842f46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08a9cb45e04d59" /><Relationship Type="http://schemas.openxmlformats.org/officeDocument/2006/relationships/image" Target="/ppt/media/image4.png" Id="R95ea831d52a9488d" /><Relationship Type="http://schemas.openxmlformats.org/officeDocument/2006/relationships/image" Target="/ppt/media/image5.png" Id="R35bbaf6f1b6844c0" /><Relationship Type="http://schemas.openxmlformats.org/officeDocument/2006/relationships/image" Target="/ppt/media/image6.png" Id="R6ab539caba6e44f2" /><Relationship Type="http://schemas.openxmlformats.org/officeDocument/2006/relationships/image" Target="/ppt/media/image7.png" Id="Rb66e4bb30c484584" /><Relationship Type="http://schemas.openxmlformats.org/officeDocument/2006/relationships/image" Target="/ppt/media/image8.png" Id="R6de7a30b56314b11" /><Relationship Type="http://schemas.openxmlformats.org/officeDocument/2006/relationships/image" Target="/ppt/media/image9.png" Id="R4a778dd3dbeb44d5" /><Relationship Type="http://schemas.openxmlformats.org/officeDocument/2006/relationships/image" Target="/ppt/media/image10.png" Id="R656e7b2b0fc54ab6" /><Relationship Type="http://schemas.openxmlformats.org/officeDocument/2006/relationships/image" Target="/ppt/media/image11.png" Id="Ra5e1eb65a1d449e8" /><Relationship Type="http://schemas.openxmlformats.org/officeDocument/2006/relationships/image" Target="/ppt/media/image12.png" Id="Red7eccbc21494b49" /><Relationship Type="http://schemas.openxmlformats.org/officeDocument/2006/relationships/image" Target="/ppt/media/image13.png" Id="Re43940c7e6754e1a" /><Relationship Type="http://schemas.openxmlformats.org/officeDocument/2006/relationships/notesSlide" Target="/ppt/notesSlides/notesSlide8.xml" Id="Rd295a62fd83b41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c528a94be949f0" /><Relationship Type="http://schemas.openxmlformats.org/officeDocument/2006/relationships/notesSlide" Target="/ppt/notesSlides/notesSlide9.xml" Id="Rb708607358e942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6f58ceebd34ec4" /><Relationship Type="http://schemas.openxmlformats.org/officeDocument/2006/relationships/notesSlide" Target="/ppt/notesSlides/notesSlide10.xml" Id="R94f23117fa524a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e561ffaf9d4068" /><Relationship Type="http://schemas.openxmlformats.org/officeDocument/2006/relationships/hyperlink" Target="https://stitch.withgoogle.com/preview/10059602616228007293?node-id=f4c596c319264fa182ad8c2c92ebf951" TargetMode="External" Id="R73fb6e29e3e745c2" /><Relationship Type="http://schemas.openxmlformats.org/officeDocument/2006/relationships/image" Target="/ppt/media/image14.png" Id="Rcbd9ed50990347d1" /><Relationship Type="http://schemas.openxmlformats.org/officeDocument/2006/relationships/image" Target="/ppt/media/image15.png" Id="Reaf5cff240764e68" /><Relationship Type="http://schemas.openxmlformats.org/officeDocument/2006/relationships/notesSlide" Target="/ppt/notesSlides/notesSlide11.xml" Id="R06efd46da2eb4e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babf71c1e947ef" /><Relationship Type="http://schemas.openxmlformats.org/officeDocument/2006/relationships/hyperlink" Target="https://github.com/HungUniverse/prm323-lab2" TargetMode="External" Id="R6bf15262528146b5" /><Relationship Type="http://schemas.openxmlformats.org/officeDocument/2006/relationships/hyperlink" Target="https://stitch.withgoogle.com/preview/10059602616228007293?node-id=f4c596c319264fa182ad8c2c92ebf951" TargetMode="External" Id="R759a8895a5ea45a7" /><Relationship Type="http://schemas.openxmlformats.org/officeDocument/2006/relationships/notesSlide" Target="/ppt/notesSlides/notesSlide12.xml" Id="R591cfef1228240cc" /></Relationships>
</file>

<file path=ppt/slides/slide1.xml><?xml version="1.0" encoding="utf-8"?>
<p:sld xmlns:p="http://schemas.openxmlformats.org/presentationml/2006/main">
  <p:cSld>
    <p:bg>
      <p:bgPr>
        <a:solidFill xmlns:a="http://schemas.openxmlformats.org/drawingml/2006/main">
          <a:srgbClr val="FF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31F5C7-1E54-46F0-AC49-7B320F788028}"/>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FAP Attendance</a:t>
            </a:r>
          </a:p>
        </p:txBody>
      </p:sp>
      <p:sp>
        <p:nvSpPr>
          <p:cNvPr id="2" name="">
            <a:extLst xmlns:a="http://schemas.openxmlformats.org/drawingml/2006/main">
              <a:ext uri="{FF2B5EF4-FFF2-40B4-BE49-F238E27FC236}">
                <a16:creationId xmlns:a16="http://schemas.microsoft.com/office/drawing/2014/main" id="{0C056705-1BD0-42A5-B764-C5A259F2079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6FC9984-7718-4357-BB8B-D82C41D2EB57}"/>
              </a:ext>
            </a:extLst>
          </p:cNvPr>
          <p:cNvSpPr>
            <a:spLocks xmlns:a="http://schemas.openxmlformats.org/drawingml/2006/main" noGrp="1"/>
          </p:cNvSpPr>
          <p:nvPr/>
        </p:nvSpPr>
        <p:spPr>
          <a:xfrm xmlns:a="http://schemas.openxmlformats.org/drawingml/2006/main">
            <a:off x="609600" y="1619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3047"/>
                </a:solidFill>
                <a:latin typeface="Arial"/>
                <a:ea typeface="Arial"/>
                <a:cs typeface="Arial"/>
              </a:defRPr>
            </a:defPPr>
          </a:lstStyle>
          <a:p xmlns:a="http://schemas.openxmlformats.org/drawingml/2006/main">
            <a:pPr>
              <a:defRPr sz="3600" b="1">
                <a:solidFill>
                  <a:srgbClr val="243047"/>
                </a:solidFill>
                <a:latin typeface="Arial"/>
                <a:ea typeface="Arial"/>
                <a:cs typeface="Arial"/>
              </a:defRPr>
            </a:pPr>
            <a:r>
              <a:rPr sz="3600" b="1">
                <a:solidFill>
                  <a:srgbClr val="243047"/>
                </a:solidFill>
                <a:latin typeface="Arial"/>
                <a:ea typeface="Arial"/>
                <a:cs typeface="Arial"/>
              </a:rPr>
              <a:t>Thiết kế điểm danh mobile</a:t>
            </a:r>
          </a:p>
          <a:p xmlns:a="http://schemas.openxmlformats.org/drawingml/2006/main">
            <a:pPr>
              <a:defRPr sz="3600" b="1">
                <a:solidFill>
                  <a:srgbClr val="243047"/>
                </a:solidFill>
                <a:latin typeface="Arial"/>
                <a:ea typeface="Arial"/>
                <a:cs typeface="Arial"/>
              </a:defRPr>
            </a:pPr>
            <a:r>
              <a:rPr sz="3600" b="1">
                <a:solidFill>
                  <a:srgbClr val="243047"/>
                </a:solidFill>
                <a:latin typeface="Arial"/>
                <a:ea typeface="Arial"/>
                <a:cs typeface="Arial"/>
              </a:rPr>
              <a:t>cho giảng viên Đại học FPT</a:t>
            </a:r>
          </a:p>
        </p:txBody>
      </p:sp>
      <p:sp>
        <p:nvSpPr>
          <p:cNvPr id="4" name="">
            <a:extLst xmlns:a="http://schemas.openxmlformats.org/drawingml/2006/main">
              <a:ext uri="{FF2B5EF4-FFF2-40B4-BE49-F238E27FC236}">
                <a16:creationId xmlns:a16="http://schemas.microsoft.com/office/drawing/2014/main" id="{8A4D7199-2223-49D8-B6DE-6AE85A6AB8F2}"/>
              </a:ext>
            </a:extLst>
          </p:cNvPr>
          <p:cNvSpPr>
            <a:spLocks xmlns:a="http://schemas.openxmlformats.org/drawingml/2006/main" noGrp="1"/>
          </p:cNvSpPr>
          <p:nvPr/>
        </p:nvSpPr>
        <p:spPr>
          <a:xfrm xmlns:a="http://schemas.openxmlformats.org/drawingml/2006/main">
            <a:off x="609600" y="32385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PRM323 Lab 2</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Sinh viên: SE193324</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Vai trò: thiết kế, phản biện AI và tài liệu</a:t>
            </a:r>
          </a:p>
        </p:txBody>
      </p:sp>
      <p:sp>
        <p:nvSpPr>
          <p:cNvPr id="5" name="">
            <a:extLst xmlns:a="http://schemas.openxmlformats.org/drawingml/2006/main">
              <a:ext uri="{FF2B5EF4-FFF2-40B4-BE49-F238E27FC236}">
                <a16:creationId xmlns:a16="http://schemas.microsoft.com/office/drawing/2014/main" id="{91BCC72C-C2DD-4B2C-8B16-20608CDE6601}"/>
              </a:ext>
            </a:extLst>
          </p:cNvPr>
          <p:cNvSpPr>
            <a:spLocks xmlns:a="http://schemas.openxmlformats.org/drawingml/2006/main" noGrp="1"/>
          </p:cNvSpPr>
          <p:nvPr/>
        </p:nvSpPr>
        <p:spPr>
          <a:xfrm xmlns:a="http://schemas.openxmlformats.org/drawingml/2006/main">
            <a:off x="609600" y="5048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hlinkClick xmlns:r="http://schemas.openxmlformats.org/officeDocument/2006/relationships" r:id="Re887c47d47214246"/>
              </a:rPr>
              <a:t>Prototype trên Stitch</a:t>
            </a:r>
          </a:p>
        </p:txBody>
      </p:sp>
      <p:sp>
        <p:nvSpPr>
          <p:cNvPr id="6" name="">
            <a:extLst xmlns:a="http://schemas.openxmlformats.org/drawingml/2006/main">
              <a:ext uri="{FF2B5EF4-FFF2-40B4-BE49-F238E27FC236}">
                <a16:creationId xmlns:a16="http://schemas.microsoft.com/office/drawing/2014/main" id="{1ADD687C-E3FB-4375-AF57-E7A064FCE5E0}"/>
              </a:ext>
            </a:extLst>
          </p:cNvPr>
          <p:cNvSpPr>
            <a:spLocks xmlns:a="http://schemas.openxmlformats.org/drawingml/2006/main" noGrp="1"/>
          </p:cNvSpPr>
          <p:nvPr/>
        </p:nvSpPr>
        <p:spPr>
          <a:xfrm xmlns:a="http://schemas.openxmlformats.org/drawingml/2006/main">
            <a:off x="6286500" y="5048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hlinkClick xmlns:r="http://schemas.openxmlformats.org/officeDocument/2006/relationships" r:id="R77e92be9d8e64b15"/>
              </a:rPr>
              <a:t>Repository trên GitHub</a:t>
            </a:r>
          </a:p>
        </p:txBody>
      </p:sp>
      <p:sp>
        <p:nvSpPr>
          <p:cNvPr id="7" name="">
            <a:extLst xmlns:a="http://schemas.openxmlformats.org/drawingml/2006/main">
              <a:ext uri="{FF2B5EF4-FFF2-40B4-BE49-F238E27FC236}">
                <a16:creationId xmlns:a16="http://schemas.microsoft.com/office/drawing/2014/main" id="{A4CAFB70-5C08-4EBA-AF65-2CF19FE3C2EB}"/>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Phạm vi: UI/UX và prototype mô phỏng. Yêu cầu Figma chưa được miễn.</a:t>
            </a:r>
          </a:p>
        </p:txBody>
      </p:sp>
    </p:spTree>
    <p:extLst>
      <p:ext uri="{BB962C8B-B14F-4D97-AF65-F5344CB8AC3E}">
        <p14:creationId xmlns:p14="http://schemas.microsoft.com/office/powerpoint/2010/main" val="2028992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A95D3B-4ACF-49C4-83BE-4D874D43B718}"/>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Vấn đề và người dùng</a:t>
            </a:r>
          </a:p>
        </p:txBody>
      </p:sp>
      <p:sp>
        <p:nvSpPr>
          <p:cNvPr id="2" name="">
            <a:extLst xmlns:a="http://schemas.openxmlformats.org/drawingml/2006/main">
              <a:ext uri="{FF2B5EF4-FFF2-40B4-BE49-F238E27FC236}">
                <a16:creationId xmlns:a16="http://schemas.microsoft.com/office/drawing/2014/main" id="{2630C84C-B5DC-4777-A8DB-549ED5DC395F}"/>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DDFC57E-9A30-42A6-B28C-04469EE5E879}"/>
              </a:ext>
            </a:extLst>
          </p:cNvPr>
          <p:cNvSpPr>
            <a:spLocks xmlns:a="http://schemas.openxmlformats.org/drawingml/2006/main" noGrp="1"/>
          </p:cNvSpPr>
          <p:nvPr/>
        </p:nvSpPr>
        <p:spPr>
          <a:xfrm xmlns:a="http://schemas.openxmlformats.org/drawingml/2006/main">
            <a:off x="609600" y="14287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stStyle>
          <a:p xmlns:a="http://schemas.openxmlformats.org/drawingml/2006/main">
            <a:pPr>
              <a:defRPr sz="2250" b="1">
                <a:solidFill>
                  <a:srgbClr val="C93C13"/>
                </a:solidFill>
                <a:latin typeface="Arial"/>
                <a:ea typeface="Arial"/>
                <a:cs typeface="Arial"/>
              </a:defRPr>
            </a:pPr>
            <a:r>
              <a:rPr sz="2250" b="1">
                <a:solidFill>
                  <a:srgbClr val="C93C13"/>
                </a:solidFill>
                <a:latin typeface="Arial"/>
                <a:ea typeface="Arial"/>
                <a:cs typeface="Arial"/>
              </a:rPr>
              <a:t>Người dùng</a:t>
            </a:r>
          </a:p>
        </p:txBody>
      </p:sp>
      <p:sp>
        <p:nvSpPr>
          <p:cNvPr id="4" name="">
            <a:extLst xmlns:a="http://schemas.openxmlformats.org/drawingml/2006/main">
              <a:ext uri="{FF2B5EF4-FFF2-40B4-BE49-F238E27FC236}">
                <a16:creationId xmlns:a16="http://schemas.microsoft.com/office/drawing/2014/main" id="{22D669A6-F471-44D3-8DAE-02331BF528F8}"/>
              </a:ext>
            </a:extLst>
          </p:cNvPr>
          <p:cNvSpPr>
            <a:spLocks xmlns:a="http://schemas.openxmlformats.org/drawingml/2006/main" noGrp="1"/>
          </p:cNvSpPr>
          <p:nvPr/>
        </p:nvSpPr>
        <p:spPr>
          <a:xfrm xmlns:a="http://schemas.openxmlformats.org/drawingml/2006/main">
            <a:off x="609600" y="18954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Giảng viên quản lý nhiều lớp</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Thao tác trên điện thoại</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Có thể gặp mạng không ổn định</a:t>
            </a:r>
          </a:p>
        </p:txBody>
      </p:sp>
      <p:sp>
        <p:nvSpPr>
          <p:cNvPr id="5" name="">
            <a:extLst xmlns:a="http://schemas.openxmlformats.org/drawingml/2006/main">
              <a:ext uri="{FF2B5EF4-FFF2-40B4-BE49-F238E27FC236}">
                <a16:creationId xmlns:a16="http://schemas.microsoft.com/office/drawing/2014/main" id="{AC2C7885-9017-4464-B5EF-CB4BE7050F1D}"/>
              </a:ext>
            </a:extLst>
          </p:cNvPr>
          <p:cNvSpPr>
            <a:spLocks xmlns:a="http://schemas.openxmlformats.org/drawingml/2006/main" noGrp="1"/>
          </p:cNvSpPr>
          <p:nvPr/>
        </p:nvSpPr>
        <p:spPr>
          <a:xfrm xmlns:a="http://schemas.openxmlformats.org/drawingml/2006/main">
            <a:off x="6381750" y="1428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stStyle>
          <a:p xmlns:a="http://schemas.openxmlformats.org/drawingml/2006/main">
            <a:pPr>
              <a:defRPr sz="2250" b="1">
                <a:solidFill>
                  <a:srgbClr val="C93C13"/>
                </a:solidFill>
                <a:latin typeface="Arial"/>
                <a:ea typeface="Arial"/>
                <a:cs typeface="Arial"/>
              </a:defRPr>
            </a:pPr>
            <a:r>
              <a:rPr sz="2250" b="1">
                <a:solidFill>
                  <a:srgbClr val="C93C13"/>
                </a:solidFill>
                <a:latin typeface="Arial"/>
                <a:ea typeface="Arial"/>
                <a:cs typeface="Arial"/>
              </a:rPr>
              <a:t>Khó khăn</a:t>
            </a:r>
          </a:p>
        </p:txBody>
      </p:sp>
      <p:sp>
        <p:nvSpPr>
          <p:cNvPr id="6" name="">
            <a:extLst xmlns:a="http://schemas.openxmlformats.org/drawingml/2006/main">
              <a:ext uri="{FF2B5EF4-FFF2-40B4-BE49-F238E27FC236}">
                <a16:creationId xmlns:a16="http://schemas.microsoft.com/office/drawing/2014/main" id="{BF0E8C08-0A19-428D-BEB8-28CDD8AE9155}"/>
              </a:ext>
            </a:extLst>
          </p:cNvPr>
          <p:cNvSpPr>
            <a:spLocks xmlns:a="http://schemas.openxmlformats.org/drawingml/2006/main" noGrp="1"/>
          </p:cNvSpPr>
          <p:nvPr/>
        </p:nvSpPr>
        <p:spPr>
          <a:xfrm xmlns:a="http://schemas.openxmlformats.org/drawingml/2006/main">
            <a:off x="6381750" y="189547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Dễ nhầm lớp, ngày hoặc buổi học</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Khó đọc và đối chiếu kết quả</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Không rõ trạng thái lưu / sao lưu</a:t>
            </a:r>
          </a:p>
        </p:txBody>
      </p:sp>
      <p:sp>
        <p:nvSpPr>
          <p:cNvPr id="7" name="">
            <a:extLst xmlns:a="http://schemas.openxmlformats.org/drawingml/2006/main">
              <a:ext uri="{FF2B5EF4-FFF2-40B4-BE49-F238E27FC236}">
                <a16:creationId xmlns:a16="http://schemas.microsoft.com/office/drawing/2014/main" id="{20B154CC-26BB-49AD-B2B1-F719EC1A5E77}"/>
              </a:ext>
            </a:extLst>
          </p:cNvPr>
          <p:cNvSpPr>
            <a:spLocks xmlns:a="http://schemas.openxmlformats.org/drawingml/2006/main" noGrp="1"/>
          </p:cNvSpPr>
          <p:nvPr/>
        </p:nvSpPr>
        <p:spPr>
          <a:xfrm xmlns:a="http://schemas.openxmlformats.org/drawingml/2006/main">
            <a:off x="609600" y="3524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stStyle>
          <a:p xmlns:a="http://schemas.openxmlformats.org/drawingml/2006/main">
            <a:pPr>
              <a:defRPr sz="2250" b="1">
                <a:solidFill>
                  <a:srgbClr val="C93C13"/>
                </a:solidFill>
                <a:latin typeface="Arial"/>
                <a:ea typeface="Arial"/>
                <a:cs typeface="Arial"/>
              </a:defRPr>
            </a:pPr>
            <a:r>
              <a:rPr sz="2250" b="1">
                <a:solidFill>
                  <a:srgbClr val="C93C13"/>
                </a:solidFill>
                <a:latin typeface="Arial"/>
                <a:ea typeface="Arial"/>
                <a:cs typeface="Arial"/>
              </a:rPr>
              <a:t>Bài toán thiết kế</a:t>
            </a:r>
          </a:p>
        </p:txBody>
      </p:sp>
      <p:sp>
        <p:nvSpPr>
          <p:cNvPr id="8" name="">
            <a:extLst xmlns:a="http://schemas.openxmlformats.org/drawingml/2006/main">
              <a:ext uri="{FF2B5EF4-FFF2-40B4-BE49-F238E27FC236}">
                <a16:creationId xmlns:a16="http://schemas.microsoft.com/office/drawing/2014/main" id="{9F844203-4FCC-48C7-BB3D-BFC4E028235A}"/>
              </a:ext>
            </a:extLst>
          </p:cNvPr>
          <p:cNvSpPr>
            <a:spLocks xmlns:a="http://schemas.openxmlformats.org/drawingml/2006/main" noGrp="1"/>
          </p:cNvSpPr>
          <p:nvPr/>
        </p:nvSpPr>
        <p:spPr>
          <a:xfrm xmlns:a="http://schemas.openxmlformats.org/drawingml/2006/main">
            <a:off x="609600" y="40195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43047"/>
                </a:solidFill>
                <a:latin typeface="Arial"/>
                <a:ea typeface="Arial"/>
                <a:cs typeface="Arial"/>
              </a:defRPr>
            </a:defPPr>
          </a:lstStyle>
          <a:p xmlns:a="http://schemas.openxmlformats.org/drawingml/2006/main">
            <a:pPr>
              <a:defRPr sz="2250" b="0">
                <a:solidFill>
                  <a:srgbClr val="243047"/>
                </a:solidFill>
                <a:latin typeface="Arial"/>
                <a:ea typeface="Arial"/>
                <a:cs typeface="Arial"/>
              </a:defRPr>
            </a:pPr>
            <a:r>
              <a:rPr sz="2250" b="0">
                <a:solidFill>
                  <a:srgbClr val="243047"/>
                </a:solidFill>
                <a:latin typeface="Arial"/>
                <a:ea typeface="Arial"/>
                <a:cs typeface="Arial"/>
              </a:rPr>
              <a:t>Tìm đúng buổi học, sửa sai có lý do và nhận biết kết quả đã lưu.</a:t>
            </a:r>
          </a:p>
        </p:txBody>
      </p:sp>
      <p:sp>
        <p:nvSpPr>
          <p:cNvPr id="9" name="">
            <a:extLst xmlns:a="http://schemas.openxmlformats.org/drawingml/2006/main">
              <a:ext uri="{FF2B5EF4-FFF2-40B4-BE49-F238E27FC236}">
                <a16:creationId xmlns:a16="http://schemas.microsoft.com/office/drawing/2014/main" id="{DAD18D4C-40DE-43DC-A055-4F6025C764C2}"/>
              </a:ext>
            </a:extLst>
          </p:cNvPr>
          <p:cNvSpPr>
            <a:spLocks xmlns:a="http://schemas.openxmlformats.org/drawingml/2006/main" noGrp="1"/>
          </p:cNvSpPr>
          <p:nvPr/>
        </p:nvSpPr>
        <p:spPr>
          <a:xfrm xmlns:a="http://schemas.openxmlformats.org/drawingml/2006/main">
            <a:off x="609600" y="49530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Mục tiêu kiểm thử</a:t>
            </a:r>
          </a:p>
        </p:txBody>
      </p:sp>
      <p:sp>
        <p:nvSpPr>
          <p:cNvPr id="10" name="">
            <a:extLst xmlns:a="http://schemas.openxmlformats.org/drawingml/2006/main">
              <a:ext uri="{FF2B5EF4-FFF2-40B4-BE49-F238E27FC236}">
                <a16:creationId xmlns:a16="http://schemas.microsoft.com/office/drawing/2014/main" id="{2C1B606D-3028-49A0-9D4F-0053DDF75C43}"/>
              </a:ext>
            </a:extLst>
          </p:cNvPr>
          <p:cNvSpPr>
            <a:spLocks xmlns:a="http://schemas.openxmlformats.org/drawingml/2006/main" noGrp="1"/>
          </p:cNvSpPr>
          <p:nvPr/>
        </p:nvSpPr>
        <p:spPr>
          <a:xfrm xmlns:a="http://schemas.openxmlformats.org/drawingml/2006/main">
            <a:off x="609600" y="5429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stStyle>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Tìm lớp ≤15 giây     Mở QR ≤20 giây     Sửa kết quả ≤30 giây</a:t>
            </a:r>
          </a:p>
        </p:txBody>
      </p:sp>
      <p:sp>
        <p:nvSpPr>
          <p:cNvPr id="11" name="">
            <a:extLst xmlns:a="http://schemas.openxmlformats.org/drawingml/2006/main">
              <a:ext uri="{FF2B5EF4-FFF2-40B4-BE49-F238E27FC236}">
                <a16:creationId xmlns:a16="http://schemas.microsoft.com/office/drawing/2014/main" id="{FFBF37A4-5D98-4023-A1C5-373D268D8938}"/>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Nhu cầu và chỉ tiêu là giả định thiết kế, chưa có kết quả kiểm thử người dùng.</a:t>
            </a:r>
          </a:p>
        </p:txBody>
      </p:sp>
    </p:spTree>
    <p:extLst>
      <p:ext uri="{BB962C8B-B14F-4D97-AF65-F5344CB8AC3E}">
        <p14:creationId xmlns:p14="http://schemas.microsoft.com/office/powerpoint/2010/main" val="9290084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8F9B9406-6025-4711-8030-ADC9C35AD6DE}"/>
              </a:ext>
            </a:extLst>
          </p:cNvPr>
          <p:cNvCxnSpPr>
            <a:stCxn xmlns:a="http://schemas.openxmlformats.org/drawingml/2006/main" id="17" idx="3"/>
            <a:endCxn xmlns:a="http://schemas.openxmlformats.org/drawingml/2006/main" id="18" idx="1"/>
          </p:cNvCxnSpPr>
          <p:nvPr/>
        </p:nvCxnSpPr>
        <p:spPr>
          <a:xfrm xmlns:a="http://schemas.openxmlformats.org/drawingml/2006/main">
            <a:off x="8429625" y="4743450"/>
            <a:ext cx="8572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933FAA99-1B79-494F-96A6-12702711027C}"/>
              </a:ext>
            </a:extLst>
          </p:cNvPr>
          <p:cNvCxnSpPr>
            <a:stCxn xmlns:a="http://schemas.openxmlformats.org/drawingml/2006/main" id="17" idx="2"/>
            <a:endCxn xmlns:a="http://schemas.openxmlformats.org/drawingml/2006/main" id="23" idx="0"/>
          </p:cNvCxnSpPr>
          <p:nvPr/>
        </p:nvCxnSpPr>
        <p:spPr>
          <a:xfrm xmlns:a="http://schemas.openxmlformats.org/drawingml/2006/main">
            <a:off x="7310438" y="5029200"/>
            <a:ext cx="0" cy="352425"/>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A8966B12-FF1B-4603-AE8B-69DB3E921DDA}"/>
              </a:ext>
            </a:extLst>
          </p:cNvPr>
          <p:cNvCxnSpPr>
            <a:stCxn xmlns:a="http://schemas.openxmlformats.org/drawingml/2006/main" id="13" idx="2"/>
            <a:endCxn xmlns:a="http://schemas.openxmlformats.org/drawingml/2006/main" id="18" idx="0"/>
          </p:cNvCxnSpPr>
          <p:nvPr/>
        </p:nvCxnSpPr>
        <p:spPr>
          <a:xfrm xmlns:a="http://schemas.openxmlformats.org/drawingml/2006/main">
            <a:off x="7381875" y="3743325"/>
            <a:ext cx="3048000"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99BAA6F0-D4E7-4407-8B3E-F2A09385A28B}"/>
              </a:ext>
            </a:extLst>
          </p:cNvPr>
          <p:cNvCxnSpPr>
            <a:stCxn xmlns:a="http://schemas.openxmlformats.org/drawingml/2006/main" id="13" idx="2"/>
            <a:endCxn xmlns:a="http://schemas.openxmlformats.org/drawingml/2006/main" id="17" idx="0"/>
          </p:cNvCxnSpPr>
          <p:nvPr/>
        </p:nvCxnSpPr>
        <p:spPr>
          <a:xfrm xmlns:a="http://schemas.openxmlformats.org/drawingml/2006/main" flipH="1">
            <a:off x="7310438" y="3743325"/>
            <a:ext cx="71438"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5C72863-8427-489C-B60C-A22664FF305E}"/>
              </a:ext>
            </a:extLst>
          </p:cNvPr>
          <p:cNvCxnSpPr>
            <a:stCxn xmlns:a="http://schemas.openxmlformats.org/drawingml/2006/main" id="13" idx="2"/>
            <a:endCxn xmlns:a="http://schemas.openxmlformats.org/drawingml/2006/main" id="16" idx="0"/>
          </p:cNvCxnSpPr>
          <p:nvPr/>
        </p:nvCxnSpPr>
        <p:spPr>
          <a:xfrm xmlns:a="http://schemas.openxmlformats.org/drawingml/2006/main" flipH="1">
            <a:off x="4500563" y="3743325"/>
            <a:ext cx="2881313"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93F993E-11D9-4112-8255-8FD9B2FC42AB}"/>
              </a:ext>
            </a:extLst>
          </p:cNvPr>
          <p:cNvCxnSpPr>
            <a:stCxn xmlns:a="http://schemas.openxmlformats.org/drawingml/2006/main" id="13" idx="2"/>
            <a:endCxn xmlns:a="http://schemas.openxmlformats.org/drawingml/2006/main" id="15" idx="0"/>
          </p:cNvCxnSpPr>
          <p:nvPr/>
        </p:nvCxnSpPr>
        <p:spPr>
          <a:xfrm xmlns:a="http://schemas.openxmlformats.org/drawingml/2006/main" flipH="1">
            <a:off x="1728788" y="3743325"/>
            <a:ext cx="5653088"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DBB13D61-26B8-41CA-BFEF-242F3F67B7FF}"/>
              </a:ext>
            </a:extLst>
          </p:cNvPr>
          <p:cNvCxnSpPr>
            <a:stCxn xmlns:a="http://schemas.openxmlformats.org/drawingml/2006/main" id="7" idx="2"/>
            <a:endCxn xmlns:a="http://schemas.openxmlformats.org/drawingml/2006/main" id="13" idx="0"/>
          </p:cNvCxnSpPr>
          <p:nvPr/>
        </p:nvCxnSpPr>
        <p:spPr>
          <a:xfrm xmlns:a="http://schemas.openxmlformats.org/drawingml/2006/main">
            <a:off x="7381875" y="2428875"/>
            <a:ext cx="0" cy="74295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CA2C9775-E3F2-4CC2-9A99-CE0420C9DBB0}"/>
              </a:ext>
            </a:extLst>
          </p:cNvPr>
          <p:cNvCxnSpPr>
            <a:stCxn xmlns:a="http://schemas.openxmlformats.org/drawingml/2006/main" id="7" idx="3"/>
            <a:endCxn xmlns:a="http://schemas.openxmlformats.org/drawingml/2006/main" id="8" idx="1"/>
          </p:cNvCxnSpPr>
          <p:nvPr/>
        </p:nvCxnSpPr>
        <p:spPr>
          <a:xfrm xmlns:a="http://schemas.openxmlformats.org/drawingml/2006/main">
            <a:off x="8667750" y="2143125"/>
            <a:ext cx="71437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2C91E0F1-AE85-4F36-B687-05157615A903}"/>
              </a:ext>
            </a:extLst>
          </p:cNvPr>
          <p:cNvCxnSpPr>
            <a:stCxn xmlns:a="http://schemas.openxmlformats.org/drawingml/2006/main" id="6" idx="3"/>
            <a:endCxn xmlns:a="http://schemas.openxmlformats.org/drawingml/2006/main" id="7" idx="1"/>
          </p:cNvCxnSpPr>
          <p:nvPr/>
        </p:nvCxnSpPr>
        <p:spPr>
          <a:xfrm xmlns:a="http://schemas.openxmlformats.org/drawingml/2006/main">
            <a:off x="5429250" y="2143125"/>
            <a:ext cx="6667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EF4A6C3A-8688-4BD2-A3E2-1FAE87A70ECB}"/>
              </a:ext>
            </a:extLst>
          </p:cNvPr>
          <p:cNvCxnSpPr>
            <a:stCxn xmlns:a="http://schemas.openxmlformats.org/drawingml/2006/main" id="5" idx="3"/>
            <a:endCxn xmlns:a="http://schemas.openxmlformats.org/drawingml/2006/main" id="6" idx="1"/>
          </p:cNvCxnSpPr>
          <p:nvPr/>
        </p:nvCxnSpPr>
        <p:spPr>
          <a:xfrm xmlns:a="http://schemas.openxmlformats.org/drawingml/2006/main">
            <a:off x="2609850" y="2143125"/>
            <a:ext cx="6286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C44A9DF2-49DC-45B1-9440-259A57CD1067}"/>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Cấu trúc điều hướng của 10 màn hình</a:t>
            </a:r>
          </a:p>
        </p:txBody>
      </p:sp>
      <p:sp>
        <p:nvSpPr>
          <p:cNvPr id="2" name="">
            <a:extLst xmlns:a="http://schemas.openxmlformats.org/drawingml/2006/main">
              <a:ext uri="{FF2B5EF4-FFF2-40B4-BE49-F238E27FC236}">
                <a16:creationId xmlns:a16="http://schemas.microsoft.com/office/drawing/2014/main" id="{51EE47D9-59E0-497D-AC86-EB27F5CE68D1}"/>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20F69D7-D2C0-4712-8900-FA793D6E2CE6}"/>
              </a:ext>
            </a:extLst>
          </p:cNvPr>
          <p:cNvSpPr>
            <a:spLocks xmlns:a="http://schemas.openxmlformats.org/drawingml/2006/main" noGrp="1"/>
          </p:cNvSpPr>
          <p:nvPr/>
        </p:nvSpPr>
        <p:spPr>
          <a:xfrm xmlns:a="http://schemas.openxmlformats.org/drawingml/2006/main">
            <a:off x="609600" y="1333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Điểm vào</a:t>
            </a:r>
          </a:p>
        </p:txBody>
      </p:sp>
      <p:sp>
        <p:nvSpPr>
          <p:cNvPr id="4" name="">
            <a:extLst xmlns:a="http://schemas.openxmlformats.org/drawingml/2006/main">
              <a:ext uri="{FF2B5EF4-FFF2-40B4-BE49-F238E27FC236}">
                <a16:creationId xmlns:a16="http://schemas.microsoft.com/office/drawing/2014/main" id="{B8F37962-26BB-4C38-BCF7-0FD1F6149F9B}"/>
              </a:ext>
            </a:extLst>
          </p:cNvPr>
          <p:cNvSpPr>
            <a:spLocks xmlns:a="http://schemas.openxmlformats.org/drawingml/2006/main" noGrp="1"/>
          </p:cNvSpPr>
          <p:nvPr/>
        </p:nvSpPr>
        <p:spPr>
          <a:xfrm xmlns:a="http://schemas.openxmlformats.org/drawingml/2006/main">
            <a:off x="6096000" y="13335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Khi có workspace</a:t>
            </a:r>
          </a:p>
        </p:txBody>
      </p:sp>
      <p:sp>
        <p:nvSpPr>
          <p:cNvPr id="5" name="">
            <a:extLst xmlns:a="http://schemas.openxmlformats.org/drawingml/2006/main">
              <a:ext uri="{FF2B5EF4-FFF2-40B4-BE49-F238E27FC236}">
                <a16:creationId xmlns:a16="http://schemas.microsoft.com/office/drawing/2014/main" id="{CBBBB92C-45D5-48E7-A624-A8E8DF719AC6}"/>
              </a:ext>
            </a:extLst>
          </p:cNvPr>
          <p:cNvSpPr>
            <a:spLocks xmlns:a="http://schemas.openxmlformats.org/drawingml/2006/main" noGrp="1"/>
          </p:cNvSpPr>
          <p:nvPr/>
        </p:nvSpPr>
        <p:spPr>
          <a:xfrm xmlns:a="http://schemas.openxmlformats.org/drawingml/2006/main">
            <a:off x="609600" y="1857375"/>
            <a:ext cx="20002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Bắt đầu</a:t>
            </a:r>
          </a:p>
        </p:txBody>
      </p:sp>
      <p:sp>
        <p:nvSpPr>
          <p:cNvPr id="6" name="">
            <a:extLst xmlns:a="http://schemas.openxmlformats.org/drawingml/2006/main">
              <a:ext uri="{FF2B5EF4-FFF2-40B4-BE49-F238E27FC236}">
                <a16:creationId xmlns:a16="http://schemas.microsoft.com/office/drawing/2014/main" id="{985304B8-90EB-474F-BCF2-0932D5266D0C}"/>
              </a:ext>
            </a:extLst>
          </p:cNvPr>
          <p:cNvSpPr>
            <a:spLocks xmlns:a="http://schemas.openxmlformats.org/drawingml/2006/main" noGrp="1"/>
          </p:cNvSpPr>
          <p:nvPr/>
        </p:nvSpPr>
        <p:spPr>
          <a:xfrm xmlns:a="http://schemas.openxmlformats.org/drawingml/2006/main">
            <a:off x="3238500" y="1857375"/>
            <a:ext cx="21907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Import markbook</a:t>
            </a:r>
          </a:p>
        </p:txBody>
      </p:sp>
      <p:sp>
        <p:nvSpPr>
          <p:cNvPr id="7" name="">
            <a:extLst xmlns:a="http://schemas.openxmlformats.org/drawingml/2006/main">
              <a:ext uri="{FF2B5EF4-FFF2-40B4-BE49-F238E27FC236}">
                <a16:creationId xmlns:a16="http://schemas.microsoft.com/office/drawing/2014/main" id="{B3EDB47D-1D8A-4975-ADC5-8BEA2E9ABA2E}"/>
              </a:ext>
            </a:extLst>
          </p:cNvPr>
          <p:cNvSpPr>
            <a:spLocks xmlns:a="http://schemas.openxmlformats.org/drawingml/2006/main" noGrp="1"/>
          </p:cNvSpPr>
          <p:nvPr/>
        </p:nvSpPr>
        <p:spPr>
          <a:xfrm xmlns:a="http://schemas.openxmlformats.org/drawingml/2006/main">
            <a:off x="6096000" y="1857375"/>
            <a:ext cx="2571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Lịch / danh sách lớp</a:t>
            </a:r>
          </a:p>
        </p:txBody>
      </p:sp>
      <p:sp>
        <p:nvSpPr>
          <p:cNvPr id="8" name="">
            <a:extLst xmlns:a="http://schemas.openxmlformats.org/drawingml/2006/main">
              <a:ext uri="{FF2B5EF4-FFF2-40B4-BE49-F238E27FC236}">
                <a16:creationId xmlns:a16="http://schemas.microsoft.com/office/drawing/2014/main" id="{A8FDFD47-ADB9-4C8E-A722-2FD48E361F7D}"/>
              </a:ext>
            </a:extLst>
          </p:cNvPr>
          <p:cNvSpPr>
            <a:spLocks xmlns:a="http://schemas.openxmlformats.org/drawingml/2006/main" noGrp="1"/>
          </p:cNvSpPr>
          <p:nvPr/>
        </p:nvSpPr>
        <p:spPr>
          <a:xfrm xmlns:a="http://schemas.openxmlformats.org/drawingml/2006/main">
            <a:off x="9382125" y="1857375"/>
            <a:ext cx="2190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Google Drive</a:t>
            </a:r>
          </a:p>
        </p:txBody>
      </p:sp>
      <p:sp>
        <p:nvSpPr>
          <p:cNvPr id="12" name="">
            <a:extLst xmlns:a="http://schemas.openxmlformats.org/drawingml/2006/main">
              <a:ext uri="{FF2B5EF4-FFF2-40B4-BE49-F238E27FC236}">
                <a16:creationId xmlns:a16="http://schemas.microsoft.com/office/drawing/2014/main" id="{0754C2AA-1285-42B3-B2FC-D160851395D6}"/>
              </a:ext>
            </a:extLst>
          </p:cNvPr>
          <p:cNvSpPr>
            <a:spLocks xmlns:a="http://schemas.openxmlformats.org/drawingml/2006/main" noGrp="1"/>
          </p:cNvSpPr>
          <p:nvPr/>
        </p:nvSpPr>
        <p:spPr>
          <a:xfrm xmlns:a="http://schemas.openxmlformats.org/drawingml/2006/main">
            <a:off x="6143625" y="260985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Hai điểm đến cấp cao</a:t>
            </a:r>
          </a:p>
        </p:txBody>
      </p:sp>
      <p:sp>
        <p:nvSpPr>
          <p:cNvPr id="13" name="">
            <a:extLst xmlns:a="http://schemas.openxmlformats.org/drawingml/2006/main">
              <a:ext uri="{FF2B5EF4-FFF2-40B4-BE49-F238E27FC236}">
                <a16:creationId xmlns:a16="http://schemas.microsoft.com/office/drawing/2014/main" id="{BE73B52F-0F38-47A4-BC18-34C2937B3735}"/>
              </a:ext>
            </a:extLst>
          </p:cNvPr>
          <p:cNvSpPr>
            <a:spLocks xmlns:a="http://schemas.openxmlformats.org/drawingml/2006/main" noGrp="1"/>
          </p:cNvSpPr>
          <p:nvPr/>
        </p:nvSpPr>
        <p:spPr>
          <a:xfrm xmlns:a="http://schemas.openxmlformats.org/drawingml/2006/main">
            <a:off x="6096000" y="3171825"/>
            <a:ext cx="2571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Điểm danh lớp</a:t>
            </a:r>
          </a:p>
        </p:txBody>
      </p:sp>
      <p:sp>
        <p:nvSpPr>
          <p:cNvPr id="15" name="">
            <a:extLst xmlns:a="http://schemas.openxmlformats.org/drawingml/2006/main">
              <a:ext uri="{FF2B5EF4-FFF2-40B4-BE49-F238E27FC236}">
                <a16:creationId xmlns:a16="http://schemas.microsoft.com/office/drawing/2014/main" id="{9001CE01-E2E8-49D6-AE24-2A80F9A697E2}"/>
              </a:ext>
            </a:extLst>
          </p:cNvPr>
          <p:cNvSpPr>
            <a:spLocks xmlns:a="http://schemas.openxmlformats.org/drawingml/2006/main" noGrp="1"/>
          </p:cNvSpPr>
          <p:nvPr/>
        </p:nvSpPr>
        <p:spPr>
          <a:xfrm xmlns:a="http://schemas.openxmlformats.org/drawingml/2006/main">
            <a:off x="609600"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Cấu hình lịch</a:t>
            </a:r>
          </a:p>
        </p:txBody>
      </p:sp>
      <p:sp>
        <p:nvSpPr>
          <p:cNvPr id="16" name="">
            <a:extLst xmlns:a="http://schemas.openxmlformats.org/drawingml/2006/main">
              <a:ext uri="{FF2B5EF4-FFF2-40B4-BE49-F238E27FC236}">
                <a16:creationId xmlns:a16="http://schemas.microsoft.com/office/drawing/2014/main" id="{9E0F9CC7-CC7F-48F7-8933-BA2D9D09266A}"/>
              </a:ext>
            </a:extLst>
          </p:cNvPr>
          <p:cNvSpPr>
            <a:spLocks xmlns:a="http://schemas.openxmlformats.org/drawingml/2006/main" noGrp="1"/>
          </p:cNvSpPr>
          <p:nvPr/>
        </p:nvSpPr>
        <p:spPr>
          <a:xfrm xmlns:a="http://schemas.openxmlformats.org/drawingml/2006/main">
            <a:off x="3381375"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QR điểm danh</a:t>
            </a:r>
          </a:p>
        </p:txBody>
      </p:sp>
      <p:sp>
        <p:nvSpPr>
          <p:cNvPr id="17" name="">
            <a:extLst xmlns:a="http://schemas.openxmlformats.org/drawingml/2006/main">
              <a:ext uri="{FF2B5EF4-FFF2-40B4-BE49-F238E27FC236}">
                <a16:creationId xmlns:a16="http://schemas.microsoft.com/office/drawing/2014/main" id="{8B1ABEEE-55DE-4941-8B95-2A6A9CC41F8F}"/>
              </a:ext>
            </a:extLst>
          </p:cNvPr>
          <p:cNvSpPr>
            <a:spLocks xmlns:a="http://schemas.openxmlformats.org/drawingml/2006/main" noGrp="1"/>
          </p:cNvSpPr>
          <p:nvPr/>
        </p:nvSpPr>
        <p:spPr>
          <a:xfrm xmlns:a="http://schemas.openxmlformats.org/drawingml/2006/main">
            <a:off x="6191250"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Lịch sử lớp</a:t>
            </a:r>
          </a:p>
        </p:txBody>
      </p:sp>
      <p:sp>
        <p:nvSpPr>
          <p:cNvPr id="18" name="">
            <a:extLst xmlns:a="http://schemas.openxmlformats.org/drawingml/2006/main">
              <a:ext uri="{FF2B5EF4-FFF2-40B4-BE49-F238E27FC236}">
                <a16:creationId xmlns:a16="http://schemas.microsoft.com/office/drawing/2014/main" id="{3C54BAB7-7545-4A87-A9D7-50BC4A8B2840}"/>
              </a:ext>
            </a:extLst>
          </p:cNvPr>
          <p:cNvSpPr>
            <a:spLocks xmlns:a="http://schemas.openxmlformats.org/drawingml/2006/main" noGrp="1"/>
          </p:cNvSpPr>
          <p:nvPr/>
        </p:nvSpPr>
        <p:spPr>
          <a:xfrm xmlns:a="http://schemas.openxmlformats.org/drawingml/2006/main">
            <a:off x="9286875" y="4457700"/>
            <a:ext cx="22860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Chi tiết sinh viên</a:t>
            </a:r>
          </a:p>
        </p:txBody>
      </p:sp>
      <p:sp>
        <p:nvSpPr>
          <p:cNvPr id="23" name="">
            <a:extLst xmlns:a="http://schemas.openxmlformats.org/drawingml/2006/main">
              <a:ext uri="{FF2B5EF4-FFF2-40B4-BE49-F238E27FC236}">
                <a16:creationId xmlns:a16="http://schemas.microsoft.com/office/drawing/2014/main" id="{52FFDDDE-0099-42E5-846E-7A40B5F44042}"/>
              </a:ext>
            </a:extLst>
          </p:cNvPr>
          <p:cNvSpPr>
            <a:spLocks xmlns:a="http://schemas.openxmlformats.org/drawingml/2006/main" noGrp="1"/>
          </p:cNvSpPr>
          <p:nvPr/>
        </p:nvSpPr>
        <p:spPr>
          <a:xfrm xmlns:a="http://schemas.openxmlformats.org/drawingml/2006/main">
            <a:off x="6191250" y="5381625"/>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Xuất kết quả</a:t>
            </a:r>
          </a:p>
        </p:txBody>
      </p:sp>
      <p:sp>
        <p:nvSpPr>
          <p:cNvPr id="26" name="">
            <a:extLst xmlns:a="http://schemas.openxmlformats.org/drawingml/2006/main">
              <a:ext uri="{FF2B5EF4-FFF2-40B4-BE49-F238E27FC236}">
                <a16:creationId xmlns:a16="http://schemas.microsoft.com/office/drawing/2014/main" id="{89378892-E44A-4451-B0D7-4B7D37CC061B}"/>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Màn con dùng Back; dialog và biến thể trạng thái không tính thêm màn hình.</a:t>
            </a:r>
          </a:p>
        </p:txBody>
      </p:sp>
    </p:spTree>
    <p:extLst>
      <p:ext uri="{BB962C8B-B14F-4D97-AF65-F5344CB8AC3E}">
        <p14:creationId xmlns:p14="http://schemas.microsoft.com/office/powerpoint/2010/main" val="8697221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4AC9F16B-E111-4B44-AF76-C86F3DDA497F}"/>
              </a:ext>
            </a:extLst>
          </p:cNvPr>
          <p:cNvCxnSpPr>
            <a:stCxn xmlns:a="http://schemas.openxmlformats.org/drawingml/2006/main" id="26" idx="2"/>
            <a:endCxn xmlns:a="http://schemas.openxmlformats.org/drawingml/2006/main" id="32" idx="0"/>
          </p:cNvCxnSpPr>
          <p:nvPr/>
        </p:nvCxnSpPr>
        <p:spPr>
          <a:xfrm xmlns:a="http://schemas.openxmlformats.org/drawingml/2006/main">
            <a:off x="4581525" y="5000625"/>
            <a:ext cx="0" cy="228600"/>
          </a:xfrm>
          <a:prstGeom xmlns:a="http://schemas.openxmlformats.org/drawingml/2006/main" prst="straightConnector1">
            <a:avLst/>
          </a:prstGeom>
          <a:ln xmlns:a="http://schemas.openxmlformats.org/drawingml/2006/main" w="14288">
            <a:solidFill>
              <a:srgbClr val="667085"/>
            </a:solidFill>
            <a:prstDash val="dash"/>
            <a:headEnd type="triangle" w="sm" len="sm"/>
            <a:tailEnd type="triangle" w="sm" len="sm"/>
          </a:ln>
        </p:spPr>
      </p:cxnSp>
      <p:cxnSp>
        <p:nvCxnSpPr>
          <p:cNvPr id="31" name="">
            <a:extLst xmlns:a="http://schemas.openxmlformats.org/drawingml/2006/main">
              <a:ext uri="{FF2B5EF4-FFF2-40B4-BE49-F238E27FC236}">
                <a16:creationId xmlns:a16="http://schemas.microsoft.com/office/drawing/2014/main" id="{ACCC97A6-FAFC-478D-884B-DFB4423C2CF0}"/>
              </a:ext>
            </a:extLst>
          </p:cNvPr>
          <p:cNvCxnSpPr>
            <a:stCxn xmlns:a="http://schemas.openxmlformats.org/drawingml/2006/main" id="27" idx="3"/>
            <a:endCxn xmlns:a="http://schemas.openxmlformats.org/drawingml/2006/main" id="28" idx="1"/>
          </p:cNvCxnSpPr>
          <p:nvPr/>
        </p:nvCxnSpPr>
        <p:spPr>
          <a:xfrm xmlns:a="http://schemas.openxmlformats.org/drawingml/2006/main">
            <a:off x="8553450"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D048A7B2-A7D1-4A3D-A28F-5BE6FE7DCD6D}"/>
              </a:ext>
            </a:extLst>
          </p:cNvPr>
          <p:cNvCxnSpPr>
            <a:stCxn xmlns:a="http://schemas.openxmlformats.org/drawingml/2006/main" id="26" idx="3"/>
            <a:endCxn xmlns:a="http://schemas.openxmlformats.org/drawingml/2006/main" id="27" idx="1"/>
          </p:cNvCxnSpPr>
          <p:nvPr/>
        </p:nvCxnSpPr>
        <p:spPr>
          <a:xfrm xmlns:a="http://schemas.openxmlformats.org/drawingml/2006/main">
            <a:off x="5724525"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5DC8FA05-8507-48AC-8A97-C8007BA20D24}"/>
              </a:ext>
            </a:extLst>
          </p:cNvPr>
          <p:cNvCxnSpPr>
            <a:stCxn xmlns:a="http://schemas.openxmlformats.org/drawingml/2006/main" id="25" idx="3"/>
            <a:endCxn xmlns:a="http://schemas.openxmlformats.org/drawingml/2006/main" id="26" idx="1"/>
          </p:cNvCxnSpPr>
          <p:nvPr/>
        </p:nvCxnSpPr>
        <p:spPr>
          <a:xfrm xmlns:a="http://schemas.openxmlformats.org/drawingml/2006/main">
            <a:off x="2895600"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898AA961-2472-40E6-9910-0C8F7F642ED8}"/>
              </a:ext>
            </a:extLst>
          </p:cNvPr>
          <p:cNvCxnSpPr>
            <a:stCxn xmlns:a="http://schemas.openxmlformats.org/drawingml/2006/main" id="21" idx="1"/>
            <a:endCxn xmlns:a="http://schemas.openxmlformats.org/drawingml/2006/main" id="15" idx="2"/>
          </p:cNvCxnSpPr>
          <p:nvPr/>
        </p:nvCxnSpPr>
        <p:spPr>
          <a:xfrm xmlns:a="http://schemas.openxmlformats.org/drawingml/2006/main" flipH="1" flipV="1">
            <a:off x="4581525" y="3571875"/>
            <a:ext cx="1685925" cy="404813"/>
          </a:xfrm>
          <a:prstGeom xmlns:a="http://schemas.openxmlformats.org/drawingml/2006/main" prst="bentConnector2">
            <a:avLst/>
          </a:prstGeom>
          <a:ln xmlns:a="http://schemas.openxmlformats.org/drawingml/2006/main" w="14288">
            <a:solidFill>
              <a:srgbClr val="667085"/>
            </a:solidFill>
            <a:prstDash val="dash"/>
            <a:tailEnd type="triangle" w="sm" len="sm"/>
          </a:ln>
        </p:spPr>
      </p:cxnSp>
      <p:cxnSp>
        <p:nvCxnSpPr>
          <p:cNvPr id="22" name="">
            <a:extLst xmlns:a="http://schemas.openxmlformats.org/drawingml/2006/main">
              <a:ext uri="{FF2B5EF4-FFF2-40B4-BE49-F238E27FC236}">
                <a16:creationId xmlns:a16="http://schemas.microsoft.com/office/drawing/2014/main" id="{77B166BB-1492-49A7-8981-A39121832969}"/>
              </a:ext>
            </a:extLst>
          </p:cNvPr>
          <p:cNvCxnSpPr>
            <a:stCxn xmlns:a="http://schemas.openxmlformats.org/drawingml/2006/main" id="16" idx="2"/>
            <a:endCxn xmlns:a="http://schemas.openxmlformats.org/drawingml/2006/main" id="21" idx="0"/>
          </p:cNvCxnSpPr>
          <p:nvPr/>
        </p:nvCxnSpPr>
        <p:spPr>
          <a:xfrm xmlns:a="http://schemas.openxmlformats.org/drawingml/2006/main">
            <a:off x="7410450" y="3571875"/>
            <a:ext cx="0" cy="228600"/>
          </a:xfrm>
          <a:prstGeom xmlns:a="http://schemas.openxmlformats.org/drawingml/2006/main" prst="straightConnector1">
            <a:avLst/>
          </a:prstGeom>
          <a:ln xmlns:a="http://schemas.openxmlformats.org/drawingml/2006/main" w="14288">
            <a:solidFill>
              <a:srgbClr val="667085"/>
            </a:solidFill>
            <a:prstDash val="dash"/>
            <a:tailEnd type="triangle" w="sm" len="sm"/>
          </a:ln>
        </p:spPr>
      </p:cxnSp>
      <p:cxnSp>
        <p:nvCxnSpPr>
          <p:cNvPr id="20" name="">
            <a:extLst xmlns:a="http://schemas.openxmlformats.org/drawingml/2006/main">
              <a:ext uri="{FF2B5EF4-FFF2-40B4-BE49-F238E27FC236}">
                <a16:creationId xmlns:a16="http://schemas.microsoft.com/office/drawing/2014/main" id="{26C3CB99-456C-4A2D-9893-46BA2541670E}"/>
              </a:ext>
            </a:extLst>
          </p:cNvPr>
          <p:cNvCxnSpPr>
            <a:stCxn xmlns:a="http://schemas.openxmlformats.org/drawingml/2006/main" id="16" idx="3"/>
            <a:endCxn xmlns:a="http://schemas.openxmlformats.org/drawingml/2006/main" id="17" idx="1"/>
          </p:cNvCxnSpPr>
          <p:nvPr/>
        </p:nvCxnSpPr>
        <p:spPr>
          <a:xfrm xmlns:a="http://schemas.openxmlformats.org/drawingml/2006/main">
            <a:off x="8553450"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7839E76-D4D7-4075-9D04-A5F7558B703F}"/>
              </a:ext>
            </a:extLst>
          </p:cNvPr>
          <p:cNvCxnSpPr>
            <a:stCxn xmlns:a="http://schemas.openxmlformats.org/drawingml/2006/main" id="15" idx="3"/>
            <a:endCxn xmlns:a="http://schemas.openxmlformats.org/drawingml/2006/main" id="16" idx="1"/>
          </p:cNvCxnSpPr>
          <p:nvPr/>
        </p:nvCxnSpPr>
        <p:spPr>
          <a:xfrm xmlns:a="http://schemas.openxmlformats.org/drawingml/2006/main">
            <a:off x="5724525"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66649203-4167-4B40-9C87-2F90F0A6BF9E}"/>
              </a:ext>
            </a:extLst>
          </p:cNvPr>
          <p:cNvCxnSpPr>
            <a:stCxn xmlns:a="http://schemas.openxmlformats.org/drawingml/2006/main" id="14" idx="3"/>
            <a:endCxn xmlns:a="http://schemas.openxmlformats.org/drawingml/2006/main" id="15" idx="1"/>
          </p:cNvCxnSpPr>
          <p:nvPr/>
        </p:nvCxnSpPr>
        <p:spPr>
          <a:xfrm xmlns:a="http://schemas.openxmlformats.org/drawingml/2006/main">
            <a:off x="2895600"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6A7758E5-DA86-460B-8476-F2B6D5A75DF6}"/>
              </a:ext>
            </a:extLst>
          </p:cNvPr>
          <p:cNvCxnSpPr>
            <a:stCxn xmlns:a="http://schemas.openxmlformats.org/drawingml/2006/main" id="5" idx="2"/>
            <a:endCxn xmlns:a="http://schemas.openxmlformats.org/drawingml/2006/main" id="11" idx="0"/>
          </p:cNvCxnSpPr>
          <p:nvPr/>
        </p:nvCxnSpPr>
        <p:spPr>
          <a:xfrm xmlns:a="http://schemas.openxmlformats.org/drawingml/2006/main">
            <a:off x="4581525" y="2143125"/>
            <a:ext cx="0" cy="228600"/>
          </a:xfrm>
          <a:prstGeom xmlns:a="http://schemas.openxmlformats.org/drawingml/2006/main" prst="straightConnector1">
            <a:avLst/>
          </a:prstGeom>
          <a:ln xmlns:a="http://schemas.openxmlformats.org/drawingml/2006/main" w="14288">
            <a:solidFill>
              <a:srgbClr val="667085"/>
            </a:solidFill>
            <a:prstDash val="dash"/>
            <a:headEnd type="triangle" w="sm" len="sm"/>
            <a:tailEnd type="triangle" w="sm" len="sm"/>
          </a:ln>
        </p:spPr>
      </p:cxnSp>
      <p:cxnSp>
        <p:nvCxnSpPr>
          <p:cNvPr id="10" name="">
            <a:extLst xmlns:a="http://schemas.openxmlformats.org/drawingml/2006/main">
              <a:ext uri="{FF2B5EF4-FFF2-40B4-BE49-F238E27FC236}">
                <a16:creationId xmlns:a16="http://schemas.microsoft.com/office/drawing/2014/main" id="{3FD28A15-080D-4A3C-9DB9-C3F937218878}"/>
              </a:ext>
            </a:extLst>
          </p:cNvPr>
          <p:cNvCxnSpPr>
            <a:stCxn xmlns:a="http://schemas.openxmlformats.org/drawingml/2006/main" id="6" idx="3"/>
            <a:endCxn xmlns:a="http://schemas.openxmlformats.org/drawingml/2006/main" id="7" idx="1"/>
          </p:cNvCxnSpPr>
          <p:nvPr/>
        </p:nvCxnSpPr>
        <p:spPr>
          <a:xfrm xmlns:a="http://schemas.openxmlformats.org/drawingml/2006/main">
            <a:off x="8553450"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41A761CE-73E6-4117-8668-4C67D916656A}"/>
              </a:ext>
            </a:extLst>
          </p:cNvPr>
          <p:cNvCxnSpPr>
            <a:stCxn xmlns:a="http://schemas.openxmlformats.org/drawingml/2006/main" id="5" idx="3"/>
            <a:endCxn xmlns:a="http://schemas.openxmlformats.org/drawingml/2006/main" id="6" idx="1"/>
          </p:cNvCxnSpPr>
          <p:nvPr/>
        </p:nvCxnSpPr>
        <p:spPr>
          <a:xfrm xmlns:a="http://schemas.openxmlformats.org/drawingml/2006/main">
            <a:off x="5724525"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8E0C686A-09B4-4EA7-A2C3-61894893E9A7}"/>
              </a:ext>
            </a:extLst>
          </p:cNvPr>
          <p:cNvCxnSpPr>
            <a:stCxn xmlns:a="http://schemas.openxmlformats.org/drawingml/2006/main" id="4" idx="3"/>
            <a:endCxn xmlns:a="http://schemas.openxmlformats.org/drawingml/2006/main" id="5" idx="1"/>
          </p:cNvCxnSpPr>
          <p:nvPr/>
        </p:nvCxnSpPr>
        <p:spPr>
          <a:xfrm xmlns:a="http://schemas.openxmlformats.org/drawingml/2006/main">
            <a:off x="2895600"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sp>
        <p:nvSpPr>
          <p:cNvPr id="35" name="">
            <a:extLst xmlns:a="http://schemas.openxmlformats.org/drawingml/2006/main">
              <a:ext uri="{FF2B5EF4-FFF2-40B4-BE49-F238E27FC236}">
                <a16:creationId xmlns:a16="http://schemas.microsoft.com/office/drawing/2014/main" id="{898C4F69-3B78-413A-900B-E346FB38D8A0}"/>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Ba luồng sử dụng chính</a:t>
            </a:r>
          </a:p>
        </p:txBody>
      </p:sp>
      <p:sp>
        <p:nvSpPr>
          <p:cNvPr id="2" name="">
            <a:extLst xmlns:a="http://schemas.openxmlformats.org/drawingml/2006/main">
              <a:ext uri="{FF2B5EF4-FFF2-40B4-BE49-F238E27FC236}">
                <a16:creationId xmlns:a16="http://schemas.microsoft.com/office/drawing/2014/main" id="{0083EA5B-9C1C-4A1A-A1D9-8AA3F026158D}"/>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FD6094C-697B-4DE2-94E9-65BED681881A}"/>
              </a:ext>
            </a:extLst>
          </p:cNvPr>
          <p:cNvSpPr>
            <a:spLocks xmlns:a="http://schemas.openxmlformats.org/drawingml/2006/main" noGrp="1"/>
          </p:cNvSpPr>
          <p:nvPr/>
        </p:nvSpPr>
        <p:spPr>
          <a:xfrm xmlns:a="http://schemas.openxmlformats.org/drawingml/2006/main">
            <a:off x="609600" y="128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rPr>
              <a:t>1. Chuẩn bị</a:t>
            </a:r>
          </a:p>
        </p:txBody>
      </p:sp>
      <p:sp>
        <p:nvSpPr>
          <p:cNvPr id="4" name="">
            <a:extLst xmlns:a="http://schemas.openxmlformats.org/drawingml/2006/main">
              <a:ext uri="{FF2B5EF4-FFF2-40B4-BE49-F238E27FC236}">
                <a16:creationId xmlns:a16="http://schemas.microsoft.com/office/drawing/2014/main" id="{7C48CF14-ED7C-4D20-8908-303191C432A0}"/>
              </a:ext>
            </a:extLst>
          </p:cNvPr>
          <p:cNvSpPr>
            <a:spLocks xmlns:a="http://schemas.openxmlformats.org/drawingml/2006/main" noGrp="1"/>
          </p:cNvSpPr>
          <p:nvPr/>
        </p:nvSpPr>
        <p:spPr>
          <a:xfrm xmlns:a="http://schemas.openxmlformats.org/drawingml/2006/main">
            <a:off x="609600" y="16192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Bắt đầu</a:t>
            </a:r>
          </a:p>
        </p:txBody>
      </p:sp>
      <p:sp>
        <p:nvSpPr>
          <p:cNvPr id="5" name="">
            <a:extLst xmlns:a="http://schemas.openxmlformats.org/drawingml/2006/main">
              <a:ext uri="{FF2B5EF4-FFF2-40B4-BE49-F238E27FC236}">
                <a16:creationId xmlns:a16="http://schemas.microsoft.com/office/drawing/2014/main" id="{AA05E2F7-6B12-4B1C-9F69-4FC9F7040987}"/>
              </a:ext>
            </a:extLst>
          </p:cNvPr>
          <p:cNvSpPr>
            <a:spLocks xmlns:a="http://schemas.openxmlformats.org/drawingml/2006/main" noGrp="1"/>
          </p:cNvSpPr>
          <p:nvPr/>
        </p:nvSpPr>
        <p:spPr>
          <a:xfrm xmlns:a="http://schemas.openxmlformats.org/drawingml/2006/main">
            <a:off x="3438525" y="16192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Import hợp lệ?</a:t>
            </a:r>
          </a:p>
        </p:txBody>
      </p:sp>
      <p:sp>
        <p:nvSpPr>
          <p:cNvPr id="6" name="">
            <a:extLst xmlns:a="http://schemas.openxmlformats.org/drawingml/2006/main">
              <a:ext uri="{FF2B5EF4-FFF2-40B4-BE49-F238E27FC236}">
                <a16:creationId xmlns:a16="http://schemas.microsoft.com/office/drawing/2014/main" id="{3A7C0657-7BCA-4E32-AD37-7A5C245B2284}"/>
              </a:ext>
            </a:extLst>
          </p:cNvPr>
          <p:cNvSpPr>
            <a:spLocks xmlns:a="http://schemas.openxmlformats.org/drawingml/2006/main" noGrp="1"/>
          </p:cNvSpPr>
          <p:nvPr/>
        </p:nvSpPr>
        <p:spPr>
          <a:xfrm xmlns:a="http://schemas.openxmlformats.org/drawingml/2006/main">
            <a:off x="6267450" y="16192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Cấu hình lịch</a:t>
            </a:r>
          </a:p>
        </p:txBody>
      </p:sp>
      <p:sp>
        <p:nvSpPr>
          <p:cNvPr id="7" name="">
            <a:extLst xmlns:a="http://schemas.openxmlformats.org/drawingml/2006/main">
              <a:ext uri="{FF2B5EF4-FFF2-40B4-BE49-F238E27FC236}">
                <a16:creationId xmlns:a16="http://schemas.microsoft.com/office/drawing/2014/main" id="{E886EE97-C4D6-48FB-987C-B9E810F69024}"/>
              </a:ext>
            </a:extLst>
          </p:cNvPr>
          <p:cNvSpPr>
            <a:spLocks xmlns:a="http://schemas.openxmlformats.org/drawingml/2006/main" noGrp="1"/>
          </p:cNvSpPr>
          <p:nvPr/>
        </p:nvSpPr>
        <p:spPr>
          <a:xfrm xmlns:a="http://schemas.openxmlformats.org/drawingml/2006/main">
            <a:off x="9096375" y="16192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Lịch đã lưu</a:t>
            </a:r>
          </a:p>
        </p:txBody>
      </p:sp>
      <p:sp>
        <p:nvSpPr>
          <p:cNvPr id="11" name="">
            <a:extLst xmlns:a="http://schemas.openxmlformats.org/drawingml/2006/main">
              <a:ext uri="{FF2B5EF4-FFF2-40B4-BE49-F238E27FC236}">
                <a16:creationId xmlns:a16="http://schemas.microsoft.com/office/drawing/2014/main" id="{BF433E15-CE1A-43FC-AF18-A221646515E2}"/>
              </a:ext>
            </a:extLst>
          </p:cNvPr>
          <p:cNvSpPr>
            <a:spLocks xmlns:a="http://schemas.openxmlformats.org/drawingml/2006/main" noGrp="1"/>
          </p:cNvSpPr>
          <p:nvPr/>
        </p:nvSpPr>
        <p:spPr>
          <a:xfrm xmlns:a="http://schemas.openxmlformats.org/drawingml/2006/main">
            <a:off x="3438525" y="237172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File sai: chọn lại</a:t>
            </a:r>
          </a:p>
        </p:txBody>
      </p:sp>
      <p:sp>
        <p:nvSpPr>
          <p:cNvPr id="13" name="">
            <a:extLst xmlns:a="http://schemas.openxmlformats.org/drawingml/2006/main">
              <a:ext uri="{FF2B5EF4-FFF2-40B4-BE49-F238E27FC236}">
                <a16:creationId xmlns:a16="http://schemas.microsoft.com/office/drawing/2014/main" id="{DFDDAB08-6D07-4265-8C28-3E8121C3A669}"/>
              </a:ext>
            </a:extLst>
          </p:cNvPr>
          <p:cNvSpPr>
            <a:spLocks xmlns:a="http://schemas.openxmlformats.org/drawingml/2006/main" noGrp="1"/>
          </p:cNvSpPr>
          <p:nvPr/>
        </p:nvSpPr>
        <p:spPr>
          <a:xfrm xmlns:a="http://schemas.openxmlformats.org/drawingml/2006/main">
            <a:off x="609600" y="27146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rPr>
              <a:t>2. Điểm danh</a:t>
            </a:r>
          </a:p>
        </p:txBody>
      </p:sp>
      <p:sp>
        <p:nvSpPr>
          <p:cNvPr id="14" name="">
            <a:extLst xmlns:a="http://schemas.openxmlformats.org/drawingml/2006/main">
              <a:ext uri="{FF2B5EF4-FFF2-40B4-BE49-F238E27FC236}">
                <a16:creationId xmlns:a16="http://schemas.microsoft.com/office/drawing/2014/main" id="{1B4EE053-3B23-44C5-A068-0E9F28534202}"/>
              </a:ext>
            </a:extLst>
          </p:cNvPr>
          <p:cNvSpPr>
            <a:spLocks xmlns:a="http://schemas.openxmlformats.org/drawingml/2006/main" noGrp="1"/>
          </p:cNvSpPr>
          <p:nvPr/>
        </p:nvSpPr>
        <p:spPr>
          <a:xfrm xmlns:a="http://schemas.openxmlformats.org/drawingml/2006/main">
            <a:off x="609600" y="304800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Chọn lớp</a:t>
            </a:r>
          </a:p>
        </p:txBody>
      </p:sp>
      <p:sp>
        <p:nvSpPr>
          <p:cNvPr id="15" name="">
            <a:extLst xmlns:a="http://schemas.openxmlformats.org/drawingml/2006/main">
              <a:ext uri="{FF2B5EF4-FFF2-40B4-BE49-F238E27FC236}">
                <a16:creationId xmlns:a16="http://schemas.microsoft.com/office/drawing/2014/main" id="{CA985B4A-B9C1-412F-830F-0915D89B21CC}"/>
              </a:ext>
            </a:extLst>
          </p:cNvPr>
          <p:cNvSpPr>
            <a:spLocks xmlns:a="http://schemas.openxmlformats.org/drawingml/2006/main" noGrp="1"/>
          </p:cNvSpPr>
          <p:nvPr/>
        </p:nvSpPr>
        <p:spPr>
          <a:xfrm xmlns:a="http://schemas.openxmlformats.org/drawingml/2006/main">
            <a:off x="3438525" y="304800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Mở QR</a:t>
            </a:r>
          </a:p>
        </p:txBody>
      </p:sp>
      <p:sp>
        <p:nvSpPr>
          <p:cNvPr id="16" name="">
            <a:extLst xmlns:a="http://schemas.openxmlformats.org/drawingml/2006/main">
              <a:ext uri="{FF2B5EF4-FFF2-40B4-BE49-F238E27FC236}">
                <a16:creationId xmlns:a16="http://schemas.microsoft.com/office/drawing/2014/main" id="{2826CF75-A05C-4333-AECB-575B866657C1}"/>
              </a:ext>
            </a:extLst>
          </p:cNvPr>
          <p:cNvSpPr>
            <a:spLocks xmlns:a="http://schemas.openxmlformats.org/drawingml/2006/main" noGrp="1"/>
          </p:cNvSpPr>
          <p:nvPr/>
        </p:nvSpPr>
        <p:spPr>
          <a:xfrm xmlns:a="http://schemas.openxmlformats.org/drawingml/2006/main">
            <a:off x="6267450" y="304800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Xác nhận chốt</a:t>
            </a:r>
          </a:p>
        </p:txBody>
      </p:sp>
      <p:sp>
        <p:nvSpPr>
          <p:cNvPr id="17" name="">
            <a:extLst xmlns:a="http://schemas.openxmlformats.org/drawingml/2006/main">
              <a:ext uri="{FF2B5EF4-FFF2-40B4-BE49-F238E27FC236}">
                <a16:creationId xmlns:a16="http://schemas.microsoft.com/office/drawing/2014/main" id="{D8388CB0-A7A3-4B7C-AF11-4B9B9F370D8A}"/>
              </a:ext>
            </a:extLst>
          </p:cNvPr>
          <p:cNvSpPr>
            <a:spLocks xmlns:a="http://schemas.openxmlformats.org/drawingml/2006/main" noGrp="1"/>
          </p:cNvSpPr>
          <p:nvPr/>
        </p:nvSpPr>
        <p:spPr>
          <a:xfrm xmlns:a="http://schemas.openxmlformats.org/drawingml/2006/main">
            <a:off x="9096375" y="304800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Kết quả đã chốt</a:t>
            </a:r>
          </a:p>
        </p:txBody>
      </p:sp>
      <p:sp>
        <p:nvSpPr>
          <p:cNvPr id="21" name="">
            <a:extLst xmlns:a="http://schemas.openxmlformats.org/drawingml/2006/main">
              <a:ext uri="{FF2B5EF4-FFF2-40B4-BE49-F238E27FC236}">
                <a16:creationId xmlns:a16="http://schemas.microsoft.com/office/drawing/2014/main" id="{064D6EE9-B571-4506-9D09-175D9A20AB2C}"/>
              </a:ext>
            </a:extLst>
          </p:cNvPr>
          <p:cNvSpPr>
            <a:spLocks xmlns:a="http://schemas.openxmlformats.org/drawingml/2006/main" noGrp="1"/>
          </p:cNvSpPr>
          <p:nvPr/>
        </p:nvSpPr>
        <p:spPr>
          <a:xfrm xmlns:a="http://schemas.openxmlformats.org/drawingml/2006/main">
            <a:off x="6267450" y="380047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Hủy: tiếp tục QR</a:t>
            </a:r>
          </a:p>
        </p:txBody>
      </p:sp>
      <p:sp>
        <p:nvSpPr>
          <p:cNvPr id="24" name="">
            <a:extLst xmlns:a="http://schemas.openxmlformats.org/drawingml/2006/main">
              <a:ext uri="{FF2B5EF4-FFF2-40B4-BE49-F238E27FC236}">
                <a16:creationId xmlns:a16="http://schemas.microsoft.com/office/drawing/2014/main" id="{806BCE84-1342-43D2-83C4-A6D0B417C9FC}"/>
              </a:ext>
            </a:extLst>
          </p:cNvPr>
          <p:cNvSpPr>
            <a:spLocks xmlns:a="http://schemas.openxmlformats.org/drawingml/2006/main" noGrp="1"/>
          </p:cNvSpPr>
          <p:nvPr/>
        </p:nvSpPr>
        <p:spPr>
          <a:xfrm xmlns:a="http://schemas.openxmlformats.org/drawingml/2006/main">
            <a:off x="609600" y="4143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rPr>
              <a:t>3. Sửa và xuất</a:t>
            </a:r>
          </a:p>
        </p:txBody>
      </p:sp>
      <p:sp>
        <p:nvSpPr>
          <p:cNvPr id="25" name="">
            <a:extLst xmlns:a="http://schemas.openxmlformats.org/drawingml/2006/main">
              <a:ext uri="{FF2B5EF4-FFF2-40B4-BE49-F238E27FC236}">
                <a16:creationId xmlns:a16="http://schemas.microsoft.com/office/drawing/2014/main" id="{3E962435-5FDC-434C-AED5-C9D5159E438E}"/>
              </a:ext>
            </a:extLst>
          </p:cNvPr>
          <p:cNvSpPr>
            <a:spLocks xmlns:a="http://schemas.openxmlformats.org/drawingml/2006/main" noGrp="1"/>
          </p:cNvSpPr>
          <p:nvPr/>
        </p:nvSpPr>
        <p:spPr>
          <a:xfrm xmlns:a="http://schemas.openxmlformats.org/drawingml/2006/main">
            <a:off x="609600" y="44767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Lịch sử lớp</a:t>
            </a:r>
          </a:p>
        </p:txBody>
      </p:sp>
      <p:sp>
        <p:nvSpPr>
          <p:cNvPr id="26" name="">
            <a:extLst xmlns:a="http://schemas.openxmlformats.org/drawingml/2006/main">
              <a:ext uri="{FF2B5EF4-FFF2-40B4-BE49-F238E27FC236}">
                <a16:creationId xmlns:a16="http://schemas.microsoft.com/office/drawing/2014/main" id="{61600557-3395-467D-95BA-510F15E14EE1}"/>
              </a:ext>
            </a:extLst>
          </p:cNvPr>
          <p:cNvSpPr>
            <a:spLocks xmlns:a="http://schemas.openxmlformats.org/drawingml/2006/main" noGrp="1"/>
          </p:cNvSpPr>
          <p:nvPr/>
        </p:nvSpPr>
        <p:spPr>
          <a:xfrm xmlns:a="http://schemas.openxmlformats.org/drawingml/2006/main">
            <a:off x="3438525" y="44767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Sửa P/A hợp lệ?</a:t>
            </a:r>
          </a:p>
        </p:txBody>
      </p:sp>
      <p:sp>
        <p:nvSpPr>
          <p:cNvPr id="27" name="">
            <a:extLst xmlns:a="http://schemas.openxmlformats.org/drawingml/2006/main">
              <a:ext uri="{FF2B5EF4-FFF2-40B4-BE49-F238E27FC236}">
                <a16:creationId xmlns:a16="http://schemas.microsoft.com/office/drawing/2014/main" id="{4AFF2A3A-2D98-4C7E-B333-ADD749562CB5}"/>
              </a:ext>
            </a:extLst>
          </p:cNvPr>
          <p:cNvSpPr>
            <a:spLocks xmlns:a="http://schemas.openxmlformats.org/drawingml/2006/main" noGrp="1"/>
          </p:cNvSpPr>
          <p:nvPr/>
        </p:nvSpPr>
        <p:spPr>
          <a:xfrm xmlns:a="http://schemas.openxmlformats.org/drawingml/2006/main">
            <a:off x="6267450" y="44767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Xuất tệp</a:t>
            </a:r>
          </a:p>
        </p:txBody>
      </p:sp>
      <p:sp>
        <p:nvSpPr>
          <p:cNvPr id="28" name="">
            <a:extLst xmlns:a="http://schemas.openxmlformats.org/drawingml/2006/main">
              <a:ext uri="{FF2B5EF4-FFF2-40B4-BE49-F238E27FC236}">
                <a16:creationId xmlns:a16="http://schemas.microsoft.com/office/drawing/2014/main" id="{BA331411-40FE-42F4-8553-C24C6AAE14A6}"/>
              </a:ext>
            </a:extLst>
          </p:cNvPr>
          <p:cNvSpPr>
            <a:spLocks xmlns:a="http://schemas.openxmlformats.org/drawingml/2006/main" noGrp="1"/>
          </p:cNvSpPr>
          <p:nvPr/>
        </p:nvSpPr>
        <p:spPr>
          <a:xfrm xmlns:a="http://schemas.openxmlformats.org/drawingml/2006/main">
            <a:off x="9096375" y="44767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stStyle>
          <a:p xmlns:a="http://schemas.openxmlformats.org/drawingml/2006/main">
            <a:pPr algn="ctr">
              <a:defRPr sz="1650" b="1">
                <a:solidFill>
                  <a:srgbClr val="243047"/>
                </a:solidFill>
                <a:latin typeface="Arial"/>
                <a:ea typeface="Arial"/>
                <a:cs typeface="Arial"/>
              </a:defRPr>
            </a:pPr>
            <a:r>
              <a:rPr sz="1650" b="1">
                <a:solidFill>
                  <a:srgbClr val="243047"/>
                </a:solidFill>
                <a:latin typeface="Arial"/>
                <a:ea typeface="Arial"/>
                <a:cs typeface="Arial"/>
              </a:rPr>
              <a:t>Kết quả lưu</a:t>
            </a:r>
          </a:p>
        </p:txBody>
      </p:sp>
      <p:sp>
        <p:nvSpPr>
          <p:cNvPr id="32" name="">
            <a:extLst xmlns:a="http://schemas.openxmlformats.org/drawingml/2006/main">
              <a:ext uri="{FF2B5EF4-FFF2-40B4-BE49-F238E27FC236}">
                <a16:creationId xmlns:a16="http://schemas.microsoft.com/office/drawing/2014/main" id="{A8458C5E-07BE-4E17-86AD-9EDF59574F80}"/>
              </a:ext>
            </a:extLst>
          </p:cNvPr>
          <p:cNvSpPr>
            <a:spLocks xmlns:a="http://schemas.openxmlformats.org/drawingml/2006/main" noGrp="1"/>
          </p:cNvSpPr>
          <p:nvPr/>
        </p:nvSpPr>
        <p:spPr>
          <a:xfrm xmlns:a="http://schemas.openxmlformats.org/drawingml/2006/main">
            <a:off x="3438525" y="522922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stStyle>
          <a:p xmlns:a="http://schemas.openxmlformats.org/drawingml/2006/main">
            <a:pPr algn="ctr">
              <a:defRPr sz="1650" b="0">
                <a:solidFill>
                  <a:srgbClr val="243047"/>
                </a:solidFill>
                <a:latin typeface="Arial"/>
                <a:ea typeface="Arial"/>
                <a:cs typeface="Arial"/>
              </a:defRPr>
            </a:pPr>
            <a:r>
              <a:rPr sz="1650" b="0">
                <a:solidFill>
                  <a:srgbClr val="243047"/>
                </a:solidFill>
                <a:latin typeface="Arial"/>
                <a:ea typeface="Arial"/>
                <a:cs typeface="Arial"/>
              </a:rPr>
              <a:t>Lý do trống: nhập lại</a:t>
            </a:r>
          </a:p>
        </p:txBody>
      </p:sp>
      <p:sp>
        <p:nvSpPr>
          <p:cNvPr id="34" name="">
            <a:extLst xmlns:a="http://schemas.openxmlformats.org/drawingml/2006/main">
              <a:ext uri="{FF2B5EF4-FFF2-40B4-BE49-F238E27FC236}">
                <a16:creationId xmlns:a16="http://schemas.microsoft.com/office/drawing/2014/main" id="{F46C62C4-A3F8-4B36-B1CD-B5F0378D54FF}"/>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Sơ đồ hành vi mục tiêu. Cần kiểm thử cả nhánh chính, Hủy, Back và lỗi/phục hồi.</a:t>
            </a:r>
          </a:p>
        </p:txBody>
      </p:sp>
    </p:spTree>
    <p:extLst>
      <p:ext uri="{BB962C8B-B14F-4D97-AF65-F5344CB8AC3E}">
        <p14:creationId xmlns:p14="http://schemas.microsoft.com/office/powerpoint/2010/main" val="1878979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B5B13C-CD3C-43FF-8C8C-D9F1EA3E98A3}"/>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Tạo giao diện bằng AI</a:t>
            </a:r>
          </a:p>
        </p:txBody>
      </p:sp>
      <p:sp>
        <p:nvSpPr>
          <p:cNvPr id="2" name="">
            <a:extLst xmlns:a="http://schemas.openxmlformats.org/drawingml/2006/main">
              <a:ext uri="{FF2B5EF4-FFF2-40B4-BE49-F238E27FC236}">
                <a16:creationId xmlns:a16="http://schemas.microsoft.com/office/drawing/2014/main" id="{BB25F9ED-D327-43B6-BDF4-2525A958F739}"/>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F303D5A-BAE2-4DCD-890E-721A365CE574}"/>
              </a:ext>
            </a:extLst>
          </p:cNvPr>
          <p:cNvSpPr>
            <a:spLocks xmlns:a="http://schemas.openxmlformats.org/drawingml/2006/main" noGrp="1"/>
          </p:cNvSpPr>
          <p:nvPr/>
        </p:nvSpPr>
        <p:spPr>
          <a:xfrm xmlns:a="http://schemas.openxmlformats.org/drawingml/2006/main">
            <a:off x="609600" y="135255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rPr>
              <a:t>Trích nguyên văn prompt ban đầu</a:t>
            </a:r>
          </a:p>
        </p:txBody>
      </p:sp>
      <p:sp>
        <p:nvSpPr>
          <p:cNvPr id="4" name="">
            <a:extLst xmlns:a="http://schemas.openxmlformats.org/drawingml/2006/main">
              <a:ext uri="{FF2B5EF4-FFF2-40B4-BE49-F238E27FC236}">
                <a16:creationId xmlns:a16="http://schemas.microsoft.com/office/drawing/2014/main" id="{A7F2AB9F-C866-4983-AAE5-5D01CDDF8BE9}"/>
              </a:ext>
            </a:extLst>
          </p:cNvPr>
          <p:cNvSpPr>
            <a:spLocks xmlns:a="http://schemas.openxmlformats.org/drawingml/2006/main" noGrp="1"/>
          </p:cNvSpPr>
          <p:nvPr/>
        </p:nvSpPr>
        <p:spPr>
          <a:xfrm xmlns:a="http://schemas.openxmlformats.org/drawingml/2006/main">
            <a:off x="609600" y="1952625"/>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stStyle>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“Hãy thiết kế đầy đủ 10 màn hình cho ứng dụng FAP Attendance dành</a:t>
            </a:r>
          </a:p>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cho giảng viên Trường Đại học FPT.”</a:t>
            </a:r>
          </a:p>
        </p:txBody>
      </p:sp>
      <p:sp>
        <p:nvSpPr>
          <p:cNvPr id="5" name="">
            <a:extLst xmlns:a="http://schemas.openxmlformats.org/drawingml/2006/main">
              <a:ext uri="{FF2B5EF4-FFF2-40B4-BE49-F238E27FC236}">
                <a16:creationId xmlns:a16="http://schemas.microsoft.com/office/drawing/2014/main" id="{4F4E0F8F-6928-4F17-97DF-7F9EA8FACD80}"/>
              </a:ext>
            </a:extLst>
          </p:cNvPr>
          <p:cNvSpPr>
            <a:spLocks xmlns:a="http://schemas.openxmlformats.org/drawingml/2006/main" noGrp="1"/>
          </p:cNvSpPr>
          <p:nvPr/>
        </p:nvSpPr>
        <p:spPr>
          <a:xfrm xmlns:a="http://schemas.openxmlformats.org/drawingml/2006/main">
            <a:off x="609600" y="3162300"/>
            <a:ext cx="781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“Ứng dụng không dùng database.”</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“Dữ liệu được lưu bằng file local và có thể đồng bộ Google Drive.”</a:t>
            </a:r>
          </a:p>
        </p:txBody>
      </p:sp>
      <p:sp>
        <p:nvSpPr>
          <p:cNvPr id="6" name="">
            <a:extLst xmlns:a="http://schemas.openxmlformats.org/drawingml/2006/main">
              <a:ext uri="{FF2B5EF4-FFF2-40B4-BE49-F238E27FC236}">
                <a16:creationId xmlns:a16="http://schemas.microsoft.com/office/drawing/2014/main" id="{AB86E169-B9C5-4F92-BB24-D95F2811CBC9}"/>
              </a:ext>
            </a:extLst>
          </p:cNvPr>
          <p:cNvSpPr>
            <a:spLocks xmlns:a="http://schemas.openxmlformats.org/drawingml/2006/main" noGrp="1"/>
          </p:cNvSpPr>
          <p:nvPr/>
        </p:nvSpPr>
        <p:spPr>
          <a:xfrm xmlns:a="http://schemas.openxmlformats.org/drawingml/2006/main">
            <a:off x="609600" y="455295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“Trắng và cam là màu chủ đạo.”</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“Ưu tiên tính dễ đọc và hiệu quả sử dụng hơn trang trí.”</a:t>
            </a:r>
          </a:p>
        </p:txBody>
      </p:sp>
      <p:pic>
        <p:nvPicPr>
          <p:cNvPr id="7" name="">
            <a:extLst xmlns:a="http://schemas.openxmlformats.org/drawingml/2006/main">
              <a:ext uri="{FF2B5EF4-FFF2-40B4-BE49-F238E27FC236}">
                <a16:creationId xmlns:a16="http://schemas.microsoft.com/office/drawing/2014/main" id="{41B636DC-291A-468F-8230-8FB06E71E649}"/>
              </a:ext>
            </a:extLst>
          </p:cNvPr>
          <p:cNvPicPr>
            <a:picLocks xmlns:a="http://schemas.openxmlformats.org/drawingml/2006/main" noChangeAspect="1"/>
          </p:cNvPicPr>
          <p:nvPr/>
        </p:nvPicPr>
        <p:blipFill>
          <a:blip xmlns:r="http://schemas.openxmlformats.org/officeDocument/2006/relationships" xmlns:a="http://schemas.openxmlformats.org/drawingml/2006/main" r:embed="R3c8bfba47ec542c1"/>
          <a:stretch xmlns:a="http://schemas.openxmlformats.org/drawingml/2006/main"/>
        </p:blipFill>
        <p:spPr>
          <a:xfrm xmlns:a="http://schemas.openxmlformats.org/drawingml/2006/main">
            <a:off x="9547847" y="1381125"/>
            <a:ext cx="1440206" cy="4191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C4307AA-95E0-493D-B247-B77A655E090B}"/>
              </a:ext>
            </a:extLst>
          </p:cNvPr>
          <p:cNvSpPr>
            <a:spLocks xmlns:a="http://schemas.openxmlformats.org/drawingml/2006/main" noGrp="1"/>
          </p:cNvSpPr>
          <p:nvPr/>
        </p:nvSpPr>
        <p:spPr>
          <a:xfrm xmlns:a="http://schemas.openxmlformats.org/drawingml/2006/main">
            <a:off x="8982075" y="56578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UI V0: Import</a:t>
            </a:r>
          </a:p>
        </p:txBody>
      </p:sp>
      <p:sp>
        <p:nvSpPr>
          <p:cNvPr id="9" name="">
            <a:extLst xmlns:a="http://schemas.openxmlformats.org/drawingml/2006/main">
              <a:ext uri="{FF2B5EF4-FFF2-40B4-BE49-F238E27FC236}">
                <a16:creationId xmlns:a16="http://schemas.microsoft.com/office/drawing/2014/main" id="{F12A5D60-FC79-45DF-A823-91F5D992E58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Đầu vào: persona, tác vụ mobile, user flow và ràng buộc. Toàn văn prompt trong Notes.</a:t>
            </a:r>
          </a:p>
        </p:txBody>
      </p:sp>
    </p:spTree>
    <p:extLst>
      <p:ext uri="{BB962C8B-B14F-4D97-AF65-F5344CB8AC3E}">
        <p14:creationId xmlns:p14="http://schemas.microsoft.com/office/powerpoint/2010/main" val="742148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034666-220C-4185-9FD6-4F0B6085C652}"/>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Các phiên bản và phản biện UX</a:t>
            </a:r>
          </a:p>
        </p:txBody>
      </p:sp>
      <p:sp>
        <p:nvSpPr>
          <p:cNvPr id="2" name="">
            <a:extLst xmlns:a="http://schemas.openxmlformats.org/drawingml/2006/main">
              <a:ext uri="{FF2B5EF4-FFF2-40B4-BE49-F238E27FC236}">
                <a16:creationId xmlns:a16="http://schemas.microsoft.com/office/drawing/2014/main" id="{D1B2E3F5-BF40-4FBC-965F-B8DE098B3F31}"/>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D221BF8E-9AF4-402C-A515-D21BC950D7C0}"/>
              </a:ext>
            </a:extLst>
          </p:cNvPr>
          <p:cNvGraphicFramePr/>
          <p:nvPr/>
        </p:nvGraphicFramePr>
        <p:xfrm>
          <a:off xmlns:a="http://schemas.openxmlformats.org/drawingml/2006/main" x="609600" y="1333500"/>
          <a:ext xmlns:a="http://schemas.openxmlformats.org/drawingml/2006/main" cx="10953750" cy="1857375"/>
        </p:xfrm>
        <a:graphic xmlns:a="http://schemas.openxmlformats.org/drawingml/2006/main">
          <a:graphicData uri="http://schemas.openxmlformats.org/drawingml/2006/table">
            <a:tbl>
              <a:tblPr/>
              <a:tblGrid>
                <a:gridCol w="1333500"/>
                <a:gridCol w="4857750"/>
                <a:gridCol w="4762500"/>
              </a:tblGrid>
              <a:tr h="464344">
                <a:tc>
                  <a:txBody>
                    <a:bodyPr wrap="square" lIns="95250" tIns="95250" rIns="95250" bIns="95250"/>
                    <a:lstStyle/>
                    <a:p>
                      <a:r>
                        <a:rPr sz="1650" b="1">
                          <a:solidFill>
                            <a:srgbClr val="FFFFFF"/>
                          </a:solidFill>
                          <a:latin typeface="Arial"/>
                          <a:ea typeface="Arial"/>
                          <a:cs typeface="Arial"/>
                        </a:rPr>
                        <a:t>Phiên bản</a:t>
                      </a:r>
                    </a:p>
                  </a:txBody>
                  <a:tcPr marL="91440" marR="91440" marT="45720" marB="45720">
                    <a:solidFill>
                      <a:srgbClr val="243047"/>
                    </a:solidFill>
                  </a:tcPr>
                </a:tc>
                <a:tc>
                  <a:txBody>
                    <a:bodyPr wrap="square" lIns="95250" tIns="95250" rIns="95250" bIns="95250"/>
                    <a:lstStyle/>
                    <a:p>
                      <a:r>
                        <a:rPr sz="1650" b="1">
                          <a:solidFill>
                            <a:srgbClr val="FFFFFF"/>
                          </a:solidFill>
                          <a:latin typeface="Arial"/>
                          <a:ea typeface="Arial"/>
                          <a:cs typeface="Arial"/>
                        </a:rPr>
                        <a:t>Trọng tâm đối chiếu</a:t>
                      </a:r>
                    </a:p>
                  </a:txBody>
                  <a:tcPr marL="91440" marR="91440" marT="45720" marB="45720">
                    <a:solidFill>
                      <a:srgbClr val="243047"/>
                    </a:solidFill>
                  </a:tcPr>
                </a:tc>
                <a:tc>
                  <a:txBody>
                    <a:bodyPr wrap="square" lIns="95250" tIns="95250" rIns="95250" bIns="95250"/>
                    <a:lstStyle/>
                    <a:p>
                      <a:r>
                        <a:rPr sz="1650" b="1">
                          <a:solidFill>
                            <a:srgbClr val="FFFFFF"/>
                          </a:solidFill>
                          <a:latin typeface="Arial"/>
                          <a:ea typeface="Arial"/>
                          <a:cs typeface="Arial"/>
                        </a:rPr>
                        <a:t>Bằng chứng còn thiếu</a:t>
                      </a:r>
                    </a:p>
                  </a:txBody>
                  <a:tcPr marL="91440" marR="91440" marT="45720" marB="45720">
                    <a:solidFill>
                      <a:srgbClr val="243047"/>
                    </a:solidFill>
                  </a:tcPr>
                </a:tc>
              </a:tr>
              <a:tr h="464344">
                <a:tc>
                  <a:txBody>
                    <a:bodyPr wrap="square" lIns="95250" tIns="95250" rIns="95250" bIns="95250"/>
                    <a:lstStyle/>
                    <a:p>
                      <a:r>
                        <a:rPr sz="1650" b="0">
                          <a:solidFill>
                            <a:srgbClr val="243047"/>
                          </a:solidFill>
                          <a:latin typeface="Arial"/>
                          <a:ea typeface="Arial"/>
                          <a:cs typeface="Arial"/>
                        </a:rPr>
                        <a:t>V1</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Cấu trúc và ngữ cảnh tác vụ</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Prompt/phản hồi thực tế</a:t>
                      </a:r>
                    </a:p>
                  </a:txBody>
                  <a:tcPr marL="91440" marR="91440" marT="45720" marB="45720">
                    <a:solidFill>
                      <a:srgbClr val="FFFFFF"/>
                    </a:solidFill>
                  </a:tcPr>
                </a:tc>
              </a:tr>
              <a:tr h="464344">
                <a:tc>
                  <a:txBody>
                    <a:bodyPr wrap="square" lIns="95250" tIns="95250" rIns="95250" bIns="95250"/>
                    <a:lstStyle/>
                    <a:p>
                      <a:r>
                        <a:rPr sz="1650" b="0">
                          <a:solidFill>
                            <a:srgbClr val="243047"/>
                          </a:solidFill>
                          <a:latin typeface="Arial"/>
                          <a:ea typeface="Arial"/>
                          <a:cs typeface="Arial"/>
                        </a:rPr>
                        <a:t>V2</a:t>
                      </a:r>
                    </a:p>
                  </a:txBody>
                  <a:tcPr marL="91440" marR="91440" marT="45720" marB="45720">
                    <a:solidFill>
                      <a:srgbClr val="F6F7FA"/>
                    </a:solidFill>
                  </a:tcPr>
                </a:tc>
                <a:tc>
                  <a:txBody>
                    <a:bodyPr wrap="square" lIns="95250" tIns="95250" rIns="95250" bIns="95250"/>
                    <a:lstStyle/>
                    <a:p>
                      <a:r>
                        <a:rPr sz="1650" b="0">
                          <a:solidFill>
                            <a:srgbClr val="243047"/>
                          </a:solidFill>
                          <a:latin typeface="Arial"/>
                          <a:ea typeface="Arial"/>
                          <a:cs typeface="Arial"/>
                        </a:rPr>
                        <a:t>Lịch, ghi chú và sửa có lý do</a:t>
                      </a:r>
                    </a:p>
                  </a:txBody>
                  <a:tcPr marL="91440" marR="91440" marT="45720" marB="45720">
                    <a:solidFill>
                      <a:srgbClr val="F6F7FA"/>
                    </a:solidFill>
                  </a:tcPr>
                </a:tc>
                <a:tc>
                  <a:txBody>
                    <a:bodyPr wrap="square" lIns="95250" tIns="95250" rIns="95250" bIns="95250"/>
                    <a:lstStyle/>
                    <a:p>
                      <a:r>
                        <a:rPr sz="1650" b="0">
                          <a:solidFill>
                            <a:srgbClr val="243047"/>
                          </a:solidFill>
                          <a:latin typeface="Arial"/>
                          <a:ea typeface="Arial"/>
                          <a:cs typeface="Arial"/>
                        </a:rPr>
                        <a:t>Prompt và kết quả sau lưu</a:t>
                      </a:r>
                    </a:p>
                  </a:txBody>
                  <a:tcPr marL="91440" marR="91440" marT="45720" marB="45720">
                    <a:solidFill>
                      <a:srgbClr val="F6F7FA"/>
                    </a:solidFill>
                  </a:tcPr>
                </a:tc>
              </a:tr>
              <a:tr h="464344">
                <a:tc>
                  <a:txBody>
                    <a:bodyPr wrap="square" lIns="95250" tIns="95250" rIns="95250" bIns="95250"/>
                    <a:lstStyle/>
                    <a:p>
                      <a:r>
                        <a:rPr sz="1650" b="0">
                          <a:solidFill>
                            <a:srgbClr val="243047"/>
                          </a:solidFill>
                          <a:latin typeface="Arial"/>
                          <a:ea typeface="Arial"/>
                          <a:cs typeface="Arial"/>
                        </a:rPr>
                        <a:t>V3</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Chặn xuất, định dạng và sao lưu</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Bộ lưu riêng, prompt/phản hồi</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3B49A3-11D5-4420-92E7-CB6419C86ACC}"/>
              </a:ext>
            </a:extLst>
          </p:cNvPr>
          <p:cNvSpPr>
            <a:spLocks xmlns:a="http://schemas.openxmlformats.org/drawingml/2006/main" noGrp="1"/>
          </p:cNvSpPr>
          <p:nvPr/>
        </p:nvSpPr>
        <p:spPr>
          <a:xfrm xmlns:a="http://schemas.openxmlformats.org/drawingml/2006/main">
            <a:off x="609600" y="3381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93C13"/>
                </a:solidFill>
                <a:latin typeface="Arial"/>
                <a:ea typeface="Arial"/>
                <a:cs typeface="Arial"/>
              </a:defRPr>
            </a:defPPr>
          </a:lstStyle>
          <a:p xmlns:a="http://schemas.openxmlformats.org/drawingml/2006/main">
            <a:pPr>
              <a:defRPr sz="1725" b="1">
                <a:solidFill>
                  <a:srgbClr val="C93C13"/>
                </a:solidFill>
                <a:latin typeface="Arial"/>
                <a:ea typeface="Arial"/>
                <a:cs typeface="Arial"/>
              </a:defRPr>
            </a:pPr>
            <a:r>
              <a:rPr sz="1725" b="1">
                <a:solidFill>
                  <a:srgbClr val="C93C13"/>
                </a:solidFill>
                <a:latin typeface="Arial"/>
                <a:ea typeface="Arial"/>
                <a:cs typeface="Arial"/>
              </a:rPr>
              <a:t>S07 V1</a:t>
            </a:r>
          </a:p>
        </p:txBody>
      </p:sp>
      <p:sp>
        <p:nvSpPr>
          <p:cNvPr id="5" name="">
            <a:extLst xmlns:a="http://schemas.openxmlformats.org/drawingml/2006/main">
              <a:ext uri="{FF2B5EF4-FFF2-40B4-BE49-F238E27FC236}">
                <a16:creationId xmlns:a16="http://schemas.microsoft.com/office/drawing/2014/main" id="{40AE93DC-18F5-4357-B1ED-837C43710FC8}"/>
              </a:ext>
            </a:extLst>
          </p:cNvPr>
          <p:cNvSpPr>
            <a:spLocks xmlns:a="http://schemas.openxmlformats.org/drawingml/2006/main" noGrp="1"/>
          </p:cNvSpPr>
          <p:nvPr/>
        </p:nvSpPr>
        <p:spPr>
          <a:xfrm xmlns:a="http://schemas.openxmlformats.org/drawingml/2006/main">
            <a:off x="2952750" y="3381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93C13"/>
                </a:solidFill>
                <a:latin typeface="Arial"/>
                <a:ea typeface="Arial"/>
                <a:cs typeface="Arial"/>
              </a:defRPr>
            </a:defPPr>
          </a:lstStyle>
          <a:p xmlns:a="http://schemas.openxmlformats.org/drawingml/2006/main">
            <a:pPr>
              <a:defRPr sz="1725" b="1">
                <a:solidFill>
                  <a:srgbClr val="C93C13"/>
                </a:solidFill>
                <a:latin typeface="Arial"/>
                <a:ea typeface="Arial"/>
                <a:cs typeface="Arial"/>
              </a:defRPr>
            </a:pPr>
            <a:r>
              <a:rPr sz="1725" b="1">
                <a:solidFill>
                  <a:srgbClr val="C93C13"/>
                </a:solidFill>
                <a:latin typeface="Arial"/>
                <a:ea typeface="Arial"/>
                <a:cs typeface="Arial"/>
              </a:rPr>
              <a:t>S07 V2</a:t>
            </a:r>
          </a:p>
        </p:txBody>
      </p:sp>
      <p:pic>
        <p:nvPicPr>
          <p:cNvPr id="6" name="">
            <a:extLst xmlns:a="http://schemas.openxmlformats.org/drawingml/2006/main">
              <a:ext uri="{FF2B5EF4-FFF2-40B4-BE49-F238E27FC236}">
                <a16:creationId xmlns:a16="http://schemas.microsoft.com/office/drawing/2014/main" id="{4AD7EE1E-98A0-4AC6-8102-4606D76BEC97}"/>
              </a:ext>
            </a:extLst>
          </p:cNvPr>
          <p:cNvPicPr>
            <a:picLocks xmlns:a="http://schemas.openxmlformats.org/drawingml/2006/main" noChangeAspect="1"/>
          </p:cNvPicPr>
          <p:nvPr/>
        </p:nvPicPr>
        <p:blipFill>
          <a:blip xmlns:r="http://schemas.openxmlformats.org/officeDocument/2006/relationships" xmlns:a="http://schemas.openxmlformats.org/drawingml/2006/main" r:embed="R0b31df048f494ace"/>
          <a:stretch xmlns:a="http://schemas.openxmlformats.org/drawingml/2006/main"/>
        </p:blipFill>
        <p:spPr>
          <a:xfrm xmlns:a="http://schemas.openxmlformats.org/drawingml/2006/main">
            <a:off x="1096433" y="3810000"/>
            <a:ext cx="931333" cy="2095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D90DC05-BF8C-45FC-8120-F15CA1605EB8}"/>
              </a:ext>
            </a:extLst>
          </p:cNvPr>
          <p:cNvPicPr>
            <a:picLocks xmlns:a="http://schemas.openxmlformats.org/drawingml/2006/main" noChangeAspect="1"/>
          </p:cNvPicPr>
          <p:nvPr/>
        </p:nvPicPr>
        <p:blipFill>
          <a:blip xmlns:r="http://schemas.openxmlformats.org/officeDocument/2006/relationships" xmlns:a="http://schemas.openxmlformats.org/drawingml/2006/main" r:embed="Rb6dc3ad0a14745ae"/>
          <a:stretch xmlns:a="http://schemas.openxmlformats.org/drawingml/2006/main"/>
        </p:blipFill>
        <p:spPr>
          <a:xfrm xmlns:a="http://schemas.openxmlformats.org/drawingml/2006/main">
            <a:off x="3549074" y="3810000"/>
            <a:ext cx="712351"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BEA981-6550-4E4E-86D0-7CFE822234E4}"/>
              </a:ext>
            </a:extLst>
          </p:cNvPr>
          <p:cNvSpPr>
            <a:spLocks xmlns:a="http://schemas.openxmlformats.org/drawingml/2006/main" noGrp="1"/>
          </p:cNvSpPr>
          <p:nvPr/>
        </p:nvSpPr>
        <p:spPr>
          <a:xfrm xmlns:a="http://schemas.openxmlformats.org/drawingml/2006/main">
            <a:off x="5572125" y="33813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rPr>
              <a:t>Năm phát hiện trên màn hình cụ thể</a:t>
            </a:r>
          </a:p>
        </p:txBody>
      </p:sp>
      <p:sp>
        <p:nvSpPr>
          <p:cNvPr id="9" name="">
            <a:extLst xmlns:a="http://schemas.openxmlformats.org/drawingml/2006/main">
              <a:ext uri="{FF2B5EF4-FFF2-40B4-BE49-F238E27FC236}">
                <a16:creationId xmlns:a16="http://schemas.microsoft.com/office/drawing/2014/main" id="{E32E1301-CE31-44DB-BB56-D187CAC47FF1}"/>
              </a:ext>
            </a:extLst>
          </p:cNvPr>
          <p:cNvSpPr>
            <a:spLocks xmlns:a="http://schemas.openxmlformats.org/drawingml/2006/main" noGrp="1"/>
          </p:cNvSpPr>
          <p:nvPr/>
        </p:nvSpPr>
        <p:spPr>
          <a:xfrm xmlns:a="http://schemas.openxmlformats.org/drawingml/2006/main">
            <a:off x="5572125" y="3905250"/>
            <a:ext cx="60007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3047"/>
                </a:solidFill>
                <a:latin typeface="Arial"/>
                <a:ea typeface="Arial"/>
                <a:cs typeface="Arial"/>
              </a:defRPr>
            </a:defPPr>
          </a:lstStyle>
          <a:p xmlns:a="http://schemas.openxmlformats.org/drawingml/2006/main">
            <a:pPr>
              <a:defRPr sz="1725" b="0">
                <a:solidFill>
                  <a:srgbClr val="243047"/>
                </a:solidFill>
                <a:latin typeface="Arial"/>
                <a:ea typeface="Arial"/>
                <a:cs typeface="Arial"/>
              </a:defRPr>
            </a:pPr>
            <a:r>
              <a:rPr sz="1725" b="0">
                <a:solidFill>
                  <a:srgbClr val="243047"/>
                </a:solidFill>
                <a:latin typeface="Arial"/>
                <a:ea typeface="Arial"/>
                <a:cs typeface="Arial"/>
              </a:rPr>
              <a:t>S02: ngày và khoảng tuần không khớp</a:t>
            </a:r>
          </a:p>
          <a:p xmlns:a="http://schemas.openxmlformats.org/drawingml/2006/main">
            <a:pPr>
              <a:defRPr sz="1725" b="0">
                <a:solidFill>
                  <a:srgbClr val="243047"/>
                </a:solidFill>
                <a:latin typeface="Arial"/>
                <a:ea typeface="Arial"/>
                <a:cs typeface="Arial"/>
              </a:defRPr>
            </a:pPr>
            <a:r>
              <a:rPr sz="1725" b="0">
                <a:solidFill>
                  <a:srgbClr val="243047"/>
                </a:solidFill>
                <a:latin typeface="Arial"/>
                <a:ea typeface="Arial"/>
                <a:cs typeface="Arial"/>
              </a:rPr>
              <a:t>S04: lẫn khung giờ và lần học</a:t>
            </a:r>
          </a:p>
          <a:p xmlns:a="http://schemas.openxmlformats.org/drawingml/2006/main">
            <a:pPr>
              <a:defRPr sz="1725" b="0">
                <a:solidFill>
                  <a:srgbClr val="243047"/>
                </a:solidFill>
                <a:latin typeface="Arial"/>
                <a:ea typeface="Arial"/>
                <a:cs typeface="Arial"/>
              </a:defRPr>
            </a:pPr>
            <a:r>
              <a:rPr sz="1725" b="0">
                <a:solidFill>
                  <a:srgbClr val="243047"/>
                </a:solidFill>
                <a:latin typeface="Arial"/>
                <a:ea typeface="Arial"/>
                <a:cs typeface="Arial"/>
              </a:rPr>
              <a:t>S05: điều kiện khóa lịch chưa rõ</a:t>
            </a:r>
          </a:p>
          <a:p xmlns:a="http://schemas.openxmlformats.org/drawingml/2006/main">
            <a:pPr>
              <a:defRPr sz="1725" b="0">
                <a:solidFill>
                  <a:srgbClr val="243047"/>
                </a:solidFill>
                <a:latin typeface="Arial"/>
                <a:ea typeface="Arial"/>
                <a:cs typeface="Arial"/>
              </a:defRPr>
            </a:pPr>
            <a:r>
              <a:rPr sz="1725" b="0">
                <a:solidFill>
                  <a:srgbClr val="243047"/>
                </a:solidFill>
                <a:latin typeface="Arial"/>
                <a:ea typeface="Arial"/>
                <a:cs typeface="Arial"/>
              </a:rPr>
              <a:t>S07: giờ học / ghi chú chưa nhất quán</a:t>
            </a:r>
          </a:p>
          <a:p xmlns:a="http://schemas.openxmlformats.org/drawingml/2006/main">
            <a:pPr>
              <a:defRPr sz="1725" b="0">
                <a:solidFill>
                  <a:srgbClr val="243047"/>
                </a:solidFill>
                <a:latin typeface="Arial"/>
                <a:ea typeface="Arial"/>
                <a:cs typeface="Arial"/>
              </a:defRPr>
            </a:pPr>
            <a:r>
              <a:rPr sz="1725" b="0">
                <a:solidFill>
                  <a:srgbClr val="243047"/>
                </a:solidFill>
                <a:latin typeface="Arial"/>
                <a:ea typeface="Arial"/>
                <a:cs typeface="Arial"/>
              </a:rPr>
              <a:t>S09: tên file trước và sau xuất khác nhau</a:t>
            </a:r>
          </a:p>
        </p:txBody>
      </p:sp>
      <p:sp>
        <p:nvSpPr>
          <p:cNvPr id="10" name="">
            <a:extLst xmlns:a="http://schemas.openxmlformats.org/drawingml/2006/main">
              <a:ext uri="{FF2B5EF4-FFF2-40B4-BE49-F238E27FC236}">
                <a16:creationId xmlns:a16="http://schemas.microsoft.com/office/drawing/2014/main" id="{615AED2A-9C2D-4B0A-8E74-A65C54F26EC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Có ảnh các phiên bản; chưa đủ bằng chứng để xác nhận hoàn tất ba vòng cải tiến.</a:t>
            </a:r>
          </a:p>
        </p:txBody>
      </p:sp>
    </p:spTree>
    <p:extLst>
      <p:ext uri="{BB962C8B-B14F-4D97-AF65-F5344CB8AC3E}">
        <p14:creationId xmlns:p14="http://schemas.microsoft.com/office/powerpoint/2010/main" val="19964659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B7A0D8-55F8-4652-8963-75939BE96D6F}"/>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Giữ, chỉnh sửa và loại bỏ đề xuất AI</a:t>
            </a:r>
          </a:p>
        </p:txBody>
      </p:sp>
      <p:sp>
        <p:nvSpPr>
          <p:cNvPr id="2" name="">
            <a:extLst xmlns:a="http://schemas.openxmlformats.org/drawingml/2006/main">
              <a:ext uri="{FF2B5EF4-FFF2-40B4-BE49-F238E27FC236}">
                <a16:creationId xmlns:a16="http://schemas.microsoft.com/office/drawing/2014/main" id="{2E7ED1E4-D3F6-4B8E-9DC4-097F4F97DD22}"/>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A98A0D8C-6B90-4AAB-ABF9-A200AD14C507}"/>
              </a:ext>
            </a:extLst>
          </p:cNvPr>
          <p:cNvGraphicFramePr/>
          <p:nvPr/>
        </p:nvGraphicFramePr>
        <p:xfrm>
          <a:off xmlns:a="http://schemas.openxmlformats.org/drawingml/2006/main" x="609600" y="1524000"/>
          <a:ext xmlns:a="http://schemas.openxmlformats.org/drawingml/2006/main" cx="10953750" cy="3762375"/>
        </p:xfrm>
        <a:graphic xmlns:a="http://schemas.openxmlformats.org/drawingml/2006/main">
          <a:graphicData uri="http://schemas.openxmlformats.org/drawingml/2006/table">
            <a:tbl>
              <a:tblPr/>
              <a:tblGrid>
                <a:gridCol w="2047875"/>
                <a:gridCol w="4572000"/>
                <a:gridCol w="4333875"/>
              </a:tblGrid>
              <a:tr h="752475">
                <a:tc>
                  <a:txBody>
                    <a:bodyPr wrap="square" lIns="95250" tIns="95250" rIns="95250" bIns="95250"/>
                    <a:lstStyle/>
                    <a:p>
                      <a:r>
                        <a:rPr sz="1875" b="1">
                          <a:solidFill>
                            <a:srgbClr val="FFFFFF"/>
                          </a:solidFill>
                          <a:latin typeface="Arial"/>
                          <a:ea typeface="Arial"/>
                          <a:cs typeface="Arial"/>
                        </a:rPr>
                        <a:t>Hướng xử lý</a:t>
                      </a:r>
                    </a:p>
                  </a:txBody>
                  <a:tcPr marL="91440" marR="91440" marT="45720" marB="45720">
                    <a:solidFill>
                      <a:srgbClr val="243047"/>
                    </a:solidFill>
                  </a:tcPr>
                </a:tc>
                <a:tc>
                  <a:txBody>
                    <a:bodyPr wrap="square" lIns="95250" tIns="95250" rIns="95250" bIns="95250"/>
                    <a:lstStyle/>
                    <a:p>
                      <a:r>
                        <a:rPr sz="1875" b="1">
                          <a:solidFill>
                            <a:srgbClr val="FFFFFF"/>
                          </a:solidFill>
                          <a:latin typeface="Arial"/>
                          <a:ea typeface="Arial"/>
                          <a:cs typeface="Arial"/>
                        </a:rPr>
                        <a:t>Đề xuất cụ thể</a:t>
                      </a:r>
                    </a:p>
                  </a:txBody>
                  <a:tcPr marL="91440" marR="91440" marT="45720" marB="45720">
                    <a:solidFill>
                      <a:srgbClr val="243047"/>
                    </a:solidFill>
                  </a:tcPr>
                </a:tc>
                <a:tc>
                  <a:txBody>
                    <a:bodyPr wrap="square" lIns="95250" tIns="95250" rIns="95250" bIns="95250"/>
                    <a:lstStyle/>
                    <a:p>
                      <a:r>
                        <a:rPr sz="1875" b="1">
                          <a:solidFill>
                            <a:srgbClr val="FFFFFF"/>
                          </a:solidFill>
                          <a:latin typeface="Arial"/>
                          <a:ea typeface="Arial"/>
                          <a:cs typeface="Arial"/>
                        </a:rPr>
                        <a:t>Vì sao phù hợp người dùng</a:t>
                      </a:r>
                    </a:p>
                  </a:txBody>
                  <a:tcPr marL="91440" marR="91440" marT="45720" marB="45720">
                    <a:solidFill>
                      <a:srgbClr val="243047"/>
                    </a:solidFill>
                  </a:tcPr>
                </a:tc>
              </a:tr>
              <a:tr h="752475">
                <a:tc>
                  <a:txBody>
                    <a:bodyPr wrap="square" lIns="95250" tIns="95250" rIns="95250" bIns="95250"/>
                    <a:lstStyle/>
                    <a:p>
                      <a:r>
                        <a:rPr sz="1875" b="0">
                          <a:solidFill>
                            <a:srgbClr val="243047"/>
                          </a:solidFill>
                          <a:latin typeface="Arial"/>
                          <a:ea typeface="Arial"/>
                          <a:cs typeface="Arial"/>
                        </a:rPr>
                        <a:t>Giữ / Accept</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Lưu local, Drive tùy chọn</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Hoàn thành công việc khi mạng yếu</a:t>
                      </a:r>
                    </a:p>
                  </a:txBody>
                  <a:tcPr marL="91440" marR="91440" marT="45720" marB="45720">
                    <a:solidFill>
                      <a:srgbClr val="FFFFFF"/>
                    </a:solidFill>
                  </a:tcPr>
                </a:tc>
              </a:tr>
              <a:tr h="752475">
                <a:tc>
                  <a:txBody>
                    <a:bodyPr wrap="square" lIns="95250" tIns="95250" rIns="95250" bIns="95250"/>
                    <a:lstStyle/>
                    <a:p>
                      <a:r>
                        <a:rPr sz="1875" b="0">
                          <a:solidFill>
                            <a:srgbClr val="243047"/>
                          </a:solidFill>
                          <a:latin typeface="Arial"/>
                          <a:ea typeface="Arial"/>
                          <a:cs typeface="Arial"/>
                        </a:rPr>
                        <a:t>Sửa / Modify</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Nêu mốc 2 phút sau lượt quét hợp lệ</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Tránh hiểu là deadline của cả lớp</a:t>
                      </a:r>
                    </a:p>
                  </a:txBody>
                  <a:tcPr marL="91440" marR="91440" marT="45720" marB="45720">
                    <a:solidFill>
                      <a:srgbClr val="F6F7FA"/>
                    </a:solidFill>
                  </a:tcPr>
                </a:tc>
              </a:tr>
              <a:tr h="752475">
                <a:tc>
                  <a:txBody>
                    <a:bodyPr wrap="square" lIns="95250" tIns="95250" rIns="95250" bIns="95250"/>
                    <a:lstStyle/>
                    <a:p>
                      <a:r>
                        <a:rPr sz="1875" b="0">
                          <a:solidFill>
                            <a:srgbClr val="243047"/>
                          </a:solidFill>
                          <a:latin typeface="Arial"/>
                          <a:ea typeface="Arial"/>
                          <a:cs typeface="Arial"/>
                        </a:rPr>
                        <a:t>Sửa / Modify</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Lý do mới bắt buộc khi sửa P/A</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Giúp kiểm tra và truy vết chỉnh sửa</a:t>
                      </a:r>
                    </a:p>
                  </a:txBody>
                  <a:tcPr marL="91440" marR="91440" marT="45720" marB="45720">
                    <a:solidFill>
                      <a:srgbClr val="FFFFFF"/>
                    </a:solidFill>
                  </a:tcPr>
                </a:tc>
              </a:tr>
              <a:tr h="752475">
                <a:tc>
                  <a:txBody>
                    <a:bodyPr wrap="square" lIns="95250" tIns="95250" rIns="95250" bIns="95250"/>
                    <a:lstStyle/>
                    <a:p>
                      <a:r>
                        <a:rPr sz="1875" b="0">
                          <a:solidFill>
                            <a:srgbClr val="243047"/>
                          </a:solidFill>
                          <a:latin typeface="Arial"/>
                          <a:ea typeface="Arial"/>
                          <a:cs typeface="Arial"/>
                        </a:rPr>
                        <a:t>Bỏ / Reject</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Nhãn “giữ QR chạy ngầm” khi Back</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Không hứa hành vi trái đặc tả</a:t>
                      </a:r>
                    </a:p>
                  </a:txBody>
                  <a:tcPr marL="91440" marR="91440" marT="45720" marB="45720">
                    <a:solidFill>
                      <a:srgbClr val="F6F7FA"/>
                    </a:solidFill>
                  </a:tcPr>
                </a:tc>
              </a:tr>
            </a:tbl>
          </a:graphicData>
        </a:graphic>
      </p:graphicFrame>
      <p:sp>
        <p:nvSpPr>
          <p:cNvPr id="4" name="">
            <a:extLst xmlns:a="http://schemas.openxmlformats.org/drawingml/2006/main">
              <a:ext uri="{FF2B5EF4-FFF2-40B4-BE49-F238E27FC236}">
                <a16:creationId xmlns:a16="http://schemas.microsoft.com/office/drawing/2014/main" id="{1165D6D6-7470-4E47-AB71-C29B391B76EC}"/>
              </a:ext>
            </a:extLst>
          </p:cNvPr>
          <p:cNvSpPr>
            <a:spLocks xmlns:a="http://schemas.openxmlformats.org/drawingml/2006/main" noGrp="1"/>
          </p:cNvSpPr>
          <p:nvPr/>
        </p:nvSpPr>
        <p:spPr>
          <a:xfrm xmlns:a="http://schemas.openxmlformats.org/drawingml/2006/main">
            <a:off x="609600" y="55911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Cơ sở: nhu cầu giảng viên, ngăn lỗi, trạng thái rõ và quyền kiểm soát.</a:t>
            </a:r>
          </a:p>
        </p:txBody>
      </p:sp>
      <p:sp>
        <p:nvSpPr>
          <p:cNvPr id="5" name="">
            <a:extLst xmlns:a="http://schemas.openxmlformats.org/drawingml/2006/main">
              <a:ext uri="{FF2B5EF4-FFF2-40B4-BE49-F238E27FC236}">
                <a16:creationId xmlns:a16="http://schemas.microsoft.com/office/drawing/2014/main" id="{B6433BF7-7A1A-4775-B88F-F0562111CD13}"/>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Bản đề xuất chờ sinh viên xác nhận; chưa trình bày như quyết định đã áp dụng xong.</a:t>
            </a:r>
          </a:p>
        </p:txBody>
      </p:sp>
    </p:spTree>
    <p:extLst>
      <p:ext uri="{BB962C8B-B14F-4D97-AF65-F5344CB8AC3E}">
        <p14:creationId xmlns:p14="http://schemas.microsoft.com/office/powerpoint/2010/main" val="7801107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59AB42-B289-4734-A4A9-4684F4A458A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Wireframe và giao diện hiện có</a:t>
            </a:r>
          </a:p>
        </p:txBody>
      </p:sp>
      <p:sp>
        <p:nvSpPr>
          <p:cNvPr id="2" name="">
            <a:extLst xmlns:a="http://schemas.openxmlformats.org/drawingml/2006/main">
              <a:ext uri="{FF2B5EF4-FFF2-40B4-BE49-F238E27FC236}">
                <a16:creationId xmlns:a16="http://schemas.microsoft.com/office/drawing/2014/main" id="{5F497833-2F6B-4CC6-9C03-320962D0AF04}"/>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B1EC8473-6B38-4B42-A2EB-EDB3EF7AA6E9}"/>
              </a:ext>
            </a:extLst>
          </p:cNvPr>
          <p:cNvPicPr>
            <a:picLocks xmlns:a="http://schemas.openxmlformats.org/drawingml/2006/main" noChangeAspect="1"/>
          </p:cNvPicPr>
          <p:nvPr/>
        </p:nvPicPr>
        <p:blipFill>
          <a:blip xmlns:r="http://schemas.openxmlformats.org/officeDocument/2006/relationships" xmlns:a="http://schemas.openxmlformats.org/drawingml/2006/main" r:embed="R95ea831d52a9488d"/>
          <a:stretch xmlns:a="http://schemas.openxmlformats.org/drawingml/2006/main"/>
        </p:blipFill>
        <p:spPr>
          <a:xfrm xmlns:a="http://schemas.openxmlformats.org/drawingml/2006/main">
            <a:off x="1134916" y="1333500"/>
            <a:ext cx="911518" cy="1857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5162B0-CAEB-4768-8F40-BD56135BFA0D}"/>
              </a:ext>
            </a:extLst>
          </p:cNvPr>
          <p:cNvSpPr>
            <a:spLocks xmlns:a="http://schemas.openxmlformats.org/drawingml/2006/main" noGrp="1"/>
          </p:cNvSpPr>
          <p:nvPr/>
        </p:nvSpPr>
        <p:spPr>
          <a:xfrm xmlns:a="http://schemas.openxmlformats.org/drawingml/2006/main">
            <a:off x="6096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Bắt đầu</a:t>
            </a:r>
          </a:p>
        </p:txBody>
      </p:sp>
      <p:pic>
        <p:nvPicPr>
          <p:cNvPr id="5" name="">
            <a:extLst xmlns:a="http://schemas.openxmlformats.org/drawingml/2006/main">
              <a:ext uri="{FF2B5EF4-FFF2-40B4-BE49-F238E27FC236}">
                <a16:creationId xmlns:a16="http://schemas.microsoft.com/office/drawing/2014/main" id="{CCE99127-1FD6-4D2C-8F48-7C00E271C831}"/>
              </a:ext>
            </a:extLst>
          </p:cNvPr>
          <p:cNvPicPr>
            <a:picLocks xmlns:a="http://schemas.openxmlformats.org/drawingml/2006/main" noChangeAspect="1"/>
          </p:cNvPicPr>
          <p:nvPr/>
        </p:nvPicPr>
        <p:blipFill>
          <a:blip xmlns:r="http://schemas.openxmlformats.org/officeDocument/2006/relationships" xmlns:a="http://schemas.openxmlformats.org/drawingml/2006/main" r:embed="R35bbaf6f1b6844c0"/>
          <a:stretch xmlns:a="http://schemas.openxmlformats.org/drawingml/2006/main"/>
        </p:blipFill>
        <p:spPr>
          <a:xfrm xmlns:a="http://schemas.openxmlformats.org/drawingml/2006/main">
            <a:off x="3392181" y="1333500"/>
            <a:ext cx="892789"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B7392B-CE17-4230-A20E-7ADEBC7A54D8}"/>
              </a:ext>
            </a:extLst>
          </p:cNvPr>
          <p:cNvSpPr>
            <a:spLocks xmlns:a="http://schemas.openxmlformats.org/drawingml/2006/main" noGrp="1"/>
          </p:cNvSpPr>
          <p:nvPr/>
        </p:nvSpPr>
        <p:spPr>
          <a:xfrm xmlns:a="http://schemas.openxmlformats.org/drawingml/2006/main">
            <a:off x="28575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Import</a:t>
            </a:r>
          </a:p>
        </p:txBody>
      </p:sp>
      <p:pic>
        <p:nvPicPr>
          <p:cNvPr id="7" name="">
            <a:extLst xmlns:a="http://schemas.openxmlformats.org/drawingml/2006/main">
              <a:ext uri="{FF2B5EF4-FFF2-40B4-BE49-F238E27FC236}">
                <a16:creationId xmlns:a16="http://schemas.microsoft.com/office/drawing/2014/main" id="{C8A197A7-D1E2-4A38-94EC-FD762BD82FE4}"/>
              </a:ext>
            </a:extLst>
          </p:cNvPr>
          <p:cNvPicPr>
            <a:picLocks xmlns:a="http://schemas.openxmlformats.org/drawingml/2006/main" noChangeAspect="1"/>
          </p:cNvPicPr>
          <p:nvPr/>
        </p:nvPicPr>
        <p:blipFill>
          <a:blip xmlns:r="http://schemas.openxmlformats.org/officeDocument/2006/relationships" xmlns:a="http://schemas.openxmlformats.org/drawingml/2006/main" r:embed="R6ab539caba6e44f2"/>
          <a:stretch xmlns:a="http://schemas.openxmlformats.org/drawingml/2006/main"/>
        </p:blipFill>
        <p:spPr>
          <a:xfrm xmlns:a="http://schemas.openxmlformats.org/drawingml/2006/main">
            <a:off x="5622131" y="1333500"/>
            <a:ext cx="928688" cy="1857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BC8D205-7AB3-4836-847E-89EB03FE2D1E}"/>
              </a:ext>
            </a:extLst>
          </p:cNvPr>
          <p:cNvSpPr>
            <a:spLocks xmlns:a="http://schemas.openxmlformats.org/drawingml/2006/main" noGrp="1"/>
          </p:cNvSpPr>
          <p:nvPr/>
        </p:nvSpPr>
        <p:spPr>
          <a:xfrm xmlns:a="http://schemas.openxmlformats.org/drawingml/2006/main">
            <a:off x="51054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Danh sách / lịch</a:t>
            </a:r>
          </a:p>
        </p:txBody>
      </p:sp>
      <p:pic>
        <p:nvPicPr>
          <p:cNvPr id="9" name="">
            <a:extLst xmlns:a="http://schemas.openxmlformats.org/drawingml/2006/main">
              <a:ext uri="{FF2B5EF4-FFF2-40B4-BE49-F238E27FC236}">
                <a16:creationId xmlns:a16="http://schemas.microsoft.com/office/drawing/2014/main" id="{4D4EC0FE-624D-467E-89CF-B811A3A8CE49}"/>
              </a:ext>
            </a:extLst>
          </p:cNvPr>
          <p:cNvPicPr>
            <a:picLocks xmlns:a="http://schemas.openxmlformats.org/drawingml/2006/main" noChangeAspect="1"/>
          </p:cNvPicPr>
          <p:nvPr/>
        </p:nvPicPr>
        <p:blipFill>
          <a:blip xmlns:r="http://schemas.openxmlformats.org/officeDocument/2006/relationships" xmlns:a="http://schemas.openxmlformats.org/drawingml/2006/main" r:embed="Rb66e4bb30c484584"/>
          <a:stretch xmlns:a="http://schemas.openxmlformats.org/drawingml/2006/main"/>
        </p:blipFill>
        <p:spPr>
          <a:xfrm xmlns:a="http://schemas.openxmlformats.org/drawingml/2006/main">
            <a:off x="7870822" y="1333500"/>
            <a:ext cx="927105" cy="1857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E67AB8D-5024-4691-AA45-653BB352EF82}"/>
              </a:ext>
            </a:extLst>
          </p:cNvPr>
          <p:cNvSpPr>
            <a:spLocks xmlns:a="http://schemas.openxmlformats.org/drawingml/2006/main" noGrp="1"/>
          </p:cNvSpPr>
          <p:nvPr/>
        </p:nvSpPr>
        <p:spPr>
          <a:xfrm xmlns:a="http://schemas.openxmlformats.org/drawingml/2006/main">
            <a:off x="73533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Điểm danh lớp</a:t>
            </a:r>
          </a:p>
        </p:txBody>
      </p:sp>
      <p:pic>
        <p:nvPicPr>
          <p:cNvPr id="11" name="">
            <a:extLst xmlns:a="http://schemas.openxmlformats.org/drawingml/2006/main">
              <a:ext uri="{FF2B5EF4-FFF2-40B4-BE49-F238E27FC236}">
                <a16:creationId xmlns:a16="http://schemas.microsoft.com/office/drawing/2014/main" id="{8B11EB7F-B529-4C29-94CB-2C7ABC37EB68}"/>
              </a:ext>
            </a:extLst>
          </p:cNvPr>
          <p:cNvPicPr>
            <a:picLocks xmlns:a="http://schemas.openxmlformats.org/drawingml/2006/main" noChangeAspect="1"/>
          </p:cNvPicPr>
          <p:nvPr/>
        </p:nvPicPr>
        <p:blipFill>
          <a:blip xmlns:r="http://schemas.openxmlformats.org/officeDocument/2006/relationships" xmlns:a="http://schemas.openxmlformats.org/drawingml/2006/main" r:embed="R6de7a30b56314b11"/>
          <a:stretch xmlns:a="http://schemas.openxmlformats.org/drawingml/2006/main"/>
        </p:blipFill>
        <p:spPr>
          <a:xfrm xmlns:a="http://schemas.openxmlformats.org/drawingml/2006/main">
            <a:off x="10134487" y="1333500"/>
            <a:ext cx="895576" cy="1857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AF3B0C4-F3F2-4488-8DB9-0CE89FE5B28A}"/>
              </a:ext>
            </a:extLst>
          </p:cNvPr>
          <p:cNvSpPr>
            <a:spLocks xmlns:a="http://schemas.openxmlformats.org/drawingml/2006/main" noGrp="1"/>
          </p:cNvSpPr>
          <p:nvPr/>
        </p:nvSpPr>
        <p:spPr>
          <a:xfrm xmlns:a="http://schemas.openxmlformats.org/drawingml/2006/main">
            <a:off x="96012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Cấu hình lịch</a:t>
            </a:r>
          </a:p>
        </p:txBody>
      </p:sp>
      <p:pic>
        <p:nvPicPr>
          <p:cNvPr id="13" name="">
            <a:extLst xmlns:a="http://schemas.openxmlformats.org/drawingml/2006/main">
              <a:ext uri="{FF2B5EF4-FFF2-40B4-BE49-F238E27FC236}">
                <a16:creationId xmlns:a16="http://schemas.microsoft.com/office/drawing/2014/main" id="{223E7CB5-C3D9-4D57-854D-BDF3D6EEA5FD}"/>
              </a:ext>
            </a:extLst>
          </p:cNvPr>
          <p:cNvPicPr>
            <a:picLocks xmlns:a="http://schemas.openxmlformats.org/drawingml/2006/main" noChangeAspect="1"/>
          </p:cNvPicPr>
          <p:nvPr/>
        </p:nvPicPr>
        <p:blipFill>
          <a:blip xmlns:r="http://schemas.openxmlformats.org/officeDocument/2006/relationships" xmlns:a="http://schemas.openxmlformats.org/drawingml/2006/main" r:embed="R4a778dd3dbeb44d5"/>
          <a:stretch xmlns:a="http://schemas.openxmlformats.org/drawingml/2006/main"/>
        </p:blipFill>
        <p:spPr>
          <a:xfrm xmlns:a="http://schemas.openxmlformats.org/drawingml/2006/main">
            <a:off x="1130990" y="3667125"/>
            <a:ext cx="919370" cy="1857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03FE81D-6BF4-42DB-A690-62C449F6F613}"/>
              </a:ext>
            </a:extLst>
          </p:cNvPr>
          <p:cNvSpPr>
            <a:spLocks xmlns:a="http://schemas.openxmlformats.org/drawingml/2006/main" noGrp="1"/>
          </p:cNvSpPr>
          <p:nvPr/>
        </p:nvSpPr>
        <p:spPr>
          <a:xfrm xmlns:a="http://schemas.openxmlformats.org/drawingml/2006/main">
            <a:off x="6096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QR điểm danh</a:t>
            </a:r>
          </a:p>
        </p:txBody>
      </p:sp>
      <p:pic>
        <p:nvPicPr>
          <p:cNvPr id="15" name="">
            <a:extLst xmlns:a="http://schemas.openxmlformats.org/drawingml/2006/main">
              <a:ext uri="{FF2B5EF4-FFF2-40B4-BE49-F238E27FC236}">
                <a16:creationId xmlns:a16="http://schemas.microsoft.com/office/drawing/2014/main" id="{F6B49C03-4DDD-4C0F-A8F2-B6E0FD09A4B2}"/>
              </a:ext>
            </a:extLst>
          </p:cNvPr>
          <p:cNvPicPr>
            <a:picLocks xmlns:a="http://schemas.openxmlformats.org/drawingml/2006/main" noChangeAspect="1"/>
          </p:cNvPicPr>
          <p:nvPr/>
        </p:nvPicPr>
        <p:blipFill>
          <a:blip xmlns:r="http://schemas.openxmlformats.org/officeDocument/2006/relationships" xmlns:a="http://schemas.openxmlformats.org/drawingml/2006/main" r:embed="R656e7b2b0fc54ab6"/>
          <a:stretch xmlns:a="http://schemas.openxmlformats.org/drawingml/2006/main"/>
        </p:blipFill>
        <p:spPr>
          <a:xfrm xmlns:a="http://schemas.openxmlformats.org/drawingml/2006/main">
            <a:off x="3382933" y="3667125"/>
            <a:ext cx="911284" cy="1857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A8D6CAB-45EA-4777-BCAA-E33E85CC7FBA}"/>
              </a:ext>
            </a:extLst>
          </p:cNvPr>
          <p:cNvSpPr>
            <a:spLocks xmlns:a="http://schemas.openxmlformats.org/drawingml/2006/main" noGrp="1"/>
          </p:cNvSpPr>
          <p:nvPr/>
        </p:nvSpPr>
        <p:spPr>
          <a:xfrm xmlns:a="http://schemas.openxmlformats.org/drawingml/2006/main">
            <a:off x="28575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Chi tiết SV</a:t>
            </a:r>
          </a:p>
        </p:txBody>
      </p:sp>
      <p:pic>
        <p:nvPicPr>
          <p:cNvPr id="17" name="">
            <a:extLst xmlns:a="http://schemas.openxmlformats.org/drawingml/2006/main">
              <a:ext uri="{FF2B5EF4-FFF2-40B4-BE49-F238E27FC236}">
                <a16:creationId xmlns:a16="http://schemas.microsoft.com/office/drawing/2014/main" id="{381CC19A-D438-439C-B0AD-CC5CEF61F161}"/>
              </a:ext>
            </a:extLst>
          </p:cNvPr>
          <p:cNvPicPr>
            <a:picLocks xmlns:a="http://schemas.openxmlformats.org/drawingml/2006/main" noChangeAspect="1"/>
          </p:cNvPicPr>
          <p:nvPr/>
        </p:nvPicPr>
        <p:blipFill>
          <a:blip xmlns:r="http://schemas.openxmlformats.org/officeDocument/2006/relationships" xmlns:a="http://schemas.openxmlformats.org/drawingml/2006/main" r:embed="Ra5e1eb65a1d449e8"/>
          <a:stretch xmlns:a="http://schemas.openxmlformats.org/drawingml/2006/main"/>
        </p:blipFill>
        <p:spPr>
          <a:xfrm xmlns:a="http://schemas.openxmlformats.org/drawingml/2006/main">
            <a:off x="5624496" y="3667125"/>
            <a:ext cx="923957" cy="1857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CBC62D2-0DCE-47DB-AC50-E9EB3BAC6F27}"/>
              </a:ext>
            </a:extLst>
          </p:cNvPr>
          <p:cNvSpPr>
            <a:spLocks xmlns:a="http://schemas.openxmlformats.org/drawingml/2006/main" noGrp="1"/>
          </p:cNvSpPr>
          <p:nvPr/>
        </p:nvSpPr>
        <p:spPr>
          <a:xfrm xmlns:a="http://schemas.openxmlformats.org/drawingml/2006/main">
            <a:off x="51054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Lịch sử / kết quả</a:t>
            </a:r>
          </a:p>
        </p:txBody>
      </p:sp>
      <p:pic>
        <p:nvPicPr>
          <p:cNvPr id="19" name="">
            <a:extLst xmlns:a="http://schemas.openxmlformats.org/drawingml/2006/main">
              <a:ext uri="{FF2B5EF4-FFF2-40B4-BE49-F238E27FC236}">
                <a16:creationId xmlns:a16="http://schemas.microsoft.com/office/drawing/2014/main" id="{70658E63-5659-4B84-8661-CAC322A819F3}"/>
              </a:ext>
            </a:extLst>
          </p:cNvPr>
          <p:cNvPicPr>
            <a:picLocks xmlns:a="http://schemas.openxmlformats.org/drawingml/2006/main" noChangeAspect="1"/>
          </p:cNvPicPr>
          <p:nvPr/>
        </p:nvPicPr>
        <p:blipFill>
          <a:blip xmlns:r="http://schemas.openxmlformats.org/officeDocument/2006/relationships" xmlns:a="http://schemas.openxmlformats.org/drawingml/2006/main" r:embed="Red7eccbc21494b49"/>
          <a:stretch xmlns:a="http://schemas.openxmlformats.org/drawingml/2006/main"/>
        </p:blipFill>
        <p:spPr>
          <a:xfrm xmlns:a="http://schemas.openxmlformats.org/drawingml/2006/main">
            <a:off x="7909117" y="3667125"/>
            <a:ext cx="850515" cy="1857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F1250DC9-C65A-4A56-B19E-ECA0491AB31B}"/>
              </a:ext>
            </a:extLst>
          </p:cNvPr>
          <p:cNvSpPr>
            <a:spLocks xmlns:a="http://schemas.openxmlformats.org/drawingml/2006/main" noGrp="1"/>
          </p:cNvSpPr>
          <p:nvPr/>
        </p:nvSpPr>
        <p:spPr>
          <a:xfrm xmlns:a="http://schemas.openxmlformats.org/drawingml/2006/main">
            <a:off x="73533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Xuất kết quả</a:t>
            </a:r>
          </a:p>
        </p:txBody>
      </p:sp>
      <p:pic>
        <p:nvPicPr>
          <p:cNvPr id="21" name="">
            <a:extLst xmlns:a="http://schemas.openxmlformats.org/drawingml/2006/main">
              <a:ext uri="{FF2B5EF4-FFF2-40B4-BE49-F238E27FC236}">
                <a16:creationId xmlns:a16="http://schemas.microsoft.com/office/drawing/2014/main" id="{A55FF9DE-9B4A-487D-B905-8EC08F18E82A}"/>
              </a:ext>
            </a:extLst>
          </p:cNvPr>
          <p:cNvPicPr>
            <a:picLocks xmlns:a="http://schemas.openxmlformats.org/drawingml/2006/main" noChangeAspect="1"/>
          </p:cNvPicPr>
          <p:nvPr/>
        </p:nvPicPr>
        <p:blipFill>
          <a:blip xmlns:r="http://schemas.openxmlformats.org/officeDocument/2006/relationships" xmlns:a="http://schemas.openxmlformats.org/drawingml/2006/main" r:embed="Re43940c7e6754e1a"/>
          <a:stretch xmlns:a="http://schemas.openxmlformats.org/drawingml/2006/main"/>
        </p:blipFill>
        <p:spPr>
          <a:xfrm xmlns:a="http://schemas.openxmlformats.org/drawingml/2006/main">
            <a:off x="10247110" y="3667125"/>
            <a:ext cx="670331" cy="18573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C2D8605-BC52-4930-867F-3C040FCA5765}"/>
              </a:ext>
            </a:extLst>
          </p:cNvPr>
          <p:cNvSpPr>
            <a:spLocks xmlns:a="http://schemas.openxmlformats.org/drawingml/2006/main" noGrp="1"/>
          </p:cNvSpPr>
          <p:nvPr/>
        </p:nvSpPr>
        <p:spPr>
          <a:xfrm xmlns:a="http://schemas.openxmlformats.org/drawingml/2006/main">
            <a:off x="96012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stStyle>
          <a:p xmlns:a="http://schemas.openxmlformats.org/drawingml/2006/main">
            <a:pPr>
              <a:defRPr sz="1650" b="1">
                <a:solidFill>
                  <a:srgbClr val="243047"/>
                </a:solidFill>
                <a:latin typeface="Arial"/>
                <a:ea typeface="Arial"/>
                <a:cs typeface="Arial"/>
              </a:defRPr>
            </a:pPr>
            <a:r>
              <a:rPr sz="1650" b="1">
                <a:solidFill>
                  <a:srgbClr val="243047"/>
                </a:solidFill>
                <a:latin typeface="Arial"/>
                <a:ea typeface="Arial"/>
                <a:cs typeface="Arial"/>
              </a:rPr>
              <a:t>Drive (V1 cũ)</a:t>
            </a:r>
          </a:p>
        </p:txBody>
      </p:sp>
      <p:sp>
        <p:nvSpPr>
          <p:cNvPr id="23" name="">
            <a:extLst xmlns:a="http://schemas.openxmlformats.org/drawingml/2006/main">
              <a:ext uri="{FF2B5EF4-FFF2-40B4-BE49-F238E27FC236}">
                <a16:creationId xmlns:a16="http://schemas.microsoft.com/office/drawing/2014/main" id="{60FB4155-A03B-499D-9277-807E9BCABD1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Chưa có low-fi riêng; cần đối chiếu low-fi/final và bổ sung trạng thái trống, tải, lỗi.</a:t>
            </a:r>
          </a:p>
        </p:txBody>
      </p:sp>
    </p:spTree>
    <p:extLst>
      <p:ext uri="{BB962C8B-B14F-4D97-AF65-F5344CB8AC3E}">
        <p14:creationId xmlns:p14="http://schemas.microsoft.com/office/powerpoint/2010/main" val="18350959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3A9E39-CB50-4788-B9EE-325255CC1631}"/>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Hệ thống giao diện và components</a:t>
            </a:r>
          </a:p>
        </p:txBody>
      </p:sp>
      <p:sp>
        <p:nvSpPr>
          <p:cNvPr id="2" name="">
            <a:extLst xmlns:a="http://schemas.openxmlformats.org/drawingml/2006/main">
              <a:ext uri="{FF2B5EF4-FFF2-40B4-BE49-F238E27FC236}">
                <a16:creationId xmlns:a16="http://schemas.microsoft.com/office/drawing/2014/main" id="{1AE0B832-9DFB-4E35-8A3D-3FCB28FEC998}"/>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89528CCC-0C70-432B-91C2-D0F4701EDC0F}"/>
              </a:ext>
            </a:extLst>
          </p:cNvPr>
          <p:cNvGraphicFramePr/>
          <p:nvPr/>
        </p:nvGraphicFramePr>
        <p:xfrm>
          <a:off xmlns:a="http://schemas.openxmlformats.org/drawingml/2006/main" x="609600" y="1476375"/>
          <a:ext xmlns:a="http://schemas.openxmlformats.org/drawingml/2006/main" cx="5238750" cy="3714750"/>
        </p:xfrm>
        <a:graphic xmlns:a="http://schemas.openxmlformats.org/drawingml/2006/main">
          <a:graphicData uri="http://schemas.openxmlformats.org/drawingml/2006/table">
            <a:tbl>
              <a:tblPr/>
              <a:tblGrid>
                <a:gridCol w="1952625"/>
                <a:gridCol w="3286125"/>
              </a:tblGrid>
              <a:tr h="619125">
                <a:tc>
                  <a:txBody>
                    <a:bodyPr wrap="square" lIns="95250" tIns="95250" rIns="95250" bIns="95250"/>
                    <a:lstStyle/>
                    <a:p>
                      <a:r>
                        <a:rPr sz="1725" b="1">
                          <a:solidFill>
                            <a:srgbClr val="FFFFFF"/>
                          </a:solidFill>
                          <a:latin typeface="Arial"/>
                          <a:ea typeface="Arial"/>
                          <a:cs typeface="Arial"/>
                        </a:rPr>
                        <a:t>Quy tắc dùng chung</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Đặc tả mục tiêu</a:t>
                      </a:r>
                    </a:p>
                  </a:txBody>
                  <a:tcPr marL="91440" marR="91440" marT="45720" marB="45720">
                    <a:solidFill>
                      <a:srgbClr val="243047"/>
                    </a:solidFill>
                  </a:tcPr>
                </a:tc>
              </a:tr>
              <a:tr h="619125">
                <a:tc>
                  <a:txBody>
                    <a:bodyPr wrap="square" lIns="95250" tIns="95250" rIns="95250" bIns="95250"/>
                    <a:lstStyle/>
                    <a:p>
                      <a:r>
                        <a:rPr sz="1725" b="0">
                          <a:solidFill>
                            <a:srgbClr val="243047"/>
                          </a:solidFill>
                          <a:latin typeface="Arial"/>
                          <a:ea typeface="Arial"/>
                          <a:cs typeface="Arial"/>
                        </a:rPr>
                        <a:t>Màu</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Cam hành động; xanh/đỏ kèm chữ</a:t>
                      </a:r>
                    </a:p>
                  </a:txBody>
                  <a:tcPr marL="91440" marR="91440" marT="45720" marB="45720">
                    <a:solidFill>
                      <a:srgbClr val="FFFFFF"/>
                    </a:solidFill>
                  </a:tcPr>
                </a:tc>
              </a:tr>
              <a:tr h="619125">
                <a:tc>
                  <a:txBody>
                    <a:bodyPr wrap="square" lIns="95250" tIns="95250" rIns="95250" bIns="95250"/>
                    <a:lstStyle/>
                    <a:p>
                      <a:r>
                        <a:rPr sz="1725" b="0">
                          <a:solidFill>
                            <a:srgbClr val="243047"/>
                          </a:solidFill>
                          <a:latin typeface="Arial"/>
                          <a:ea typeface="Arial"/>
                          <a:cs typeface="Arial"/>
                        </a:rPr>
                        <a:t>Kiểu chữ</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Roboto; tiêu đề 24, nội dung 16, phụ 14</a:t>
                      </a:r>
                    </a:p>
                  </a:txBody>
                  <a:tcPr marL="91440" marR="91440" marT="45720" marB="45720">
                    <a:solidFill>
                      <a:srgbClr val="F6F7FA"/>
                    </a:solidFill>
                  </a:tcPr>
                </a:tc>
              </a:tr>
              <a:tr h="619125">
                <a:tc>
                  <a:txBody>
                    <a:bodyPr wrap="square" lIns="95250" tIns="95250" rIns="95250" bIns="95250"/>
                    <a:lstStyle/>
                    <a:p>
                      <a:r>
                        <a:rPr sz="1725" b="0">
                          <a:solidFill>
                            <a:srgbClr val="243047"/>
                          </a:solidFill>
                          <a:latin typeface="Arial"/>
                          <a:ea typeface="Arial"/>
                          <a:cs typeface="Arial"/>
                        </a:rPr>
                        <a:t>Khoảng cách</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4, 8, 12, 16, 24, 32</a:t>
                      </a:r>
                    </a:p>
                  </a:txBody>
                  <a:tcPr marL="91440" marR="91440" marT="45720" marB="45720">
                    <a:solidFill>
                      <a:srgbClr val="FFFFFF"/>
                    </a:solidFill>
                  </a:tcPr>
                </a:tc>
              </a:tr>
              <a:tr h="619125">
                <a:tc>
                  <a:txBody>
                    <a:bodyPr wrap="square" lIns="95250" tIns="95250" rIns="95250" bIns="95250"/>
                    <a:lstStyle/>
                    <a:p>
                      <a:r>
                        <a:rPr sz="1725" b="0">
                          <a:solidFill>
                            <a:srgbClr val="243047"/>
                          </a:solidFill>
                          <a:latin typeface="Arial"/>
                          <a:ea typeface="Arial"/>
                          <a:cs typeface="Arial"/>
                        </a:rPr>
                        <a:t>Bo góc</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8 / 12 / 16 tùy thành phần</a:t>
                      </a:r>
                    </a:p>
                  </a:txBody>
                  <a:tcPr marL="91440" marR="91440" marT="45720" marB="45720">
                    <a:solidFill>
                      <a:srgbClr val="F6F7FA"/>
                    </a:solidFill>
                  </a:tcPr>
                </a:tc>
              </a:tr>
              <a:tr h="619125">
                <a:tc>
                  <a:txBody>
                    <a:bodyPr wrap="square" lIns="95250" tIns="95250" rIns="95250" bIns="95250"/>
                    <a:lstStyle/>
                    <a:p>
                      <a:r>
                        <a:rPr sz="1725" b="0">
                          <a:solidFill>
                            <a:srgbClr val="243047"/>
                          </a:solidFill>
                          <a:latin typeface="Arial"/>
                          <a:ea typeface="Arial"/>
                          <a:cs typeface="Arial"/>
                        </a:rPr>
                        <a:t>Độ nổi</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Bóng nhẹ cho card và hộp thoại</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E63B532-5482-45C5-ABDA-36FB10E808AC}"/>
              </a:ext>
            </a:extLst>
          </p:cNvPr>
          <p:cNvSpPr>
            <a:spLocks xmlns:a="http://schemas.openxmlformats.org/drawingml/2006/main" noGrp="1"/>
          </p:cNvSpPr>
          <p:nvPr/>
        </p:nvSpPr>
        <p:spPr>
          <a:xfrm xmlns:a="http://schemas.openxmlformats.org/drawingml/2006/main">
            <a:off x="6477000" y="1476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rPr>
              <a:t>Chín nhóm component</a:t>
            </a:r>
          </a:p>
        </p:txBody>
      </p:sp>
      <p:sp>
        <p:nvSpPr>
          <p:cNvPr id="5" name="">
            <a:extLst xmlns:a="http://schemas.openxmlformats.org/drawingml/2006/main">
              <a:ext uri="{FF2B5EF4-FFF2-40B4-BE49-F238E27FC236}">
                <a16:creationId xmlns:a16="http://schemas.microsoft.com/office/drawing/2014/main" id="{92E40DAF-8FC7-4D93-903D-78751637F893}"/>
              </a:ext>
            </a:extLst>
          </p:cNvPr>
          <p:cNvSpPr>
            <a:spLocks xmlns:a="http://schemas.openxmlformats.org/drawingml/2006/main" noGrp="1"/>
          </p:cNvSpPr>
          <p:nvPr/>
        </p:nvSpPr>
        <p:spPr>
          <a:xfrm xmlns:a="http://schemas.openxmlformats.org/drawingml/2006/main">
            <a:off x="6477000" y="2047875"/>
            <a:ext cx="5048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047"/>
                </a:solidFill>
                <a:latin typeface="Arial"/>
                <a:ea typeface="Arial"/>
                <a:cs typeface="Arial"/>
              </a:defRPr>
            </a:defPPr>
          </a:lstStyle>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Nút: thường, nhấn, khóa, đang tải</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Ô nhập: focus, đã nhập, lỗi, khóa</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Card: thường / có thể bấm</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Điều hướng: mục đang chọn</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App bar: Back và hành động</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Hộp thoại: xác nhận / hủy</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Loading: đang xử lý</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Empty: trống và cách tiếp tục</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Error: nguyên nhân và thử lại</a:t>
            </a:r>
          </a:p>
        </p:txBody>
      </p:sp>
      <p:sp>
        <p:nvSpPr>
          <p:cNvPr id="6" name="">
            <a:extLst xmlns:a="http://schemas.openxmlformats.org/drawingml/2006/main">
              <a:ext uri="{FF2B5EF4-FFF2-40B4-BE49-F238E27FC236}">
                <a16:creationId xmlns:a16="http://schemas.microsoft.com/office/drawing/2014/main" id="{B4C62273-A9DD-4FB4-9200-B9B1222198FC}"/>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Đã có đặc tả. Auto Layout, variants, instances và Variables/styles chưa được xác minh.</a:t>
            </a:r>
          </a:p>
        </p:txBody>
      </p:sp>
    </p:spTree>
    <p:extLst>
      <p:ext uri="{BB962C8B-B14F-4D97-AF65-F5344CB8AC3E}">
        <p14:creationId xmlns:p14="http://schemas.microsoft.com/office/powerpoint/2010/main" val="8619565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AB0A1D-499B-4F3A-BD98-444ECA4A4386}"/>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Khả năng tiếp cận và thích ứng màn hình</a:t>
            </a:r>
          </a:p>
        </p:txBody>
      </p:sp>
      <p:sp>
        <p:nvSpPr>
          <p:cNvPr id="2" name="">
            <a:extLst xmlns:a="http://schemas.openxmlformats.org/drawingml/2006/main">
              <a:ext uri="{FF2B5EF4-FFF2-40B4-BE49-F238E27FC236}">
                <a16:creationId xmlns:a16="http://schemas.microsoft.com/office/drawing/2014/main" id="{7015655C-2765-4FEB-B5BF-AA10780B8224}"/>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F8BC8865-BED4-46FC-9951-F6182E81B8B4}"/>
              </a:ext>
            </a:extLst>
          </p:cNvPr>
          <p:cNvGraphicFramePr/>
          <p:nvPr/>
        </p:nvGraphicFramePr>
        <p:xfrm>
          <a:off xmlns:a="http://schemas.openxmlformats.org/drawingml/2006/main" x="609600" y="1476375"/>
          <a:ext xmlns:a="http://schemas.openxmlformats.org/drawingml/2006/main" cx="10953750" cy="3810000"/>
        </p:xfrm>
        <a:graphic xmlns:a="http://schemas.openxmlformats.org/drawingml/2006/main">
          <a:graphicData uri="http://schemas.openxmlformats.org/drawingml/2006/table">
            <a:tbl>
              <a:tblPr/>
              <a:tblGrid>
                <a:gridCol w="2286000"/>
                <a:gridCol w="4667250"/>
                <a:gridCol w="4000500"/>
              </a:tblGrid>
              <a:tr h="635000">
                <a:tc>
                  <a:txBody>
                    <a:bodyPr wrap="square" lIns="95250" tIns="95250" rIns="95250" bIns="95250"/>
                    <a:lstStyle/>
                    <a:p>
                      <a:r>
                        <a:rPr sz="1800" b="1">
                          <a:solidFill>
                            <a:srgbClr val="FFFFFF"/>
                          </a:solidFill>
                          <a:latin typeface="Arial"/>
                          <a:ea typeface="Arial"/>
                          <a:cs typeface="Arial"/>
                        </a:rPr>
                        <a:t>Hạng mục</a:t>
                      </a:r>
                    </a:p>
                  </a:txBody>
                  <a:tcPr marL="91440" marR="91440" marT="45720" marB="45720">
                    <a:solidFill>
                      <a:srgbClr val="243047"/>
                    </a:solidFill>
                  </a:tcPr>
                </a:tc>
                <a:tc>
                  <a:txBody>
                    <a:bodyPr wrap="square" lIns="95250" tIns="95250" rIns="95250" bIns="95250"/>
                    <a:lstStyle/>
                    <a:p>
                      <a:r>
                        <a:rPr sz="1800" b="1">
                          <a:solidFill>
                            <a:srgbClr val="FFFFFF"/>
                          </a:solidFill>
                          <a:latin typeface="Arial"/>
                          <a:ea typeface="Arial"/>
                          <a:cs typeface="Arial"/>
                        </a:rPr>
                        <a:t>Tiêu chí / kết quả hiện có</a:t>
                      </a:r>
                    </a:p>
                  </a:txBody>
                  <a:tcPr marL="91440" marR="91440" marT="45720" marB="45720">
                    <a:solidFill>
                      <a:srgbClr val="243047"/>
                    </a:solidFill>
                  </a:tcPr>
                </a:tc>
                <a:tc>
                  <a:txBody>
                    <a:bodyPr wrap="square" lIns="95250" tIns="95250" rIns="95250" bIns="95250"/>
                    <a:lstStyle/>
                    <a:p>
                      <a:r>
                        <a:rPr sz="1800" b="1">
                          <a:solidFill>
                            <a:srgbClr val="FFFFFF"/>
                          </a:solidFill>
                          <a:latin typeface="Arial"/>
                          <a:ea typeface="Arial"/>
                          <a:cs typeface="Arial"/>
                        </a:rPr>
                        <a:t>Bằng chứng thực tế</a:t>
                      </a:r>
                    </a:p>
                  </a:txBody>
                  <a:tcPr marL="91440" marR="91440" marT="45720" marB="45720">
                    <a:solidFill>
                      <a:srgbClr val="243047"/>
                    </a:solidFill>
                  </a:tcPr>
                </a:tc>
              </a:tr>
              <a:tr h="635000">
                <a:tc>
                  <a:txBody>
                    <a:bodyPr wrap="square" lIns="95250" tIns="95250" rIns="95250" bIns="95250"/>
                    <a:lstStyle/>
                    <a:p>
                      <a:r>
                        <a:rPr sz="1800" b="0">
                          <a:solidFill>
                            <a:srgbClr val="243047"/>
                          </a:solidFill>
                          <a:latin typeface="Arial"/>
                          <a:ea typeface="Arial"/>
                          <a:cs typeface="Arial"/>
                        </a:rPr>
                        <a:t>Tương phản</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Chữ thường ≥4,5:1; chữ lớn ≥3:1</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Token nút chính: 5,07:1</a:t>
                      </a:r>
                    </a:p>
                  </a:txBody>
                  <a:tcPr marL="91440" marR="91440" marT="45720" marB="45720">
                    <a:solidFill>
                      <a:srgbClr val="FFFFFF"/>
                    </a:solidFill>
                  </a:tcPr>
                </a:tc>
              </a:tr>
              <a:tr h="635000">
                <a:tc>
                  <a:txBody>
                    <a:bodyPr wrap="square" lIns="95250" tIns="95250" rIns="95250" bIns="95250"/>
                    <a:lstStyle/>
                    <a:p>
                      <a:r>
                        <a:rPr sz="1800" b="0">
                          <a:solidFill>
                            <a:srgbClr val="243047"/>
                          </a:solidFill>
                          <a:latin typeface="Arial"/>
                          <a:ea typeface="Arial"/>
                          <a:cs typeface="Arial"/>
                        </a:rPr>
                        <a:t>Chữ và vùng chạm</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Nội dung ≥14 sp; vùng chạm ≥48×48 dp</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Chưa đo giao diện cuối</a:t>
                      </a:r>
                    </a:p>
                  </a:txBody>
                  <a:tcPr marL="91440" marR="91440" marT="45720" marB="45720">
                    <a:solidFill>
                      <a:srgbClr val="F6F7FA"/>
                    </a:solidFill>
                  </a:tcPr>
                </a:tc>
              </a:tr>
              <a:tr h="635000">
                <a:tc>
                  <a:txBody>
                    <a:bodyPr wrap="square" lIns="95250" tIns="95250" rIns="95250" bIns="95250"/>
                    <a:lstStyle/>
                    <a:p>
                      <a:r>
                        <a:rPr sz="1800" b="0">
                          <a:solidFill>
                            <a:srgbClr val="243047"/>
                          </a:solidFill>
                          <a:latin typeface="Arial"/>
                          <a:ea typeface="Arial"/>
                          <a:cs typeface="Arial"/>
                        </a:rPr>
                        <a:t>Không chỉ dùng màu</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P/A, lỗi có chữ hoặc biểu tượng</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Quan sát được ở một số ảnh</a:t>
                      </a:r>
                    </a:p>
                  </a:txBody>
                  <a:tcPr marL="91440" marR="91440" marT="45720" marB="45720">
                    <a:solidFill>
                      <a:srgbClr val="FFFFFF"/>
                    </a:solidFill>
                  </a:tcPr>
                </a:tc>
              </a:tr>
              <a:tr h="635000">
                <a:tc>
                  <a:txBody>
                    <a:bodyPr wrap="square" lIns="95250" tIns="95250" rIns="95250" bIns="95250"/>
                    <a:lstStyle/>
                    <a:p>
                      <a:r>
                        <a:rPr sz="1800" b="0">
                          <a:solidFill>
                            <a:srgbClr val="243047"/>
                          </a:solidFill>
                          <a:latin typeface="Arial"/>
                          <a:ea typeface="Arial"/>
                          <a:cs typeface="Arial"/>
                        </a:rPr>
                        <a:t>Chiều rộng 360 / 412</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Không tràn, không che nút hoặc nội dung</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Chưa chạy hai viewport</a:t>
                      </a:r>
                    </a:p>
                  </a:txBody>
                  <a:tcPr marL="91440" marR="91440" marT="45720" marB="45720">
                    <a:solidFill>
                      <a:srgbClr val="F6F7FA"/>
                    </a:solidFill>
                  </a:tcPr>
                </a:tc>
              </a:tr>
              <a:tr h="635000">
                <a:tc>
                  <a:txBody>
                    <a:bodyPr wrap="square" lIns="95250" tIns="95250" rIns="95250" bIns="95250"/>
                    <a:lstStyle/>
                    <a:p>
                      <a:r>
                        <a:rPr sz="1800" b="0">
                          <a:solidFill>
                            <a:srgbClr val="243047"/>
                          </a:solidFill>
                          <a:latin typeface="Arial"/>
                          <a:ea typeface="Arial"/>
                          <a:cs typeface="Arial"/>
                        </a:rPr>
                        <a:t>Tên dài và bàn phím</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Xuống dòng, cuộn tới Lưu / Hủy</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Chưa kiểm thử</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4150A82-B658-41B2-B99D-41B6937F24A1}"/>
              </a:ext>
            </a:extLst>
          </p:cNvPr>
          <p:cNvSpPr>
            <a:spLocks xmlns:a="http://schemas.openxmlformats.org/drawingml/2006/main" noGrp="1"/>
          </p:cNvSpPr>
          <p:nvPr/>
        </p:nvSpPr>
        <p:spPr>
          <a:xfrm xmlns:a="http://schemas.openxmlformats.org/drawingml/2006/main">
            <a:off x="60960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Cần lưu cặp ảnh 360/412 cùng trạng thái và số đo trên giao diện thật.</a:t>
            </a:r>
          </a:p>
        </p:txBody>
      </p:sp>
      <p:sp>
        <p:nvSpPr>
          <p:cNvPr id="5" name="">
            <a:extLst xmlns:a="http://schemas.openxmlformats.org/drawingml/2006/main">
              <a:ext uri="{FF2B5EF4-FFF2-40B4-BE49-F238E27FC236}">
                <a16:creationId xmlns:a16="http://schemas.microsoft.com/office/drawing/2014/main" id="{F37915E2-5094-45EB-B998-7D9209800B65}"/>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Tính tương phản token không thay thế kiểm tra toàn bộ giao diện và states.</a:t>
            </a:r>
          </a:p>
        </p:txBody>
      </p:sp>
    </p:spTree>
    <p:extLst>
      <p:ext uri="{BB962C8B-B14F-4D97-AF65-F5344CB8AC3E}">
        <p14:creationId xmlns:p14="http://schemas.microsoft.com/office/powerpoint/2010/main" val="18222772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323BB7-C945-4C1B-A9A6-0FBC2CC7DEC6}"/>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Demo prototype tương tác</a:t>
            </a:r>
          </a:p>
        </p:txBody>
      </p:sp>
      <p:sp>
        <p:nvSpPr>
          <p:cNvPr id="2" name="">
            <a:extLst xmlns:a="http://schemas.openxmlformats.org/drawingml/2006/main">
              <a:ext uri="{FF2B5EF4-FFF2-40B4-BE49-F238E27FC236}">
                <a16:creationId xmlns:a16="http://schemas.microsoft.com/office/drawing/2014/main" id="{F34336FC-60EC-4EB8-BAA7-D3078BAB3A7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74FE4DE-B23A-4755-8940-9350731638F6}"/>
              </a:ext>
            </a:extLst>
          </p:cNvPr>
          <p:cNvSpPr>
            <a:spLocks xmlns:a="http://schemas.openxmlformats.org/drawingml/2006/main" noGrp="1"/>
          </p:cNvSpPr>
          <p:nvPr/>
        </p:nvSpPr>
        <p:spPr>
          <a:xfrm xmlns:a="http://schemas.openxmlformats.org/drawingml/2006/main">
            <a:off x="609600" y="157162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3047"/>
                </a:solidFill>
                <a:latin typeface="Arial"/>
                <a:ea typeface="Arial"/>
                <a:cs typeface="Arial"/>
              </a:defRPr>
            </a:defPPr>
          </a:lstStyle>
          <a:p xmlns:a="http://schemas.openxmlformats.org/drawingml/2006/main">
            <a:pPr>
              <a:defRPr sz="2175" b="1">
                <a:solidFill>
                  <a:srgbClr val="243047"/>
                </a:solidFill>
                <a:latin typeface="Arial"/>
                <a:ea typeface="Arial"/>
                <a:cs typeface="Arial"/>
              </a:defRPr>
            </a:pPr>
            <a:r>
              <a:rPr sz="2175" b="1">
                <a:solidFill>
                  <a:srgbClr val="243047"/>
                </a:solidFill>
                <a:latin typeface="Arial"/>
                <a:ea typeface="Arial"/>
                <a:cs typeface="Arial"/>
              </a:rPr>
              <a:t>1 phút: Nhập và cấu hình lớp</a:t>
            </a:r>
          </a:p>
          <a:p xmlns:a="http://schemas.openxmlformats.org/drawingml/2006/main">
            <a:pPr>
              <a:defRPr sz="2175" b="1">
                <a:solidFill>
                  <a:srgbClr val="243047"/>
                </a:solidFill>
                <a:latin typeface="Arial"/>
                <a:ea typeface="Arial"/>
                <a:cs typeface="Arial"/>
              </a:defRPr>
            </a:pPr>
            <a:r>
              <a:rPr sz="2175" b="1">
                <a:solidFill>
                  <a:srgbClr val="243047"/>
                </a:solidFill>
                <a:latin typeface="Arial"/>
                <a:ea typeface="Arial"/>
                <a:cs typeface="Arial"/>
              </a:rPr>
              <a:t>1 phút 30: QR, hủy rồi chốt</a:t>
            </a:r>
          </a:p>
          <a:p xmlns:a="http://schemas.openxmlformats.org/drawingml/2006/main">
            <a:pPr>
              <a:defRPr sz="2175" b="1">
                <a:solidFill>
                  <a:srgbClr val="243047"/>
                </a:solidFill>
                <a:latin typeface="Arial"/>
                <a:ea typeface="Arial"/>
                <a:cs typeface="Arial"/>
              </a:defRPr>
            </a:pPr>
            <a:r>
              <a:rPr sz="2175" b="1">
                <a:solidFill>
                  <a:srgbClr val="243047"/>
                </a:solidFill>
                <a:latin typeface="Arial"/>
                <a:ea typeface="Arial"/>
                <a:cs typeface="Arial"/>
              </a:rPr>
              <a:t>1 phút 50: Sửa có lý do và xuất</a:t>
            </a:r>
          </a:p>
        </p:txBody>
      </p:sp>
      <p:sp>
        <p:nvSpPr>
          <p:cNvPr id="4" name="">
            <a:extLst xmlns:a="http://schemas.openxmlformats.org/drawingml/2006/main">
              <a:ext uri="{FF2B5EF4-FFF2-40B4-BE49-F238E27FC236}">
                <a16:creationId xmlns:a16="http://schemas.microsoft.com/office/drawing/2014/main" id="{1F511682-399E-450E-9428-6A9D21D3FEA3}"/>
              </a:ext>
            </a:extLst>
          </p:cNvPr>
          <p:cNvSpPr>
            <a:spLocks xmlns:a="http://schemas.openxmlformats.org/drawingml/2006/main" noGrp="1"/>
          </p:cNvSpPr>
          <p:nvPr/>
        </p:nvSpPr>
        <p:spPr>
          <a:xfrm xmlns:a="http://schemas.openxmlformats.org/drawingml/2006/main">
            <a:off x="609600" y="33337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rPr>
              <a:t>Nhánh cần chứng minh khi demo</a:t>
            </a:r>
          </a:p>
        </p:txBody>
      </p:sp>
      <p:sp>
        <p:nvSpPr>
          <p:cNvPr id="5" name="">
            <a:extLst xmlns:a="http://schemas.openxmlformats.org/drawingml/2006/main">
              <a:ext uri="{FF2B5EF4-FFF2-40B4-BE49-F238E27FC236}">
                <a16:creationId xmlns:a16="http://schemas.microsoft.com/office/drawing/2014/main" id="{3988BF6A-7A67-495D-A90B-4DD6235B2C91}"/>
              </a:ext>
            </a:extLst>
          </p:cNvPr>
          <p:cNvSpPr>
            <a:spLocks xmlns:a="http://schemas.openxmlformats.org/drawingml/2006/main" noGrp="1"/>
          </p:cNvSpPr>
          <p:nvPr/>
        </p:nvSpPr>
        <p:spPr>
          <a:xfrm xmlns:a="http://schemas.openxmlformats.org/drawingml/2006/main">
            <a:off x="609600" y="3905250"/>
            <a:ext cx="542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stStyle>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Lỗi rồi phục hồi</a:t>
            </a:r>
          </a:p>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Back đúng và không ngõ cụt</a:t>
            </a:r>
          </a:p>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Hộp thoại overlay</a:t>
            </a:r>
          </a:p>
          <a:p xmlns:a="http://schemas.openxmlformats.org/drawingml/2006/main">
            <a:pPr>
              <a:defRPr sz="2100" b="0">
                <a:solidFill>
                  <a:srgbClr val="243047"/>
                </a:solidFill>
                <a:latin typeface="Arial"/>
                <a:ea typeface="Arial"/>
                <a:cs typeface="Arial"/>
              </a:defRPr>
            </a:pPr>
            <a:r>
              <a:rPr sz="2100" b="0">
                <a:solidFill>
                  <a:srgbClr val="243047"/>
                </a:solidFill>
                <a:latin typeface="Arial"/>
                <a:ea typeface="Arial"/>
                <a:cs typeface="Arial"/>
              </a:rPr>
              <a:t>Đang tải rồi kết quả</a:t>
            </a:r>
          </a:p>
        </p:txBody>
      </p:sp>
      <p:sp>
        <p:nvSpPr>
          <p:cNvPr id="6" name="">
            <a:extLst xmlns:a="http://schemas.openxmlformats.org/drawingml/2006/main">
              <a:ext uri="{FF2B5EF4-FFF2-40B4-BE49-F238E27FC236}">
                <a16:creationId xmlns:a16="http://schemas.microsoft.com/office/drawing/2014/main" id="{9008E763-067B-4F46-8E55-83DB1310C4BE}"/>
              </a:ext>
            </a:extLst>
          </p:cNvPr>
          <p:cNvSpPr>
            <a:spLocks xmlns:a="http://schemas.openxmlformats.org/drawingml/2006/main" noGrp="1"/>
          </p:cNvSpPr>
          <p:nvPr/>
        </p:nvSpPr>
        <p:spPr>
          <a:xfrm xmlns:a="http://schemas.openxmlformats.org/drawingml/2006/main">
            <a:off x="609600" y="55721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hlinkClick xmlns:r="http://schemas.openxmlformats.org/officeDocument/2006/relationships" r:id="R73fb6e29e3e745c2"/>
              </a:rPr>
              <a:t>Mở prototype Stitch</a:t>
            </a:r>
          </a:p>
        </p:txBody>
      </p:sp>
      <p:pic>
        <p:nvPicPr>
          <p:cNvPr id="7" name="">
            <a:extLst xmlns:a="http://schemas.openxmlformats.org/drawingml/2006/main">
              <a:ext uri="{FF2B5EF4-FFF2-40B4-BE49-F238E27FC236}">
                <a16:creationId xmlns:a16="http://schemas.microsoft.com/office/drawing/2014/main" id="{4B49FD03-02A4-408C-997A-3CECD9B67545}"/>
              </a:ext>
            </a:extLst>
          </p:cNvPr>
          <p:cNvPicPr>
            <a:picLocks xmlns:a="http://schemas.openxmlformats.org/drawingml/2006/main" noChangeAspect="1"/>
          </p:cNvPicPr>
          <p:nvPr/>
        </p:nvPicPr>
        <p:blipFill>
          <a:blip xmlns:r="http://schemas.openxmlformats.org/officeDocument/2006/relationships" xmlns:a="http://schemas.openxmlformats.org/drawingml/2006/main" r:embed="Rcbd9ed50990347d1"/>
          <a:stretch xmlns:a="http://schemas.openxmlformats.org/drawingml/2006/main"/>
        </p:blipFill>
        <p:spPr>
          <a:xfrm xmlns:a="http://schemas.openxmlformats.org/drawingml/2006/main">
            <a:off x="6958568" y="1476375"/>
            <a:ext cx="1989614" cy="39528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3418FFD-2145-4EF1-AB4E-CDD9DDBBA644}"/>
              </a:ext>
            </a:extLst>
          </p:cNvPr>
          <p:cNvPicPr>
            <a:picLocks xmlns:a="http://schemas.openxmlformats.org/drawingml/2006/main" noChangeAspect="1"/>
          </p:cNvPicPr>
          <p:nvPr/>
        </p:nvPicPr>
        <p:blipFill>
          <a:blip xmlns:r="http://schemas.openxmlformats.org/officeDocument/2006/relationships" xmlns:a="http://schemas.openxmlformats.org/drawingml/2006/main" r:embed="Reaf5cff240764e68"/>
          <a:stretch xmlns:a="http://schemas.openxmlformats.org/drawingml/2006/main"/>
        </p:blipFill>
        <p:spPr>
          <a:xfrm xmlns:a="http://schemas.openxmlformats.org/drawingml/2006/main">
            <a:off x="9450279" y="1476375"/>
            <a:ext cx="1959191" cy="39528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9D98D46-9910-4390-A04C-814136C9A84C}"/>
              </a:ext>
            </a:extLst>
          </p:cNvPr>
          <p:cNvSpPr>
            <a:spLocks xmlns:a="http://schemas.openxmlformats.org/drawingml/2006/main" noGrp="1"/>
          </p:cNvSpPr>
          <p:nvPr/>
        </p:nvSpPr>
        <p:spPr>
          <a:xfrm xmlns:a="http://schemas.openxmlformats.org/drawingml/2006/main">
            <a:off x="6762750" y="552450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085"/>
                </a:solidFill>
                <a:latin typeface="Arial"/>
                <a:ea typeface="Arial"/>
                <a:cs typeface="Arial"/>
              </a:defRPr>
            </a:defPPr>
          </a:lstStyle>
          <a:p xmlns:a="http://schemas.openxmlformats.org/drawingml/2006/main">
            <a:pPr>
              <a:defRPr sz="1650" b="0">
                <a:solidFill>
                  <a:srgbClr val="667085"/>
                </a:solidFill>
                <a:latin typeface="Arial"/>
                <a:ea typeface="Arial"/>
                <a:cs typeface="Arial"/>
              </a:defRPr>
            </a:pPr>
            <a:r>
              <a:rPr sz="1650" b="0">
                <a:solidFill>
                  <a:srgbClr val="667085"/>
                </a:solidFill>
                <a:latin typeface="Arial"/>
                <a:ea typeface="Arial"/>
                <a:cs typeface="Arial"/>
              </a:rPr>
              <a:t>Overlay xác nhận</a:t>
            </a:r>
          </a:p>
        </p:txBody>
      </p:sp>
      <p:sp>
        <p:nvSpPr>
          <p:cNvPr id="10" name="">
            <a:extLst xmlns:a="http://schemas.openxmlformats.org/drawingml/2006/main">
              <a:ext uri="{FF2B5EF4-FFF2-40B4-BE49-F238E27FC236}">
                <a16:creationId xmlns:a16="http://schemas.microsoft.com/office/drawing/2014/main" id="{85D4B12D-BE3E-4596-A23D-0FF33F26C275}"/>
              </a:ext>
            </a:extLst>
          </p:cNvPr>
          <p:cNvSpPr>
            <a:spLocks xmlns:a="http://schemas.openxmlformats.org/drawingml/2006/main" noGrp="1"/>
          </p:cNvSpPr>
          <p:nvPr/>
        </p:nvSpPr>
        <p:spPr>
          <a:xfrm xmlns:a="http://schemas.openxmlformats.org/drawingml/2006/main">
            <a:off x="9277350" y="552450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085"/>
                </a:solidFill>
                <a:latin typeface="Arial"/>
                <a:ea typeface="Arial"/>
                <a:cs typeface="Arial"/>
              </a:defRPr>
            </a:defPPr>
          </a:lstStyle>
          <a:p xmlns:a="http://schemas.openxmlformats.org/drawingml/2006/main">
            <a:pPr>
              <a:defRPr sz="1650" b="0">
                <a:solidFill>
                  <a:srgbClr val="667085"/>
                </a:solidFill>
                <a:latin typeface="Arial"/>
                <a:ea typeface="Arial"/>
                <a:cs typeface="Arial"/>
              </a:defRPr>
            </a:pPr>
            <a:r>
              <a:rPr sz="1650" b="0">
                <a:solidFill>
                  <a:srgbClr val="667085"/>
                </a:solidFill>
                <a:latin typeface="Arial"/>
                <a:ea typeface="Arial"/>
                <a:cs typeface="Arial"/>
              </a:rPr>
              <a:t>Trạng thái kết quả</a:t>
            </a:r>
          </a:p>
        </p:txBody>
      </p:sp>
      <p:sp>
        <p:nvSpPr>
          <p:cNvPr id="11" name="">
            <a:extLst xmlns:a="http://schemas.openxmlformats.org/drawingml/2006/main">
              <a:ext uri="{FF2B5EF4-FFF2-40B4-BE49-F238E27FC236}">
                <a16:creationId xmlns:a16="http://schemas.microsoft.com/office/drawing/2014/main" id="{5E812CDA-A8A5-49BA-A246-A8E78DA07720}"/>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Ảnh chứng minh trạng thái UI, chưa chứng minh tương tác; checklist vẫn chưa có kết quả.</a:t>
            </a:r>
          </a:p>
        </p:txBody>
      </p:sp>
    </p:spTree>
    <p:extLst>
      <p:ext uri="{BB962C8B-B14F-4D97-AF65-F5344CB8AC3E}">
        <p14:creationId xmlns:p14="http://schemas.microsoft.com/office/powerpoint/2010/main" val="672074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C46BD3-F3E3-42EA-AAAD-2C233A3A6AC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stStyle>
          <a:p xmlns:a="http://schemas.openxmlformats.org/drawingml/2006/main">
            <a:pPr>
              <a:defRPr sz="3225" b="1">
                <a:solidFill>
                  <a:srgbClr val="243047"/>
                </a:solidFill>
                <a:latin typeface="Arial"/>
                <a:ea typeface="Arial"/>
                <a:cs typeface="Arial"/>
              </a:defRPr>
            </a:pPr>
            <a:r>
              <a:rPr sz="3225" b="1">
                <a:solidFill>
                  <a:srgbClr val="243047"/>
                </a:solidFill>
                <a:latin typeface="Arial"/>
                <a:ea typeface="Arial"/>
                <a:cs typeface="Arial"/>
              </a:rPr>
              <a:t>Bàn giao Flutter và kết luận</a:t>
            </a:r>
          </a:p>
        </p:txBody>
      </p:sp>
      <p:sp>
        <p:nvSpPr>
          <p:cNvPr id="2" name="">
            <a:extLst xmlns:a="http://schemas.openxmlformats.org/drawingml/2006/main">
              <a:ext uri="{FF2B5EF4-FFF2-40B4-BE49-F238E27FC236}">
                <a16:creationId xmlns:a16="http://schemas.microsoft.com/office/drawing/2014/main" id="{62EBFB91-5A4A-43B7-B7C9-7F607154EA4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82FC7C7A-E2F3-424F-9817-CA9282AB6AF5}"/>
              </a:ext>
            </a:extLst>
          </p:cNvPr>
          <p:cNvSpPr>
            <a:spLocks xmlns:a="http://schemas.openxmlformats.org/drawingml/2006/main" noGrp="1"/>
          </p:cNvSpPr>
          <p:nvPr/>
        </p:nvSpPr>
        <p:spPr>
          <a:xfrm xmlns:a="http://schemas.openxmlformats.org/drawingml/2006/main">
            <a:off x="609600" y="13716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rPr>
              <a:t>Sáu phần cho từng màn hình</a:t>
            </a:r>
          </a:p>
        </p:txBody>
      </p:sp>
      <p:sp>
        <p:nvSpPr>
          <p:cNvPr id="4" name="">
            <a:extLst xmlns:a="http://schemas.openxmlformats.org/drawingml/2006/main">
              <a:ext uri="{FF2B5EF4-FFF2-40B4-BE49-F238E27FC236}">
                <a16:creationId xmlns:a16="http://schemas.microsoft.com/office/drawing/2014/main" id="{8F66B37A-BC9B-4FA3-A256-5630B01ABB6D}"/>
              </a:ext>
            </a:extLst>
          </p:cNvPr>
          <p:cNvSpPr>
            <a:spLocks xmlns:a="http://schemas.openxmlformats.org/drawingml/2006/main" noGrp="1"/>
          </p:cNvSpPr>
          <p:nvPr/>
        </p:nvSpPr>
        <p:spPr>
          <a:xfrm xmlns:a="http://schemas.openxmlformats.org/drawingml/2006/main">
            <a:off x="609600" y="1847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Bố cục, thành phần, trạng thái, tương tác, điều hướng, ràng buộc UI</a:t>
            </a:r>
          </a:p>
        </p:txBody>
      </p:sp>
      <p:graphicFrame>
        <p:nvGraphicFramePr>
          <p:cNvPr id="5" name="">
            <a:extLst xmlns:a="http://schemas.openxmlformats.org/drawingml/2006/main">
              <a:ext uri="{FF2B5EF4-FFF2-40B4-BE49-F238E27FC236}">
                <a16:creationId xmlns:a16="http://schemas.microsoft.com/office/drawing/2014/main" id="{0E4FA408-8FDB-4228-B1B3-DE3466A543F4}"/>
              </a:ext>
            </a:extLst>
          </p:cNvPr>
          <p:cNvGraphicFramePr/>
          <p:nvPr/>
        </p:nvGraphicFramePr>
        <p:xfrm>
          <a:off xmlns:a="http://schemas.openxmlformats.org/drawingml/2006/main" x="609600" y="2667000"/>
          <a:ext xmlns:a="http://schemas.openxmlformats.org/drawingml/2006/main" cx="5238750" cy="1714500"/>
        </p:xfrm>
        <a:graphic xmlns:a="http://schemas.openxmlformats.org/drawingml/2006/main">
          <a:graphicData uri="http://schemas.openxmlformats.org/drawingml/2006/table">
            <a:tbl>
              <a:tblPr/>
              <a:tblGrid>
                <a:gridCol w="2667000"/>
                <a:gridCol w="2571750"/>
              </a:tblGrid>
              <a:tr h="571500">
                <a:tc>
                  <a:txBody>
                    <a:bodyPr wrap="square" lIns="95250" tIns="95250" rIns="95250" bIns="95250"/>
                    <a:lstStyle/>
                    <a:p>
                      <a:r>
                        <a:rPr sz="1725" b="1">
                          <a:solidFill>
                            <a:srgbClr val="FFFFFF"/>
                          </a:solidFill>
                          <a:latin typeface="Arial"/>
                          <a:ea typeface="Arial"/>
                          <a:cs typeface="Arial"/>
                        </a:rPr>
                        <a:t>Quy tắc thiết kế</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Ánh xạ Flutter</a:t>
                      </a:r>
                    </a:p>
                  </a:txBody>
                  <a:tcPr marL="91440" marR="91440" marT="45720" marB="45720">
                    <a:solidFill>
                      <a:srgbClr val="243047"/>
                    </a:solidFill>
                  </a:tcPr>
                </a:tc>
              </a:tr>
              <a:tr h="571500">
                <a:tc>
                  <a:txBody>
                    <a:bodyPr wrap="square" lIns="95250" tIns="95250" rIns="95250" bIns="95250"/>
                    <a:lstStyle/>
                    <a:p>
                      <a:r>
                        <a:rPr sz="1725" b="0">
                          <a:solidFill>
                            <a:srgbClr val="243047"/>
                          </a:solidFill>
                          <a:latin typeface="Arial"/>
                          <a:ea typeface="Arial"/>
                          <a:cs typeface="Arial"/>
                        </a:rPr>
                        <a:t>Màu và kiểu chữ</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Theme dùng chung</a:t>
                      </a:r>
                    </a:p>
                  </a:txBody>
                  <a:tcPr marL="91440" marR="91440" marT="45720" marB="45720">
                    <a:solidFill>
                      <a:srgbClr val="FFFFFF"/>
                    </a:solidFill>
                  </a:tcPr>
                </a:tc>
              </a:tr>
              <a:tr h="571500">
                <a:tc>
                  <a:txBody>
                    <a:bodyPr wrap="square" lIns="95250" tIns="95250" rIns="95250" bIns="95250"/>
                    <a:lstStyle/>
                    <a:p>
                      <a:r>
                        <a:rPr sz="1725" b="0">
                          <a:solidFill>
                            <a:srgbClr val="243047"/>
                          </a:solidFill>
                          <a:latin typeface="Arial"/>
                          <a:ea typeface="Arial"/>
                          <a:cs typeface="Arial"/>
                        </a:rPr>
                        <a:t>Khoảng cách / bo góc</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Padding / BorderRadius</a:t>
                      </a:r>
                    </a:p>
                  </a:txBody>
                  <a:tcPr marL="91440" marR="91440" marT="45720" marB="45720">
                    <a:solidFill>
                      <a:srgbClr val="F6F7FA"/>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0F90816D-F640-4074-A3E8-0BA863040A9D}"/>
              </a:ext>
            </a:extLst>
          </p:cNvPr>
          <p:cNvGraphicFramePr/>
          <p:nvPr/>
        </p:nvGraphicFramePr>
        <p:xfrm>
          <a:off xmlns:a="http://schemas.openxmlformats.org/drawingml/2006/main" x="6286500" y="2667000"/>
          <a:ext xmlns:a="http://schemas.openxmlformats.org/drawingml/2006/main" cx="5238750" cy="1714500"/>
        </p:xfrm>
        <a:graphic xmlns:a="http://schemas.openxmlformats.org/drawingml/2006/main">
          <a:graphicData uri="http://schemas.openxmlformats.org/drawingml/2006/table">
            <a:tbl>
              <a:tblPr/>
              <a:tblGrid>
                <a:gridCol w="2238375"/>
                <a:gridCol w="3000375"/>
              </a:tblGrid>
              <a:tr h="571500">
                <a:tc>
                  <a:txBody>
                    <a:bodyPr wrap="square" lIns="95250" tIns="95250" rIns="95250" bIns="95250"/>
                    <a:lstStyle/>
                    <a:p>
                      <a:r>
                        <a:rPr sz="1725" b="1">
                          <a:solidFill>
                            <a:srgbClr val="FFFFFF"/>
                          </a:solidFill>
                          <a:latin typeface="Arial"/>
                          <a:ea typeface="Arial"/>
                          <a:cs typeface="Arial"/>
                        </a:rPr>
                        <a:t>Component</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Flutter widget</a:t>
                      </a:r>
                    </a:p>
                  </a:txBody>
                  <a:tcPr marL="91440" marR="91440" marT="45720" marB="45720">
                    <a:solidFill>
                      <a:srgbClr val="243047"/>
                    </a:solidFill>
                  </a:tcPr>
                </a:tc>
              </a:tr>
              <a:tr h="571500">
                <a:tc>
                  <a:txBody>
                    <a:bodyPr wrap="square" lIns="95250" tIns="95250" rIns="95250" bIns="95250"/>
                    <a:lstStyle/>
                    <a:p>
                      <a:r>
                        <a:rPr sz="1725" b="0">
                          <a:solidFill>
                            <a:srgbClr val="243047"/>
                          </a:solidFill>
                          <a:latin typeface="Arial"/>
                          <a:ea typeface="Arial"/>
                          <a:cs typeface="Arial"/>
                        </a:rPr>
                        <a:t>Nút / ô nhập</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FilledButton / TextFormField</a:t>
                      </a:r>
                    </a:p>
                  </a:txBody>
                  <a:tcPr marL="91440" marR="91440" marT="45720" marB="45720">
                    <a:solidFill>
                      <a:srgbClr val="FFFFFF"/>
                    </a:solidFill>
                  </a:tcPr>
                </a:tc>
              </a:tr>
              <a:tr h="571500">
                <a:tc>
                  <a:txBody>
                    <a:bodyPr wrap="square" lIns="95250" tIns="95250" rIns="95250" bIns="95250"/>
                    <a:lstStyle/>
                    <a:p>
                      <a:r>
                        <a:rPr sz="1725" b="0">
                          <a:solidFill>
                            <a:srgbClr val="243047"/>
                          </a:solidFill>
                          <a:latin typeface="Arial"/>
                          <a:ea typeface="Arial"/>
                          <a:cs typeface="Arial"/>
                        </a:rPr>
                        <a:t>Hộp thoại sửa</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showModalBottomSheet</a:t>
                      </a:r>
                    </a:p>
                  </a:txBody>
                  <a:tcPr marL="91440" marR="91440" marT="45720" marB="45720">
                    <a:solidFill>
                      <a:srgbClr val="F6F7FA"/>
                    </a:solidFill>
                  </a:tcPr>
                </a:tc>
              </a:tr>
            </a:tbl>
          </a:graphicData>
        </a:graphic>
      </p:graphicFrame>
      <p:sp>
        <p:nvSpPr>
          <p:cNvPr id="7" name="">
            <a:extLst xmlns:a="http://schemas.openxmlformats.org/drawingml/2006/main">
              <a:ext uri="{FF2B5EF4-FFF2-40B4-BE49-F238E27FC236}">
                <a16:creationId xmlns:a16="http://schemas.microsoft.com/office/drawing/2014/main" id="{8FE932F1-2730-41CC-A1EA-285F25FE8EC8}"/>
              </a:ext>
            </a:extLst>
          </p:cNvPr>
          <p:cNvSpPr>
            <a:spLocks xmlns:a="http://schemas.openxmlformats.org/drawingml/2006/main" noGrp="1"/>
          </p:cNvSpPr>
          <p:nvPr/>
        </p:nvSpPr>
        <p:spPr>
          <a:xfrm xmlns:a="http://schemas.openxmlformats.org/drawingml/2006/main">
            <a:off x="609600" y="4714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43047"/>
                </a:solidFill>
                <a:latin typeface="Arial"/>
                <a:ea typeface="Arial"/>
                <a:cs typeface="Arial"/>
              </a:defRPr>
            </a:defPPr>
          </a:lstStyle>
          <a:p xmlns:a="http://schemas.openxmlformats.org/drawingml/2006/main">
            <a:pPr>
              <a:defRPr sz="2025" b="1">
                <a:solidFill>
                  <a:srgbClr val="243047"/>
                </a:solidFill>
                <a:latin typeface="Arial"/>
                <a:ea typeface="Arial"/>
                <a:cs typeface="Arial"/>
              </a:defRPr>
            </a:pPr>
            <a:r>
              <a:rPr sz="2025" b="1">
                <a:solidFill>
                  <a:srgbClr val="243047"/>
                </a:solidFill>
                <a:latin typeface="Arial"/>
                <a:ea typeface="Arial"/>
                <a:cs typeface="Arial"/>
              </a:rPr>
              <a:t>Cần hoàn thiện: low-fi, minh chứng AI, kiểm thử và xác nhận Figma.</a:t>
            </a:r>
          </a:p>
        </p:txBody>
      </p:sp>
      <p:sp>
        <p:nvSpPr>
          <p:cNvPr id="8" name="">
            <a:extLst xmlns:a="http://schemas.openxmlformats.org/drawingml/2006/main">
              <a:ext uri="{FF2B5EF4-FFF2-40B4-BE49-F238E27FC236}">
                <a16:creationId xmlns:a16="http://schemas.microsoft.com/office/drawing/2014/main" id="{9F66E7FB-7FDE-4846-AFE0-2304A3BB92A7}"/>
              </a:ext>
            </a:extLst>
          </p:cNvPr>
          <p:cNvSpPr>
            <a:spLocks xmlns:a="http://schemas.openxmlformats.org/drawingml/2006/main" noGrp="1"/>
          </p:cNvSpPr>
          <p:nvPr/>
        </p:nvSpPr>
        <p:spPr>
          <a:xfrm xmlns:a="http://schemas.openxmlformats.org/drawingml/2006/main">
            <a:off x="609600" y="55721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hlinkClick xmlns:r="http://schemas.openxmlformats.org/officeDocument/2006/relationships" r:id="R6bf15262528146b5"/>
              </a:rPr>
              <a:t>Repository và tài liệu</a:t>
            </a:r>
          </a:p>
        </p:txBody>
      </p:sp>
      <p:sp>
        <p:nvSpPr>
          <p:cNvPr id="9" name="">
            <a:extLst xmlns:a="http://schemas.openxmlformats.org/drawingml/2006/main">
              <a:ext uri="{FF2B5EF4-FFF2-40B4-BE49-F238E27FC236}">
                <a16:creationId xmlns:a16="http://schemas.microsoft.com/office/drawing/2014/main" id="{7BFB3D16-F69F-4324-96B9-0BEC8802AD59}"/>
              </a:ext>
            </a:extLst>
          </p:cNvPr>
          <p:cNvSpPr>
            <a:spLocks xmlns:a="http://schemas.openxmlformats.org/drawingml/2006/main" noGrp="1"/>
          </p:cNvSpPr>
          <p:nvPr/>
        </p:nvSpPr>
        <p:spPr>
          <a:xfrm xmlns:a="http://schemas.openxmlformats.org/drawingml/2006/main">
            <a:off x="6286500" y="55721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stStyle>
          <a:p xmlns:a="http://schemas.openxmlformats.org/drawingml/2006/main">
            <a:pPr>
              <a:defRPr sz="1950" b="1">
                <a:solidFill>
                  <a:srgbClr val="C93C13"/>
                </a:solidFill>
                <a:latin typeface="Arial"/>
                <a:ea typeface="Arial"/>
                <a:cs typeface="Arial"/>
              </a:defRPr>
            </a:pPr>
            <a:r>
              <a:rPr sz="1950" b="1">
                <a:solidFill>
                  <a:srgbClr val="C93C13"/>
                </a:solidFill>
                <a:latin typeface="Arial"/>
                <a:ea typeface="Arial"/>
                <a:cs typeface="Arial"/>
                <a:hlinkClick xmlns:r="http://schemas.openxmlformats.org/officeDocument/2006/relationships" r:id="R759a8895a5ea45a7"/>
              </a:rPr>
              <a:t>Prototype Stitch</a:t>
            </a:r>
          </a:p>
        </p:txBody>
      </p:sp>
      <p:sp>
        <p:nvSpPr>
          <p:cNvPr id="10" name="">
            <a:extLst xmlns:a="http://schemas.openxmlformats.org/drawingml/2006/main">
              <a:ext uri="{FF2B5EF4-FFF2-40B4-BE49-F238E27FC236}">
                <a16:creationId xmlns:a16="http://schemas.microsoft.com/office/drawing/2014/main" id="{AE914CC0-1C5B-41E2-9A6F-9900DD29BEA4}"/>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stStyle>
          <a:p xmlns:a="http://schemas.openxmlformats.org/drawingml/2006/main">
            <a:pPr>
              <a:defRPr sz="1575" b="0">
                <a:solidFill>
                  <a:srgbClr val="667085"/>
                </a:solidFill>
                <a:latin typeface="Arial"/>
                <a:ea typeface="Arial"/>
                <a:cs typeface="Arial"/>
              </a:defRPr>
            </a:pPr>
            <a:r>
              <a:rPr sz="1575" b="0">
                <a:solidFill>
                  <a:srgbClr val="667085"/>
                </a:solidFill>
                <a:latin typeface="Arial"/>
                <a:ea typeface="Arial"/>
                <a:cs typeface="Arial"/>
              </a:rPr>
              <a:t>Đã soạn handoff; chưa thử với người nhận. Lab 2 không yêu cầu viết Flutter code.</a:t>
            </a:r>
          </a:p>
        </p:txBody>
      </p:sp>
    </p:spTree>
    <p:extLst>
      <p:ext uri="{BB962C8B-B14F-4D97-AF65-F5344CB8AC3E}">
        <p14:creationId xmlns:p14="http://schemas.microsoft.com/office/powerpoint/2010/main" val="1788024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2026-10-11T14:45:27.7590000Z</dcterms:created>
  <dcterms:modified xsi:type="dcterms:W3CDTF">2026-10-11T14:45:27.7590000Z</dcterms:modified>
</coreProperties>
</file>
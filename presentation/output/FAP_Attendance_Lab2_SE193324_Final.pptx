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7d52ac4ee345d6" /><Relationship Type="http://schemas.openxmlformats.org/officeDocument/2006/relationships/extended-properties" Target="/docProps/app.xml" Id="R37f60502835549d9" /><Relationship Type="http://schemas.openxmlformats.org/officeDocument/2006/relationships/officeDocument" Target="/ppt/presentation.xml" Id="R7b9d368909da4199" /></Relationships>
</file>

<file path=ppt/presentation.xml><?xml version="1.0" encoding="utf-8"?>
<p:presentation xmlns:p="http://schemas.openxmlformats.org/presentationml/2006/main">
  <p:sldMasterIdLst>
    <p:sldMasterId xmlns:r="http://schemas.openxmlformats.org/officeDocument/2006/relationships" id="2147483648" r:id="R5a7f94abace04095"/>
  </p:sldMasterIdLst>
  <p:notesMasterIdLst>
    <p:notesMasterId xmlns:r="http://schemas.openxmlformats.org/officeDocument/2006/relationships" r:id="R7fcd1683ae714a4d"/>
  </p:notesMasterIdLst>
  <p:sldIdLst>
    <p:sldId xmlns:r="http://schemas.openxmlformats.org/officeDocument/2006/relationships" id="256" r:id="Rdefd4c2fcbe34e29"/>
    <p:sldId xmlns:r="http://schemas.openxmlformats.org/officeDocument/2006/relationships" id="257" r:id="R6be25676a90f44b2"/>
    <p:sldId xmlns:r="http://schemas.openxmlformats.org/officeDocument/2006/relationships" id="258" r:id="R3b4340d86d884ff5"/>
    <p:sldId xmlns:r="http://schemas.openxmlformats.org/officeDocument/2006/relationships" id="259" r:id="R342e109726e44e7d"/>
    <p:sldId xmlns:r="http://schemas.openxmlformats.org/officeDocument/2006/relationships" id="260" r:id="R037f53bd870a49e3"/>
    <p:sldId xmlns:r="http://schemas.openxmlformats.org/officeDocument/2006/relationships" id="261" r:id="Rb22349b5c2384ea2"/>
    <p:sldId xmlns:r="http://schemas.openxmlformats.org/officeDocument/2006/relationships" id="262" r:id="R8d323232c4094654"/>
    <p:sldId xmlns:r="http://schemas.openxmlformats.org/officeDocument/2006/relationships" id="263" r:id="Rdc036dc541c74416"/>
    <p:sldId xmlns:r="http://schemas.openxmlformats.org/officeDocument/2006/relationships" id="264" r:id="R1428af8c75f84834"/>
    <p:sldId xmlns:r="http://schemas.openxmlformats.org/officeDocument/2006/relationships" id="265" r:id="Rad57be2d84e149bd"/>
    <p:sldId xmlns:r="http://schemas.openxmlformats.org/officeDocument/2006/relationships" id="266" r:id="R279f56a494b44437"/>
    <p:sldId xmlns:r="http://schemas.openxmlformats.org/officeDocument/2006/relationships" id="267" r:id="R15ca319658c941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50ceec07fc4339" /><Relationship Type="http://schemas.openxmlformats.org/officeDocument/2006/relationships/slideMaster" Target="/ppt/slideMasters/slideMaster1.xml" Id="R5a7f94abace04095" /><Relationship Type="http://schemas.openxmlformats.org/officeDocument/2006/relationships/notesMaster" Target="/ppt/notesMasters/notesMaster1.xml" Id="R7fcd1683ae714a4d" /><Relationship Type="http://schemas.openxmlformats.org/officeDocument/2006/relationships/presProps" Target="/ppt/presProps.xml" Id="R2a0455fa858441fe" /><Relationship Type="http://schemas.openxmlformats.org/officeDocument/2006/relationships/tableStyles" Target="/ppt/tableStyles.xml" Id="Rf43bfe3d166e48fd" /><Relationship Type="http://schemas.openxmlformats.org/officeDocument/2006/relationships/slide" Target="/ppt/slides/slide1.xml" Id="Rdefd4c2fcbe34e29" /><Relationship Type="http://schemas.openxmlformats.org/officeDocument/2006/relationships/slide" Target="/ppt/slides/slide2.xml" Id="R6be25676a90f44b2" /><Relationship Type="http://schemas.openxmlformats.org/officeDocument/2006/relationships/slide" Target="/ppt/slides/slide3.xml" Id="R3b4340d86d884ff5" /><Relationship Type="http://schemas.openxmlformats.org/officeDocument/2006/relationships/slide" Target="/ppt/slides/slide4.xml" Id="R342e109726e44e7d" /><Relationship Type="http://schemas.openxmlformats.org/officeDocument/2006/relationships/slide" Target="/ppt/slides/slide5.xml" Id="R037f53bd870a49e3" /><Relationship Type="http://schemas.openxmlformats.org/officeDocument/2006/relationships/slide" Target="/ppt/slides/slide6.xml" Id="Rb22349b5c2384ea2" /><Relationship Type="http://schemas.openxmlformats.org/officeDocument/2006/relationships/slide" Target="/ppt/slides/slide7.xml" Id="R8d323232c4094654" /><Relationship Type="http://schemas.openxmlformats.org/officeDocument/2006/relationships/slide" Target="/ppt/slides/slide8.xml" Id="Rdc036dc541c74416" /><Relationship Type="http://schemas.openxmlformats.org/officeDocument/2006/relationships/slide" Target="/ppt/slides/slide9.xml" Id="R1428af8c75f84834" /><Relationship Type="http://schemas.openxmlformats.org/officeDocument/2006/relationships/slide" Target="/ppt/slides/slide10.xml" Id="Rad57be2d84e149bd" /><Relationship Type="http://schemas.openxmlformats.org/officeDocument/2006/relationships/slide" Target="/ppt/slides/slide11.xml" Id="R279f56a494b44437" /><Relationship Type="http://schemas.openxmlformats.org/officeDocument/2006/relationships/slide" Target="/ppt/slides/slide12.xml" Id="R15ca319658c941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8edac52e2f43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0300c2981241d5" /><Relationship Type="http://schemas.openxmlformats.org/officeDocument/2006/relationships/notesMaster" Target="/ppt/notesMasters/notesMaster1.xml" Id="Rcda89f3a53504e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12850c72294f5b" /><Relationship Type="http://schemas.openxmlformats.org/officeDocument/2006/relationships/notesMaster" Target="/ppt/notesMasters/notesMaster1.xml" Id="R68f2dce9572047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69863c25e463d" /><Relationship Type="http://schemas.openxmlformats.org/officeDocument/2006/relationships/notesMaster" Target="/ppt/notesMasters/notesMaster1.xml" Id="R7f23d6f98ad34a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4dc9b717fe4cf2" /><Relationship Type="http://schemas.openxmlformats.org/officeDocument/2006/relationships/notesMaster" Target="/ppt/notesMasters/notesMaster1.xml" Id="R850f9446ee4c41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bfe0a0f8e54158" /><Relationship Type="http://schemas.openxmlformats.org/officeDocument/2006/relationships/notesMaster" Target="/ppt/notesMasters/notesMaster1.xml" Id="Rdd755544604247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152eb305145ab" /><Relationship Type="http://schemas.openxmlformats.org/officeDocument/2006/relationships/notesMaster" Target="/ppt/notesMasters/notesMaster1.xml" Id="R356da6a2137b44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2593749af04859" /><Relationship Type="http://schemas.openxmlformats.org/officeDocument/2006/relationships/notesMaster" Target="/ppt/notesMasters/notesMaster1.xml" Id="R1c232400cfae4a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4550dbc1d0461b" /><Relationship Type="http://schemas.openxmlformats.org/officeDocument/2006/relationships/notesMaster" Target="/ppt/notesMasters/notesMaster1.xml" Id="R7c10260c77d845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189ed33ee14a7a" /><Relationship Type="http://schemas.openxmlformats.org/officeDocument/2006/relationships/notesMaster" Target="/ppt/notesMasters/notesMaster1.xml" Id="Re6c4a2505e644c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c6c434ee4b4290" /><Relationship Type="http://schemas.openxmlformats.org/officeDocument/2006/relationships/notesMaster" Target="/ppt/notesMasters/notesMaster1.xml" Id="R5f83407019134a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2e2445371b4a71" /><Relationship Type="http://schemas.openxmlformats.org/officeDocument/2006/relationships/notesMaster" Target="/ppt/notesMasters/notesMaster1.xml" Id="R154c601e992c4e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1d9f033bf54541" /><Relationship Type="http://schemas.openxmlformats.org/officeDocument/2006/relationships/notesMaster" Target="/ppt/notesMasters/notesMaster1.xml" Id="R8f5536dba68146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 Em trình bày thiết kế mobile FAP Attendance dành cho giảng viên Đại học FPT, mã sinh viên SE193324. Bài tập tập trung vào UI/UX và tài liệu bàn giao, chưa yêu cầu viết ứng dụng Flutter. Ba tác vụ chính là chuẩn bị dữ liệu và lịch, điểm danh QR rồi chốt, cuối cùng sửa sai có truy vết và xuất kết quả. Hiện em có prototype Stitch. Các tương tác mạng và lưu trữ trong demo cần được giới thiệu là mô phỏng. Những hạng mục chưa kiểm chứng sẽ được nêu ở cuối, gồm yêu cầu riêng Figma đang tạm gác.</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D:\Fall2026\PRM393\Project_PRM393\prm323-lab2-SE193324\assets\stitch\prototype-2026-10-11\f1-01-s01-workspace.png</a:t>
            </a:r>
          </a:p>
          <a:p xmlns:a="http://schemas.openxmlformats.org/drawingml/2006/main">
            <a:br/>
            <a:r>
              <a:t>Link prototype sinh viên cung cấp: https://stitch.withgoogle.com/preview/10059602616228007293?node-id=f4c596c319264fa182ad8c2c92ebf951</a:t>
            </a:r>
            <a:br/>
            <a:r>
              <a:t>Chưa xác minh quyền xem khi chưa đăng nhập.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Người dùng mục tiêu là giảng viên quản lý nhiều lớp và sử dụng điện thoại trước, trong hoặc sau giờ học. Rủi ro thiết kế nằm ở việc chọn nhầm lớp hoặc slot, chốt nhầm những ô chưa ghi nhận và hiểu sai trạng thái đã lưu khi mạng yếu. Đây là mô tả nhóm người dùng từ yêu cầu dự án, chưa phải kết quả phỏng vấn. Các chỉ số ở bên phải là mục tiêu kiểm thử: tìm lớp trong 15 giây, mở QR trong 20 giây và sửa có lý do trong 30 giây. Em chưa trình bày chúng như thời gian đã đo. Persona hiện còn cần hoàn thiện phần cá nhân theo mẫu đề.</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D:\Fall2026\PRM393\Project_PRM393\prm323-lab2-SE193324\ux\persona.md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45 giây. Hệ thống có mười ID màn hình. S02 lịch và lớp, cùng S10 Drive, là hai điểm đến cấp cao khi đã có workspace. S01 phục vụ khởi tạo, S03 nhập dữ liệu. Các màn còn lại nằm trong ngữ cảnh lớp hoặc meeting. Đặc biệt kết quả slot là view của S08, còn xác nhận chốt, xem note và sửa P/A là sheet hoặc state, không tính thêm vào số màn hình chính. Người dùng cần Back về đúng nguồn, giữ tuần, meeting và sinh viên đã chọn. Bộ mười màn đã xuất hiện trong quá trình thiết kế, nhưng bộ ảnh prototype mới lưu chỉ thể hiện chín ID và chưa có S10 mới.</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D:\Fall2026\PRM393\Project_PRM393\prm323-lab2-SE193324\design\screen-spec.md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 Flow 1 bắt đầu ở workspace, import dữ liệu, đến danh sách lớp rồi cấu hình lớp SE1921 chưa bắt đầu. Đích là lưu đúng lịch và quay lại lớp. Nhánh thay thế cần thử Hủy và file lỗi rồi chọn lại. Flow 2 mở đúng Slot 5, vào QR, xác nhận rồi trở lại lớp đã chốt. Nếu chọn Tiếp tục điểm danh, sheet đóng và kết quả không đổi. Flow 3 chọn Slot 4 đã chốt, xem sinh viên, sửa có lý do, quay lại kết quả rồi xuất local. Drive là bước tùy chọn. Lý do trống và lỗi backup là hai nhánh phục hồi cần kiểm thử. Các nhánh này là kịch bản mục tiêu, chưa được chứng minh chỉ bằng ảnh.</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D:\Fall2026\PRM393\Project_PRM393\prm323-lab2-SE193324\ux\user-flow.md</a:t>
            </a:r>
          </a:p>
          <a:p xmlns:a="http://schemas.openxmlformats.org/drawingml/2006/main">
            <a:r>
              <a:t>D:\Fall2026\PRM393\Project_PRM393\prm323-lab2-SE193324\design\prototype-review.md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Em dùng Google Stitch để sinh bản V0 từ prompt có bối cảnh giảng viên FPT, mười màn hình, ba flow và các ràng buộc mobile. Phần đang chiếu là trích nguyên văn, không phải toàn bộ prompt. Bản đầy đủ nằm trong AI log và file bằng chứng đã lưu. Prompt yêu cầu trắng cam, chữ dễ đọc, vùng chạm đủ lớn, dữ liệu local và Drive tùy chọn. Ảnh bên phải là output V0 của màn lịch tuần. Sau khi sinh, Codex hỗ trợ phản biện ảnh theo nghiệp vụ, nhu cầu người dùng và accessibility. Em phân biệt yêu cầu đã đưa vào prompt với chất lượng thực tế của output, vì AI có thể bỏ sót hoặc tự thêm nội dung.</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D:\Fall2026\PRM393\Project_PRM393\prm323-lab2-SE193324\ai\evidence\2026-10-11\01-stitch-v0-prompt.md</a:t>
            </a:r>
          </a:p>
          <a:p xmlns:a="http://schemas.openxmlformats.org/drawingml/2006/main">
            <a:r>
              <a:t>D:\Fall2026\PRM393\Project_PRM393\prm323-lab2-SE193324\assets\stitch\v0-s02-timetable.png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65 giây. Các phiên bản tập trung vào những nhóm vấn đề khác nhau. V1 làm rõ ngữ cảnh và lịch. V2 tập trung P/A, lịch sử cá nhân và note. Bộ V3 sinh viên đã gửi trong hội thoại tập trung xuất và backup. Hiện repository lưu chín ảnh V1 và bảy ảnh V2, còn bộ V3 riêng và prompt phản hồi đầy đủ cần bổ sung. Vì vậy em chưa tuyên bố đã chứng minh hoàn tất ba vòng. Năm phát hiện cụ thể là quyền sửa lịch chưa rõ ở S05, lẫn khung giờ tại note S07, lý do sửa và audit chưa được chứng minh, nhãn giữ QR chạy ngầm ở S06 trái đặc tả, tên file S09 khác giữa preview và kết quả. Mỗi lỗi cần gắn ảnh, quyết định và phép thử sau sửa.</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D:\Fall2026\PRM393\Project_PRM393\prm323-lab2-SE193324\ai\ai-design-log.md</a:t>
            </a:r>
          </a:p>
          <a:p xmlns:a="http://schemas.openxmlformats.org/drawingml/2006/main">
            <a:r>
              <a:t>D:\Fall2026\PRM393\Project_PRM393\prm323-lab2-SE193324\design\prototype-review.md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Bản quyết định hiện có mười mục. Ba ví dụ ở đây minh họa cách phản biện AI thay vì chấp nhận toàn bộ. Hướng Accept giữ local-first và backup tùy chọn vì giảng viên cần hiểu dữ liệu vẫn còn khi mạng yếu. Hướng Modify yêu cầu lý do mới không rỗng sau trim và có audit trước sau để sửa sai có truy vết. Hướng Reject bỏ nội dung giữ QR chạy ngầm khi rời màn hình vì trái quy tắc đã chọn. D01 đến D09 hiện là đề xuất chờ em chốt, chưa coi là quyết định đã triển khai. Lựa chọn công cụ Stitch và tạm gác Figma đã xác nhận trong hội thoại, nhưng chưa có miễn trừ từ giảng viên.</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Đây là hai ảnh UI có thật của S07, V0 bên trái và V2 bên phải. Em không gọi V0 là wireframe vì đó vẫn là giao diện do AI sinh. Phần này cho thấy cách tổ chức thông tin sinh viên, thống kê và lịch sử qua phiên bản. Bản sau đã có tỷ lệ vắng theo tổng hai mươi slot, nhưng còn cần đối chiếu note, khung giờ và dữ liệu theo review. Bộ low-fi chưa có bằng chứng để trình bày đối chiếu wireframe với final UI đúng yêu cầu. Thay vì dựng ảnh minh họa giả, em giữ giới hạn này và dùng ảnh gốc để giải thích thay đổi. Màn kết quả, sheet và trạng thái bổ sung sẽ trình diễn trong prototype.</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D:\Fall2026\PRM393\Project_PRM393\prm323-lab2-SE193324\assets\stitch\v0-s07-student.png</a:t>
            </a:r>
          </a:p>
          <a:p xmlns:a="http://schemas.openxmlformats.org/drawingml/2006/main">
            <a:r>
              <a:t>D:\Fall2026\PRM393\Project_PRM393\prm323-lab2-SE193324\assets\stitch\v2-s07-student.png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Design brief đã định nghĩa màu, typography, spacing, radius và elevation. Nút chữ trắng dùng primary C93C13, trong khi cam F4511E dành cho điểm nhấn nhận diện. Body mục tiêu là 16 với line-height 24, chữ phụ tối thiểu 14. Hệ spacing theo bước bốn và radius tám, mười hai, mười sáu. Danh sách chín nhóm component gồm button, text field, card, navigation, app bar, dialog, loading, empty và error. Handoff ánh xạ token vào ColorScheme, TextTheme hoặc constants. Hiện đây là đặc tả mục tiêu, chưa có bằng chứng Variables, Auto Layout và instances được dùng thật trong file Figma. Không coi một trang màu và ảnh giao diện là đã hoàn thành component system.</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D:\Fall2026\PRM393\Project_PRM393\prm323-lab2-SE193324\design\DESIGN.md</a:t>
            </a:r>
          </a:p>
          <a:p xmlns:a="http://schemas.openxmlformats.org/drawingml/2006/main">
            <a:r>
              <a:t>D:\Fall2026\PRM393\Project_PRM393\prm323-lab2-SE193324\handoff\flutter-handoff.md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Em đã tính tương phản của các cặp token. Trắng trên primary C93C13 đạt khoảng 5,07:1, đủ ngưỡng chữ thường 4,5:1. Trắng trên cam brand F4511E chỉ khoảng 3,48:1 nên không dùng cho chữ thường. Đây là phép tính token, chưa phải phép đo toàn bộ UI Stitch. Các mục tiêu khác là vùng chạm ít nhất 48 vuông, nội dung ít nhất 14 và trạng thái có chữ hoặc icon ngoài màu. Cần thử cùng dữ liệu ở 360 và 412, đặc biệt tên dài, đường dẫn file, lịch cuộn và bàn phím trong sheet lý do. Hiện checklist vẫn ghi chưa kiểm thử, nên em chưa nói responsive đã đạt.</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D:\Fall2026\PRM393\Project_PRM393\prm323-lab2-SE193324\design\design-decisions.md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40 giây giới thiệu, sau đó chuyển sang demo 5 phút theo kịch bản riêng. Ngày giả lập là 24 tháng 9 năm 2026, không phải ngày chạy demo thực tế. Em dành khoảng một phút cho import và cấu hình, một phút rưỡi cho QR và chốt, gần hai phút cho sửa và xuất, phần còn lại cho mở và kết thúc. Hình bên trái là sheet xác nhận chốt thật trong ảnh đã cung cấp. Em sẽ trình diễn Hủy trước khi xác nhận, và thử lý do trống trước khi sửa hợp lệ nếu nhánh đã hoạt động. Nếu prototype chưa nối nhánh, em chỉ rõ giới hạn và dùng ảnh dự phòng, không gọi ảnh là tương tác đã chạy thành công.</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D:\Fall2026\PRM393\Project_PRM393\prm323-lab2-SE193324\assets\stitch\prototype-2026-10-11\f2-03-s06-confirm.png</a:t>
            </a:r>
          </a:p>
          <a:p xmlns:a="http://schemas.openxmlformats.org/drawingml/2006/main">
            <a:r>
              <a:t>D:\Fall2026\PRM393\Project_PRM393\prm323-lab2-SE193324\presentation\output\demo-script.md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60 giây. Handoff đã có nội dung cho mười màn hình, mỗi màn gồm sáu phần: layout, component và variants, states, interactions và validation, navigation và Back, cùng UI constraints và wide layout. Hai bảng mapping nêu token sang Flutter và component sang widget. Đây là tài liệu, chưa viết code hoặc kiểm thử với người nhận. Những phần còn lại là chạy checklist ba flow, bổ sung S10 mới và bộ low-fi, hoàn thiện prompt phản hồi V3 và quyết định của sinh viên, đo responsive và accessibility. Link Stitch đã cung cấp, cần thử quyền xem chưa đăng nhập. Repo Lab 2 chưa có link. Yêu cầu riêng Figma vẫn chưa có miễn trừ. Em kết thúc bằng các giới hạn này để không nhầm tài liệu dự thảo với bài đã đủ điều kiện nộp.</a:t>
            </a:r>
          </a:p>
          <a:p xmlns:a="http://schemas.openxmlformats.org/drawingml/2006/main">
            <a:r>
              <a:t/>
            </a:r>
          </a:p>
          <a:p xmlns:a="http://schemas.openxmlformats.org/drawingml/2006/main">
            <a:r>
              <a:t>Nguồn: D:/Fall2026/PRM393/PRM323_Lab2_HuongDan_Slide_Presentation_Demo.docx</a:t>
            </a:r>
          </a:p>
          <a:p xmlns:a="http://schemas.openxmlformats.org/drawingml/2006/main">
            <a:r>
              <a:t>D:\Fall2026\PRM393\Project_PRM393\prm323-lab2-SE193324\handoff\flutter-handoff.md</a:t>
            </a:r>
          </a:p>
          <a:p xmlns:a="http://schemas.openxmlformats.org/drawingml/2006/main">
            <a:r>
              <a:t>D:\Fall2026\PRM393\Project_PRM393\prm323-lab2-SE193324\README.md</a:t>
            </a:r>
          </a:p>
          <a:p xmlns:a="http://schemas.openxmlformats.org/drawingml/2006/main">
            <a:br/>
            <a:r>
              <a:t>Prototype: https://stitch.withgoogle.com/preview/10059602616228007293?node-id=f4c596c319264fa182ad8c2c92ebf951</a:t>
            </a:r>
            <a:br/>
            <a:r>
              <a:t>Quyền xem chưa đăng nhập chưa xác minh.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4558ba91d44f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7bc9322df041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969e11adb346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9d283e4c954b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fd4ca929c34a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96df2000dd45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AAF8A8-1AA8-4214-A516-AA677D50B4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74DA28-379F-43F5-8604-54F757C69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1E2BB1-1083-425C-9C6D-591EE6C20A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24FFA5-3D38-4A32-BBE9-F46B7D2A15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572DC0-201C-4895-A1B5-A4323029E8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F4B6DD-F0B1-4AC2-9783-C14F341DFE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95A1BC-7C5B-4F3C-AEF7-36CFFACA64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372894-7DB1-4355-BFB3-AD9162D792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9ECBA9-0FC0-455F-AD2A-A6A36DD8E0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776DAE-2596-4079-A25F-8BF47A1783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4d516691c242e6" /><Relationship Type="http://schemas.openxmlformats.org/officeDocument/2006/relationships/slideLayout" Target="/ppt/slideLayouts/slideLayout1.xml" Id="R255852e6d19a4f26" /><Relationship Type="http://schemas.openxmlformats.org/officeDocument/2006/relationships/slideLayout" Target="/ppt/slideLayouts/slideLayout2.xml" Id="Rd47fa3d69d904c59" /><Relationship Type="http://schemas.openxmlformats.org/officeDocument/2006/relationships/slideLayout" Target="/ppt/slideLayouts/slideLayout3.xml" Id="R49f67d6da8f84359" /><Relationship Type="http://schemas.openxmlformats.org/officeDocument/2006/relationships/slideLayout" Target="/ppt/slideLayouts/slideLayout4.xml" Id="R97cb3ed3dccb461e" /><Relationship Type="http://schemas.openxmlformats.org/officeDocument/2006/relationships/slideLayout" Target="/ppt/slideLayouts/slideLayout5.xml" Id="R691f333435c04654" /><Relationship Type="http://schemas.openxmlformats.org/officeDocument/2006/relationships/slideLayout" Target="/ppt/slideLayouts/slideLayout6.xml" Id="R047018f30eb14d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5852e6d19a4f26"/>
    <p:sldLayoutId xmlns:r="http://schemas.openxmlformats.org/officeDocument/2006/relationships" id="2147483650" r:id="Rd47fa3d69d904c59"/>
    <p:sldLayoutId xmlns:r="http://schemas.openxmlformats.org/officeDocument/2006/relationships" id="2147483651" r:id="R49f67d6da8f84359"/>
    <p:sldLayoutId xmlns:r="http://schemas.openxmlformats.org/officeDocument/2006/relationships" id="2147483652" r:id="R97cb3ed3dccb461e"/>
    <p:sldLayoutId xmlns:r="http://schemas.openxmlformats.org/officeDocument/2006/relationships" id="2147483653" r:id="R691f333435c04654"/>
    <p:sldLayoutId xmlns:r="http://schemas.openxmlformats.org/officeDocument/2006/relationships" id="2147483654" r:id="R047018f30eb14d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05e32fb0d24934" /><Relationship Type="http://schemas.openxmlformats.org/officeDocument/2006/relationships/hyperlink" Target="https://stitch.withgoogle.com/preview/10059602616228007293?node-id=f4c596c319264fa182ad8c2c92ebf951" TargetMode="External" Id="R649365b145c74d8e" /><Relationship Type="http://schemas.openxmlformats.org/officeDocument/2006/relationships/image" Target="/ppt/media/image.png" Id="R220c10ca56fa4475" /><Relationship Type="http://schemas.openxmlformats.org/officeDocument/2006/relationships/notesSlide" Target="/ppt/notesSlides/notesSlide1.xml" Id="Rc396dbef5b764c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8c8c0773a14ec1" /><Relationship Type="http://schemas.openxmlformats.org/officeDocument/2006/relationships/notesSlide" Target="/ppt/notesSlides/notesSlide2.xml" Id="R4938683e1c5548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2d9e02da014b7e" /><Relationship Type="http://schemas.openxmlformats.org/officeDocument/2006/relationships/notesSlide" Target="/ppt/notesSlides/notesSlide3.xml" Id="R3185356d2f4741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38f71053ef4dbd" /><Relationship Type="http://schemas.openxmlformats.org/officeDocument/2006/relationships/notesSlide" Target="/ppt/notesSlides/notesSlide4.xml" Id="R957d2022ce6d47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090f0f7ca74b0f" /><Relationship Type="http://schemas.openxmlformats.org/officeDocument/2006/relationships/image" Target="/ppt/media/image2.png" Id="Re958eb6bd2d843a5" /><Relationship Type="http://schemas.openxmlformats.org/officeDocument/2006/relationships/notesSlide" Target="/ppt/notesSlides/notesSlide5.xml" Id="R1f9e1beb6dc242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8bdf3b9b324d84" /><Relationship Type="http://schemas.openxmlformats.org/officeDocument/2006/relationships/notesSlide" Target="/ppt/notesSlides/notesSlide6.xml" Id="Ra6e68ad199604f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25d262309064379" /><Relationship Type="http://schemas.openxmlformats.org/officeDocument/2006/relationships/notesSlide" Target="/ppt/notesSlides/notesSlide7.xml" Id="R5ac1e70f7bde47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f5b9dc7914b62" /><Relationship Type="http://schemas.openxmlformats.org/officeDocument/2006/relationships/image" Target="/ppt/media/image3.png" Id="R564db39d537346d3" /><Relationship Type="http://schemas.openxmlformats.org/officeDocument/2006/relationships/image" Target="/ppt/media/image4.png" Id="Rc3eaf69f426646a6" /><Relationship Type="http://schemas.openxmlformats.org/officeDocument/2006/relationships/notesSlide" Target="/ppt/notesSlides/notesSlide8.xml" Id="Rada0ea8918c449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906117d3d14766" /><Relationship Type="http://schemas.openxmlformats.org/officeDocument/2006/relationships/notesSlide" Target="/ppt/notesSlides/notesSlide9.xml" Id="R7cbe4d643c1949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93e7dc87be4b53" /><Relationship Type="http://schemas.openxmlformats.org/officeDocument/2006/relationships/notesSlide" Target="/ppt/notesSlides/notesSlide10.xml" Id="R701c674419024e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97d757fc4ae4474" /><Relationship Type="http://schemas.openxmlformats.org/officeDocument/2006/relationships/image" Target="/ppt/media/image5.png" Id="R9a6375c158db42fd" /><Relationship Type="http://schemas.openxmlformats.org/officeDocument/2006/relationships/notesSlide" Target="/ppt/notesSlides/notesSlide11.xml" Id="R31494552f79841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c38a77ad584103" /><Relationship Type="http://schemas.openxmlformats.org/officeDocument/2006/relationships/hyperlink" Target="https://stitch.withgoogle.com/preview/10059602616228007293?node-id=f4c596c319264fa182ad8c2c92ebf951" TargetMode="External" Id="Re6b77ecf3eb74681" /><Relationship Type="http://schemas.openxmlformats.org/officeDocument/2006/relationships/notesSlide" Target="/ppt/notesSlides/notesSlide12.xml" Id="R3a5801d9246e40ff" /></Relationships>
</file>

<file path=ppt/slides/slide1.xml><?xml version="1.0" encoding="utf-8"?>
<p:sld xmlns:p="http://schemas.openxmlformats.org/presentationml/2006/main">
  <p:cSld>
    <p:bg>
      <p:bgPr>
        <a:solidFill xmlns:a="http://schemas.openxmlformats.org/drawingml/2006/main">
          <a:srgbClr val="FF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74B58D-0F91-4247-8F02-9E7A2F0B014B}"/>
              </a:ext>
            </a:extLst>
          </p:cNvPr>
          <p:cNvSpPr>
            <a:spLocks xmlns:a="http://schemas.openxmlformats.org/drawingml/2006/main" noGrp="1"/>
          </p:cNvSpPr>
          <p:nvPr/>
        </p:nvSpPr>
        <p:spPr>
          <a:xfrm xmlns:a="http://schemas.openxmlformats.org/drawingml/2006/main">
            <a:off x="609600" y="1695450"/>
            <a:ext cx="7429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5400" b="1">
                <a:solidFill>
                  <a:srgbClr val="243047"/>
                </a:solidFill>
                <a:latin typeface="Arial"/>
                <a:ea typeface="Arial"/>
                <a:cs typeface="Arial"/>
              </a:defRPr>
            </a:defPPr>
          </a:lstStyle>
          <a:p xmlns:a="http://schemas.openxmlformats.org/drawingml/2006/main">
            <a:pPr>
              <a:defRPr sz="5400" b="1">
                <a:solidFill>
                  <a:srgbClr val="243047"/>
                </a:solidFill>
                <a:latin typeface="Arial"/>
                <a:ea typeface="Arial"/>
                <a:cs typeface="Arial"/>
              </a:defRPr>
            </a:pPr>
            <a:r>
              <a:rPr sz="5400" b="1">
                <a:solidFill>
                  <a:srgbClr val="243047"/>
                </a:solidFill>
                <a:latin typeface="Arial"/>
                <a:ea typeface="Arial"/>
                <a:cs typeface="Arial"/>
              </a:rPr>
              <a:t>FAP Attendance</a:t>
            </a:r>
          </a:p>
        </p:txBody>
      </p:sp>
      <p:sp>
        <p:nvSpPr>
          <p:cNvPr id="2" name="">
            <a:extLst xmlns:a="http://schemas.openxmlformats.org/drawingml/2006/main">
              <a:ext uri="{FF2B5EF4-FFF2-40B4-BE49-F238E27FC236}">
                <a16:creationId xmlns:a16="http://schemas.microsoft.com/office/drawing/2014/main" id="{F18B10EA-5D1D-4757-BC6C-3E6E34446460}"/>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01   FAP Attendance</a:t>
            </a:r>
          </a:p>
        </p:txBody>
      </p:sp>
      <p:sp>
        <p:nvSpPr>
          <p:cNvPr id="3" name="">
            <a:extLst xmlns:a="http://schemas.openxmlformats.org/drawingml/2006/main">
              <a:ext uri="{FF2B5EF4-FFF2-40B4-BE49-F238E27FC236}">
                <a16:creationId xmlns:a16="http://schemas.microsoft.com/office/drawing/2014/main" id="{46171FCC-6D1A-4794-9B7D-96EF413578EF}"/>
              </a:ext>
            </a:extLst>
          </p:cNvPr>
          <p:cNvSpPr>
            <a:spLocks xmlns:a="http://schemas.openxmlformats.org/drawingml/2006/main" noGrp="1"/>
          </p:cNvSpPr>
          <p:nvPr/>
        </p:nvSpPr>
        <p:spPr>
          <a:xfrm xmlns:a="http://schemas.openxmlformats.org/drawingml/2006/main">
            <a:off x="609600" y="2857500"/>
            <a:ext cx="709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243047"/>
                </a:solidFill>
                <a:latin typeface="Arial"/>
                <a:ea typeface="Arial"/>
                <a:cs typeface="Arial"/>
              </a:defRPr>
            </a:defPPr>
          </a:lstStyle>
          <a:p xmlns:a="http://schemas.openxmlformats.org/drawingml/2006/main">
            <a:pPr>
              <a:defRPr sz="2400" b="0">
                <a:solidFill>
                  <a:srgbClr val="243047"/>
                </a:solidFill>
                <a:latin typeface="Arial"/>
                <a:ea typeface="Arial"/>
                <a:cs typeface="Arial"/>
              </a:defRPr>
            </a:pPr>
            <a:r>
              <a:rPr sz="2400" b="0">
                <a:solidFill>
                  <a:srgbClr val="243047"/>
                </a:solidFill>
                <a:latin typeface="Arial"/>
                <a:ea typeface="Arial"/>
                <a:cs typeface="Arial"/>
              </a:rPr>
              <a:t>Thiết kế UI/UX mobile cho giảng viên FPT</a:t>
            </a:r>
          </a:p>
        </p:txBody>
      </p:sp>
      <p:sp>
        <p:nvSpPr>
          <p:cNvPr id="4" name="">
            <a:extLst xmlns:a="http://schemas.openxmlformats.org/drawingml/2006/main">
              <a:ext uri="{FF2B5EF4-FFF2-40B4-BE49-F238E27FC236}">
                <a16:creationId xmlns:a16="http://schemas.microsoft.com/office/drawing/2014/main" id="{10A8F6A2-1DA9-4E10-A8E3-BF75E0DE66EF}"/>
              </a:ext>
            </a:extLst>
          </p:cNvPr>
          <p:cNvSpPr>
            <a:spLocks xmlns:a="http://schemas.openxmlformats.org/drawingml/2006/main" noGrp="1"/>
          </p:cNvSpPr>
          <p:nvPr/>
        </p:nvSpPr>
        <p:spPr>
          <a:xfrm xmlns:a="http://schemas.openxmlformats.org/drawingml/2006/main">
            <a:off x="609600" y="41719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667085"/>
                </a:solidFill>
                <a:latin typeface="Arial"/>
                <a:ea typeface="Arial"/>
                <a:cs typeface="Arial"/>
              </a:defRPr>
            </a:defPPr>
          </a:lstStyle>
          <a:p xmlns:a="http://schemas.openxmlformats.org/drawingml/2006/main">
            <a:pPr>
              <a:defRPr sz="2025" b="0">
                <a:solidFill>
                  <a:srgbClr val="667085"/>
                </a:solidFill>
                <a:latin typeface="Arial"/>
                <a:ea typeface="Arial"/>
                <a:cs typeface="Arial"/>
              </a:defRPr>
            </a:pPr>
            <a:r>
              <a:rPr sz="2025" b="0">
                <a:solidFill>
                  <a:srgbClr val="667085"/>
                </a:solidFill>
                <a:latin typeface="Arial"/>
                <a:ea typeface="Arial"/>
                <a:cs typeface="Arial"/>
              </a:rPr>
              <a:t>PRM323 Lab 2</a:t>
            </a:r>
          </a:p>
          <a:p xmlns:a="http://schemas.openxmlformats.org/drawingml/2006/main">
            <a:pPr>
              <a:defRPr sz="2025" b="0">
                <a:solidFill>
                  <a:srgbClr val="667085"/>
                </a:solidFill>
                <a:latin typeface="Arial"/>
                <a:ea typeface="Arial"/>
                <a:cs typeface="Arial"/>
              </a:defRPr>
            </a:pPr>
            <a:r>
              <a:rPr sz="2025" b="0">
                <a:solidFill>
                  <a:srgbClr val="667085"/>
                </a:solidFill>
                <a:latin typeface="Arial"/>
                <a:ea typeface="Arial"/>
                <a:cs typeface="Arial"/>
              </a:rPr>
              <a:t>SE193324</a:t>
            </a:r>
          </a:p>
        </p:txBody>
      </p:sp>
      <p:sp>
        <p:nvSpPr>
          <p:cNvPr id="5" name="">
            <a:extLst xmlns:a="http://schemas.openxmlformats.org/drawingml/2006/main">
              <a:ext uri="{FF2B5EF4-FFF2-40B4-BE49-F238E27FC236}">
                <a16:creationId xmlns:a16="http://schemas.microsoft.com/office/drawing/2014/main" id="{BB83C9F5-18F5-44B6-A906-6E94FF8CE878}"/>
              </a:ext>
            </a:extLst>
          </p:cNvPr>
          <p:cNvSpPr>
            <a:spLocks xmlns:a="http://schemas.openxmlformats.org/drawingml/2006/main" noGrp="1"/>
          </p:cNvSpPr>
          <p:nvPr/>
        </p:nvSpPr>
        <p:spPr>
          <a:xfrm xmlns:a="http://schemas.openxmlformats.org/drawingml/2006/main">
            <a:off x="609600" y="53625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hlinkClick xmlns:r="http://schemas.openxmlformats.org/officeDocument/2006/relationships" r:id="R649365b145c74d8e"/>
              </a:rPr>
              <a:t>Mở prototype Stitch</a:t>
            </a:r>
          </a:p>
        </p:txBody>
      </p:sp>
      <p:pic>
        <p:nvPicPr>
          <p:cNvPr id="6" name="">
            <a:extLst xmlns:a="http://schemas.openxmlformats.org/drawingml/2006/main">
              <a:ext uri="{FF2B5EF4-FFF2-40B4-BE49-F238E27FC236}">
                <a16:creationId xmlns:a16="http://schemas.microsoft.com/office/drawing/2014/main" id="{3B8D700F-FD27-4B49-AD24-DFCB537A48DB}"/>
              </a:ext>
            </a:extLst>
          </p:cNvPr>
          <p:cNvPicPr>
            <a:picLocks xmlns:a="http://schemas.openxmlformats.org/drawingml/2006/main" noChangeAspect="1"/>
          </p:cNvPicPr>
          <p:nvPr/>
        </p:nvPicPr>
        <p:blipFill>
          <a:blip xmlns:r="http://schemas.openxmlformats.org/officeDocument/2006/relationships" xmlns:a="http://schemas.openxmlformats.org/drawingml/2006/main" r:embed="R220c10ca56fa4475"/>
          <a:stretch xmlns:a="http://schemas.openxmlformats.org/drawingml/2006/main"/>
        </p:blipFill>
        <p:spPr>
          <a:xfrm xmlns:a="http://schemas.openxmlformats.org/drawingml/2006/main">
            <a:off x="8739676" y="819150"/>
            <a:ext cx="2580298" cy="5257800"/>
          </a:xfrm>
          <a:prstGeom xmlns:a="http://schemas.openxmlformats.org/drawingml/2006/main" prst="rect">
            <a:avLst/>
          </a:prstGeom>
        </p:spPr>
      </p:pic>
    </p:spTree>
    <p:extLst>
      <p:ext uri="{BB962C8B-B14F-4D97-AF65-F5344CB8AC3E}">
        <p14:creationId xmlns:p14="http://schemas.microsoft.com/office/powerpoint/2010/main" val="4575411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2BD966-9D91-4E0E-9593-B36CCF5FF8BA}"/>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Vấn đề và người dùng</a:t>
            </a:r>
          </a:p>
        </p:txBody>
      </p:sp>
      <p:sp>
        <p:nvSpPr>
          <p:cNvPr id="2" name="">
            <a:extLst xmlns:a="http://schemas.openxmlformats.org/drawingml/2006/main">
              <a:ext uri="{FF2B5EF4-FFF2-40B4-BE49-F238E27FC236}">
                <a16:creationId xmlns:a16="http://schemas.microsoft.com/office/drawing/2014/main" id="{950A2F37-8B5E-48A0-9929-B1A0AFF26308}"/>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02   FAP Attendance</a:t>
            </a:r>
          </a:p>
        </p:txBody>
      </p:sp>
      <p:sp>
        <p:nvSpPr>
          <p:cNvPr id="3" name="">
            <a:extLst xmlns:a="http://schemas.openxmlformats.org/drawingml/2006/main">
              <a:ext uri="{FF2B5EF4-FFF2-40B4-BE49-F238E27FC236}">
                <a16:creationId xmlns:a16="http://schemas.microsoft.com/office/drawing/2014/main" id="{0A97B0BA-A751-4FF0-9661-260498D6C484}"/>
              </a:ext>
            </a:extLst>
          </p:cNvPr>
          <p:cNvSpPr>
            <a:spLocks xmlns:a="http://schemas.openxmlformats.org/drawingml/2006/main" noGrp="1"/>
          </p:cNvSpPr>
          <p:nvPr/>
        </p:nvSpPr>
        <p:spPr>
          <a:xfrm xmlns:a="http://schemas.openxmlformats.org/drawingml/2006/main">
            <a:off x="609600" y="14668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Giảng viên quản lý nhiều lớp</a:t>
            </a:r>
          </a:p>
        </p:txBody>
      </p:sp>
      <p:sp>
        <p:nvSpPr>
          <p:cNvPr id="4" name="">
            <a:extLst xmlns:a="http://schemas.openxmlformats.org/drawingml/2006/main">
              <a:ext uri="{FF2B5EF4-FFF2-40B4-BE49-F238E27FC236}">
                <a16:creationId xmlns:a16="http://schemas.microsoft.com/office/drawing/2014/main" id="{5F4EE0E7-734F-4119-BE33-318761A3BF29}"/>
              </a:ext>
            </a:extLst>
          </p:cNvPr>
          <p:cNvSpPr>
            <a:spLocks xmlns:a="http://schemas.openxmlformats.org/drawingml/2006/main" noGrp="1"/>
          </p:cNvSpPr>
          <p:nvPr/>
        </p:nvSpPr>
        <p:spPr>
          <a:xfrm xmlns:a="http://schemas.openxmlformats.org/drawingml/2006/main">
            <a:off x="609600" y="1924050"/>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Thao tác nhanh trên điện thoại.</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Mạng có thể không ổn định.</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Cần biết đúng lớp, slot và trạng thái lưu.</a:t>
            </a:r>
          </a:p>
        </p:txBody>
      </p:sp>
      <p:sp>
        <p:nvSpPr>
          <p:cNvPr id="5" name="">
            <a:extLst xmlns:a="http://schemas.openxmlformats.org/drawingml/2006/main">
              <a:ext uri="{FF2B5EF4-FFF2-40B4-BE49-F238E27FC236}">
                <a16:creationId xmlns:a16="http://schemas.microsoft.com/office/drawing/2014/main" id="{7BDF6416-61C7-49D1-B4D4-E0307C3CEB21}"/>
              </a:ext>
            </a:extLst>
          </p:cNvPr>
          <p:cNvSpPr>
            <a:spLocks xmlns:a="http://schemas.openxmlformats.org/drawingml/2006/main" noGrp="1"/>
          </p:cNvSpPr>
          <p:nvPr/>
        </p:nvSpPr>
        <p:spPr>
          <a:xfrm xmlns:a="http://schemas.openxmlformats.org/drawingml/2006/main">
            <a:off x="609600" y="36957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Khó khăn chính</a:t>
            </a:r>
          </a:p>
        </p:txBody>
      </p:sp>
      <p:sp>
        <p:nvSpPr>
          <p:cNvPr id="6" name="">
            <a:extLst xmlns:a="http://schemas.openxmlformats.org/drawingml/2006/main">
              <a:ext uri="{FF2B5EF4-FFF2-40B4-BE49-F238E27FC236}">
                <a16:creationId xmlns:a16="http://schemas.microsoft.com/office/drawing/2014/main" id="{FFA101B5-8643-4380-9270-DF748E2CF22F}"/>
              </a:ext>
            </a:extLst>
          </p:cNvPr>
          <p:cNvSpPr>
            <a:spLocks xmlns:a="http://schemas.openxmlformats.org/drawingml/2006/main" noGrp="1"/>
          </p:cNvSpPr>
          <p:nvPr/>
        </p:nvSpPr>
        <p:spPr>
          <a:xfrm xmlns:a="http://schemas.openxmlformats.org/drawingml/2006/main">
            <a:off x="609600" y="4152900"/>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Chọn nhầm lần học.</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Chốt thiếu xác nhận.</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Khó truy lại lý do chỉnh sửa.</a:t>
            </a:r>
          </a:p>
        </p:txBody>
      </p:sp>
      <p:sp>
        <p:nvSpPr>
          <p:cNvPr id="7" name="">
            <a:extLst xmlns:a="http://schemas.openxmlformats.org/drawingml/2006/main">
              <a:ext uri="{FF2B5EF4-FFF2-40B4-BE49-F238E27FC236}">
                <a16:creationId xmlns:a16="http://schemas.microsoft.com/office/drawing/2014/main" id="{88B988B1-A37F-43A4-855E-4896264FCC8E}"/>
              </a:ext>
            </a:extLst>
          </p:cNvPr>
          <p:cNvSpPr>
            <a:spLocks xmlns:a="http://schemas.openxmlformats.org/drawingml/2006/main" noGrp="1"/>
          </p:cNvSpPr>
          <p:nvPr/>
        </p:nvSpPr>
        <p:spPr>
          <a:xfrm xmlns:a="http://schemas.openxmlformats.org/drawingml/2006/main">
            <a:off x="7086600" y="14668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Mục tiêu kiểm thử</a:t>
            </a:r>
          </a:p>
        </p:txBody>
      </p:sp>
      <p:sp>
        <p:nvSpPr>
          <p:cNvPr id="8" name="">
            <a:extLst xmlns:a="http://schemas.openxmlformats.org/drawingml/2006/main">
              <a:ext uri="{FF2B5EF4-FFF2-40B4-BE49-F238E27FC236}">
                <a16:creationId xmlns:a16="http://schemas.microsoft.com/office/drawing/2014/main" id="{09AFBB1E-52A4-47F0-A5BE-3854D4DBB327}"/>
              </a:ext>
            </a:extLst>
          </p:cNvPr>
          <p:cNvSpPr>
            <a:spLocks xmlns:a="http://schemas.openxmlformats.org/drawingml/2006/main" noGrp="1"/>
          </p:cNvSpPr>
          <p:nvPr/>
        </p:nvSpPr>
        <p:spPr>
          <a:xfrm xmlns:a="http://schemas.openxmlformats.org/drawingml/2006/main">
            <a:off x="7086600" y="20574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≤15 giây</a:t>
            </a:r>
          </a:p>
        </p:txBody>
      </p:sp>
      <p:sp>
        <p:nvSpPr>
          <p:cNvPr id="9" name="">
            <a:extLst xmlns:a="http://schemas.openxmlformats.org/drawingml/2006/main">
              <a:ext uri="{FF2B5EF4-FFF2-40B4-BE49-F238E27FC236}">
                <a16:creationId xmlns:a16="http://schemas.microsoft.com/office/drawing/2014/main" id="{5FCB5C2A-19F1-4581-86D6-E9EA4E74C26B}"/>
              </a:ext>
            </a:extLst>
          </p:cNvPr>
          <p:cNvSpPr>
            <a:spLocks xmlns:a="http://schemas.openxmlformats.org/drawingml/2006/main" noGrp="1"/>
          </p:cNvSpPr>
          <p:nvPr/>
        </p:nvSpPr>
        <p:spPr>
          <a:xfrm xmlns:a="http://schemas.openxmlformats.org/drawingml/2006/main">
            <a:off x="7086600" y="26289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Tìm đúng lớp và meeting</a:t>
            </a:r>
          </a:p>
        </p:txBody>
      </p:sp>
      <p:sp>
        <p:nvSpPr>
          <p:cNvPr id="10" name="">
            <a:extLst xmlns:a="http://schemas.openxmlformats.org/drawingml/2006/main">
              <a:ext uri="{FF2B5EF4-FFF2-40B4-BE49-F238E27FC236}">
                <a16:creationId xmlns:a16="http://schemas.microsoft.com/office/drawing/2014/main" id="{C62B0821-5E76-430C-AE00-99F697D32993}"/>
              </a:ext>
            </a:extLst>
          </p:cNvPr>
          <p:cNvSpPr>
            <a:spLocks xmlns:a="http://schemas.openxmlformats.org/drawingml/2006/main" noGrp="1"/>
          </p:cNvSpPr>
          <p:nvPr/>
        </p:nvSpPr>
        <p:spPr>
          <a:xfrm xmlns:a="http://schemas.openxmlformats.org/drawingml/2006/main">
            <a:off x="7086600" y="326707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≤20 giây</a:t>
            </a:r>
          </a:p>
        </p:txBody>
      </p:sp>
      <p:sp>
        <p:nvSpPr>
          <p:cNvPr id="11" name="">
            <a:extLst xmlns:a="http://schemas.openxmlformats.org/drawingml/2006/main">
              <a:ext uri="{FF2B5EF4-FFF2-40B4-BE49-F238E27FC236}">
                <a16:creationId xmlns:a16="http://schemas.microsoft.com/office/drawing/2014/main" id="{A7A77A2C-1D25-481A-AE24-37E689D754EF}"/>
              </a:ext>
            </a:extLst>
          </p:cNvPr>
          <p:cNvSpPr>
            <a:spLocks xmlns:a="http://schemas.openxmlformats.org/drawingml/2006/main" noGrp="1"/>
          </p:cNvSpPr>
          <p:nvPr/>
        </p:nvSpPr>
        <p:spPr>
          <a:xfrm xmlns:a="http://schemas.openxmlformats.org/drawingml/2006/main">
            <a:off x="7086600" y="383857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Mở QR từ dashboard</a:t>
            </a:r>
          </a:p>
        </p:txBody>
      </p:sp>
      <p:sp>
        <p:nvSpPr>
          <p:cNvPr id="12" name="">
            <a:extLst xmlns:a="http://schemas.openxmlformats.org/drawingml/2006/main">
              <a:ext uri="{FF2B5EF4-FFF2-40B4-BE49-F238E27FC236}">
                <a16:creationId xmlns:a16="http://schemas.microsoft.com/office/drawing/2014/main" id="{4CCA580B-8AFF-4E82-865B-971F92C9D28E}"/>
              </a:ext>
            </a:extLst>
          </p:cNvPr>
          <p:cNvSpPr>
            <a:spLocks xmlns:a="http://schemas.openxmlformats.org/drawingml/2006/main" noGrp="1"/>
          </p:cNvSpPr>
          <p:nvPr/>
        </p:nvSpPr>
        <p:spPr>
          <a:xfrm xmlns:a="http://schemas.openxmlformats.org/drawingml/2006/main">
            <a:off x="7086600" y="447675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243047"/>
                </a:solidFill>
                <a:latin typeface="Arial"/>
                <a:ea typeface="Arial"/>
                <a:cs typeface="Arial"/>
              </a:defRPr>
            </a:defPPr>
          </a:lstStyle>
          <a:p xmlns:a="http://schemas.openxmlformats.org/drawingml/2006/main">
            <a:pPr>
              <a:defRPr sz="3450" b="1">
                <a:solidFill>
                  <a:srgbClr val="243047"/>
                </a:solidFill>
                <a:latin typeface="Arial"/>
                <a:ea typeface="Arial"/>
                <a:cs typeface="Arial"/>
              </a:defRPr>
            </a:pPr>
            <a:r>
              <a:rPr sz="3450" b="1">
                <a:solidFill>
                  <a:srgbClr val="243047"/>
                </a:solidFill>
                <a:latin typeface="Arial"/>
                <a:ea typeface="Arial"/>
                <a:cs typeface="Arial"/>
              </a:rPr>
              <a:t>≤30 giây</a:t>
            </a:r>
          </a:p>
        </p:txBody>
      </p:sp>
      <p:sp>
        <p:nvSpPr>
          <p:cNvPr id="13" name="">
            <a:extLst xmlns:a="http://schemas.openxmlformats.org/drawingml/2006/main">
              <a:ext uri="{FF2B5EF4-FFF2-40B4-BE49-F238E27FC236}">
                <a16:creationId xmlns:a16="http://schemas.microsoft.com/office/drawing/2014/main" id="{32C4A309-F3D3-434A-A45C-7F366AFCFD83}"/>
              </a:ext>
            </a:extLst>
          </p:cNvPr>
          <p:cNvSpPr>
            <a:spLocks xmlns:a="http://schemas.openxmlformats.org/drawingml/2006/main" noGrp="1"/>
          </p:cNvSpPr>
          <p:nvPr/>
        </p:nvSpPr>
        <p:spPr>
          <a:xfrm xmlns:a="http://schemas.openxmlformats.org/drawingml/2006/main">
            <a:off x="7086600" y="50482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Sửa kết quả kèm lý do</a:t>
            </a:r>
          </a:p>
        </p:txBody>
      </p:sp>
      <p:sp>
        <p:nvSpPr>
          <p:cNvPr id="14" name="">
            <a:extLst xmlns:a="http://schemas.openxmlformats.org/drawingml/2006/main">
              <a:ext uri="{FF2B5EF4-FFF2-40B4-BE49-F238E27FC236}">
                <a16:creationId xmlns:a16="http://schemas.microsoft.com/office/drawing/2014/main" id="{184C5E81-A6FC-45B6-8588-84AE73AF72AA}"/>
              </a:ext>
            </a:extLst>
          </p:cNvPr>
          <p:cNvSpPr>
            <a:spLocks xmlns:a="http://schemas.openxmlformats.org/drawingml/2006/main" noGrp="1"/>
          </p:cNvSpPr>
          <p:nvPr/>
        </p:nvSpPr>
        <p:spPr>
          <a:xfrm xmlns:a="http://schemas.openxmlformats.org/drawingml/2006/main">
            <a:off x="609600" y="59531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667085"/>
                </a:solidFill>
                <a:latin typeface="Arial"/>
                <a:ea typeface="Arial"/>
                <a:cs typeface="Arial"/>
              </a:defRPr>
            </a:defPPr>
          </a:lstStyle>
          <a:p xmlns:a="http://schemas.openxmlformats.org/drawingml/2006/main">
            <a:pPr>
              <a:defRPr sz="1650" b="0">
                <a:solidFill>
                  <a:srgbClr val="667085"/>
                </a:solidFill>
                <a:latin typeface="Arial"/>
                <a:ea typeface="Arial"/>
                <a:cs typeface="Arial"/>
              </a:defRPr>
            </a:pPr>
            <a:r>
              <a:rPr sz="1650" b="0">
                <a:solidFill>
                  <a:srgbClr val="667085"/>
                </a:solidFill>
                <a:latin typeface="Arial"/>
                <a:ea typeface="Arial"/>
                <a:cs typeface="Arial"/>
              </a:rPr>
              <a:t>Giả định thiết kế, chưa phỏng vấn hoặc đo thời gian thực tế</a:t>
            </a:r>
          </a:p>
        </p:txBody>
      </p:sp>
    </p:spTree>
    <p:extLst>
      <p:ext uri="{BB962C8B-B14F-4D97-AF65-F5344CB8AC3E}">
        <p14:creationId xmlns:p14="http://schemas.microsoft.com/office/powerpoint/2010/main" val="2436717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4F3A61B-378F-4D8E-B148-9E44B3CF926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Cấu trúc 10 màn hình</a:t>
            </a:r>
          </a:p>
        </p:txBody>
      </p:sp>
      <p:sp>
        <p:nvSpPr>
          <p:cNvPr id="2" name="">
            <a:extLst xmlns:a="http://schemas.openxmlformats.org/drawingml/2006/main">
              <a:ext uri="{FF2B5EF4-FFF2-40B4-BE49-F238E27FC236}">
                <a16:creationId xmlns:a16="http://schemas.microsoft.com/office/drawing/2014/main" id="{A8F4BA1E-CD4F-48E0-9DF6-7E51E1952F8A}"/>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03   FAP Attendance</a:t>
            </a:r>
          </a:p>
        </p:txBody>
      </p:sp>
      <p:sp>
        <p:nvSpPr>
          <p:cNvPr id="3" name="">
            <a:extLst xmlns:a="http://schemas.openxmlformats.org/drawingml/2006/main">
              <a:ext uri="{FF2B5EF4-FFF2-40B4-BE49-F238E27FC236}">
                <a16:creationId xmlns:a16="http://schemas.microsoft.com/office/drawing/2014/main" id="{137EA344-5ACF-4626-B481-00A16F976EED}"/>
              </a:ext>
            </a:extLst>
          </p:cNvPr>
          <p:cNvSpPr>
            <a:spLocks xmlns:a="http://schemas.openxmlformats.org/drawingml/2006/main" noGrp="1"/>
          </p:cNvSpPr>
          <p:nvPr/>
        </p:nvSpPr>
        <p:spPr>
          <a:xfrm xmlns:a="http://schemas.openxmlformats.org/drawingml/2006/main">
            <a:off x="609600" y="16383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S01</a:t>
            </a:r>
          </a:p>
        </p:txBody>
      </p:sp>
      <p:sp>
        <p:nvSpPr>
          <p:cNvPr id="4" name="">
            <a:extLst xmlns:a="http://schemas.openxmlformats.org/drawingml/2006/main">
              <a:ext uri="{FF2B5EF4-FFF2-40B4-BE49-F238E27FC236}">
                <a16:creationId xmlns:a16="http://schemas.microsoft.com/office/drawing/2014/main" id="{83108F3C-9D28-4599-A460-046DCA1610CF}"/>
              </a:ext>
            </a:extLst>
          </p:cNvPr>
          <p:cNvSpPr>
            <a:spLocks xmlns:a="http://schemas.openxmlformats.org/drawingml/2006/main" noGrp="1"/>
          </p:cNvSpPr>
          <p:nvPr/>
        </p:nvSpPr>
        <p:spPr>
          <a:xfrm xmlns:a="http://schemas.openxmlformats.org/drawingml/2006/main">
            <a:off x="1524000" y="16383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Bắt đầu workspace</a:t>
            </a:r>
          </a:p>
        </p:txBody>
      </p:sp>
      <p:sp>
        <p:nvSpPr>
          <p:cNvPr id="5" name="">
            <a:extLst xmlns:a="http://schemas.openxmlformats.org/drawingml/2006/main">
              <a:ext uri="{FF2B5EF4-FFF2-40B4-BE49-F238E27FC236}">
                <a16:creationId xmlns:a16="http://schemas.microsoft.com/office/drawing/2014/main" id="{5172613C-A3B3-41C3-BA18-B49F7050BFDD}"/>
              </a:ext>
            </a:extLst>
          </p:cNvPr>
          <p:cNvSpPr>
            <a:spLocks xmlns:a="http://schemas.openxmlformats.org/drawingml/2006/main" noGrp="1"/>
          </p:cNvSpPr>
          <p:nvPr/>
        </p:nvSpPr>
        <p:spPr>
          <a:xfrm xmlns:a="http://schemas.openxmlformats.org/drawingml/2006/main">
            <a:off x="609600" y="23622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S02</a:t>
            </a:r>
          </a:p>
        </p:txBody>
      </p:sp>
      <p:sp>
        <p:nvSpPr>
          <p:cNvPr id="6" name="">
            <a:extLst xmlns:a="http://schemas.openxmlformats.org/drawingml/2006/main">
              <a:ext uri="{FF2B5EF4-FFF2-40B4-BE49-F238E27FC236}">
                <a16:creationId xmlns:a16="http://schemas.microsoft.com/office/drawing/2014/main" id="{6573F4B0-E133-4ED9-AA81-6B1423D722FE}"/>
              </a:ext>
            </a:extLst>
          </p:cNvPr>
          <p:cNvSpPr>
            <a:spLocks xmlns:a="http://schemas.openxmlformats.org/drawingml/2006/main" noGrp="1"/>
          </p:cNvSpPr>
          <p:nvPr/>
        </p:nvSpPr>
        <p:spPr>
          <a:xfrm xmlns:a="http://schemas.openxmlformats.org/drawingml/2006/main">
            <a:off x="1524000" y="23622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Lịch tuần và danh sách lớp</a:t>
            </a:r>
          </a:p>
        </p:txBody>
      </p:sp>
      <p:sp>
        <p:nvSpPr>
          <p:cNvPr id="7" name="">
            <a:extLst xmlns:a="http://schemas.openxmlformats.org/drawingml/2006/main">
              <a:ext uri="{FF2B5EF4-FFF2-40B4-BE49-F238E27FC236}">
                <a16:creationId xmlns:a16="http://schemas.microsoft.com/office/drawing/2014/main" id="{2E9E548E-12A7-466E-9677-ACD64A4AB629}"/>
              </a:ext>
            </a:extLst>
          </p:cNvPr>
          <p:cNvSpPr>
            <a:spLocks xmlns:a="http://schemas.openxmlformats.org/drawingml/2006/main" noGrp="1"/>
          </p:cNvSpPr>
          <p:nvPr/>
        </p:nvSpPr>
        <p:spPr>
          <a:xfrm xmlns:a="http://schemas.openxmlformats.org/drawingml/2006/main">
            <a:off x="609600" y="30861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S03</a:t>
            </a:r>
          </a:p>
        </p:txBody>
      </p:sp>
      <p:sp>
        <p:nvSpPr>
          <p:cNvPr id="8" name="">
            <a:extLst xmlns:a="http://schemas.openxmlformats.org/drawingml/2006/main">
              <a:ext uri="{FF2B5EF4-FFF2-40B4-BE49-F238E27FC236}">
                <a16:creationId xmlns:a16="http://schemas.microsoft.com/office/drawing/2014/main" id="{6B172A35-4A39-411F-B511-5D548436F7C9}"/>
              </a:ext>
            </a:extLst>
          </p:cNvPr>
          <p:cNvSpPr>
            <a:spLocks xmlns:a="http://schemas.openxmlformats.org/drawingml/2006/main" noGrp="1"/>
          </p:cNvSpPr>
          <p:nvPr/>
        </p:nvSpPr>
        <p:spPr>
          <a:xfrm xmlns:a="http://schemas.openxmlformats.org/drawingml/2006/main">
            <a:off x="1524000" y="30861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Import markbook</a:t>
            </a:r>
          </a:p>
        </p:txBody>
      </p:sp>
      <p:sp>
        <p:nvSpPr>
          <p:cNvPr id="9" name="">
            <a:extLst xmlns:a="http://schemas.openxmlformats.org/drawingml/2006/main">
              <a:ext uri="{FF2B5EF4-FFF2-40B4-BE49-F238E27FC236}">
                <a16:creationId xmlns:a16="http://schemas.microsoft.com/office/drawing/2014/main" id="{91FB5A8B-E094-48E9-959E-0ECAE6BBDC7A}"/>
              </a:ext>
            </a:extLst>
          </p:cNvPr>
          <p:cNvSpPr>
            <a:spLocks xmlns:a="http://schemas.openxmlformats.org/drawingml/2006/main" noGrp="1"/>
          </p:cNvSpPr>
          <p:nvPr/>
        </p:nvSpPr>
        <p:spPr>
          <a:xfrm xmlns:a="http://schemas.openxmlformats.org/drawingml/2006/main">
            <a:off x="609600" y="38100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S04</a:t>
            </a:r>
          </a:p>
        </p:txBody>
      </p:sp>
      <p:sp>
        <p:nvSpPr>
          <p:cNvPr id="10" name="">
            <a:extLst xmlns:a="http://schemas.openxmlformats.org/drawingml/2006/main">
              <a:ext uri="{FF2B5EF4-FFF2-40B4-BE49-F238E27FC236}">
                <a16:creationId xmlns:a16="http://schemas.microsoft.com/office/drawing/2014/main" id="{0E197EBB-CEDC-4612-A0F5-721BAB0A0FC7}"/>
              </a:ext>
            </a:extLst>
          </p:cNvPr>
          <p:cNvSpPr>
            <a:spLocks xmlns:a="http://schemas.openxmlformats.org/drawingml/2006/main" noGrp="1"/>
          </p:cNvSpPr>
          <p:nvPr/>
        </p:nvSpPr>
        <p:spPr>
          <a:xfrm xmlns:a="http://schemas.openxmlformats.org/drawingml/2006/main">
            <a:off x="1524000" y="3810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Điểm danh lớp</a:t>
            </a:r>
          </a:p>
        </p:txBody>
      </p:sp>
      <p:sp>
        <p:nvSpPr>
          <p:cNvPr id="11" name="">
            <a:extLst xmlns:a="http://schemas.openxmlformats.org/drawingml/2006/main">
              <a:ext uri="{FF2B5EF4-FFF2-40B4-BE49-F238E27FC236}">
                <a16:creationId xmlns:a16="http://schemas.microsoft.com/office/drawing/2014/main" id="{21F8267C-4217-4B26-B899-B45C196AE738}"/>
              </a:ext>
            </a:extLst>
          </p:cNvPr>
          <p:cNvSpPr>
            <a:spLocks xmlns:a="http://schemas.openxmlformats.org/drawingml/2006/main" noGrp="1"/>
          </p:cNvSpPr>
          <p:nvPr/>
        </p:nvSpPr>
        <p:spPr>
          <a:xfrm xmlns:a="http://schemas.openxmlformats.org/drawingml/2006/main">
            <a:off x="609600" y="45339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S05</a:t>
            </a:r>
          </a:p>
        </p:txBody>
      </p:sp>
      <p:sp>
        <p:nvSpPr>
          <p:cNvPr id="12" name="">
            <a:extLst xmlns:a="http://schemas.openxmlformats.org/drawingml/2006/main">
              <a:ext uri="{FF2B5EF4-FFF2-40B4-BE49-F238E27FC236}">
                <a16:creationId xmlns:a16="http://schemas.microsoft.com/office/drawing/2014/main" id="{DE46BE3D-FDD2-4104-BC6E-ACB386A9A294}"/>
              </a:ext>
            </a:extLst>
          </p:cNvPr>
          <p:cNvSpPr>
            <a:spLocks xmlns:a="http://schemas.openxmlformats.org/drawingml/2006/main" noGrp="1"/>
          </p:cNvSpPr>
          <p:nvPr/>
        </p:nvSpPr>
        <p:spPr>
          <a:xfrm xmlns:a="http://schemas.openxmlformats.org/drawingml/2006/main">
            <a:off x="1524000" y="4533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Cấu hình lịch lớp</a:t>
            </a:r>
          </a:p>
        </p:txBody>
      </p:sp>
      <p:sp>
        <p:nvSpPr>
          <p:cNvPr id="13" name="">
            <a:extLst xmlns:a="http://schemas.openxmlformats.org/drawingml/2006/main">
              <a:ext uri="{FF2B5EF4-FFF2-40B4-BE49-F238E27FC236}">
                <a16:creationId xmlns:a16="http://schemas.microsoft.com/office/drawing/2014/main" id="{C2D14D63-C29B-42C3-AC76-9E415953C6F6}"/>
              </a:ext>
            </a:extLst>
          </p:cNvPr>
          <p:cNvSpPr>
            <a:spLocks xmlns:a="http://schemas.openxmlformats.org/drawingml/2006/main" noGrp="1"/>
          </p:cNvSpPr>
          <p:nvPr/>
        </p:nvSpPr>
        <p:spPr>
          <a:xfrm xmlns:a="http://schemas.openxmlformats.org/drawingml/2006/main">
            <a:off x="6572250" y="16383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S06</a:t>
            </a:r>
          </a:p>
        </p:txBody>
      </p:sp>
      <p:sp>
        <p:nvSpPr>
          <p:cNvPr id="14" name="">
            <a:extLst xmlns:a="http://schemas.openxmlformats.org/drawingml/2006/main">
              <a:ext uri="{FF2B5EF4-FFF2-40B4-BE49-F238E27FC236}">
                <a16:creationId xmlns:a16="http://schemas.microsoft.com/office/drawing/2014/main" id="{12DD5B6A-738E-497D-AC5B-197F5130BE23}"/>
              </a:ext>
            </a:extLst>
          </p:cNvPr>
          <p:cNvSpPr>
            <a:spLocks xmlns:a="http://schemas.openxmlformats.org/drawingml/2006/main" noGrp="1"/>
          </p:cNvSpPr>
          <p:nvPr/>
        </p:nvSpPr>
        <p:spPr>
          <a:xfrm xmlns:a="http://schemas.openxmlformats.org/drawingml/2006/main">
            <a:off x="7486650" y="16383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Điểm danh QR</a:t>
            </a:r>
          </a:p>
        </p:txBody>
      </p:sp>
      <p:sp>
        <p:nvSpPr>
          <p:cNvPr id="15" name="">
            <a:extLst xmlns:a="http://schemas.openxmlformats.org/drawingml/2006/main">
              <a:ext uri="{FF2B5EF4-FFF2-40B4-BE49-F238E27FC236}">
                <a16:creationId xmlns:a16="http://schemas.microsoft.com/office/drawing/2014/main" id="{D9A703E4-7704-49D7-A1A1-8B0EEF09031B}"/>
              </a:ext>
            </a:extLst>
          </p:cNvPr>
          <p:cNvSpPr>
            <a:spLocks xmlns:a="http://schemas.openxmlformats.org/drawingml/2006/main" noGrp="1"/>
          </p:cNvSpPr>
          <p:nvPr/>
        </p:nvSpPr>
        <p:spPr>
          <a:xfrm xmlns:a="http://schemas.openxmlformats.org/drawingml/2006/main">
            <a:off x="6572250" y="23622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S07</a:t>
            </a:r>
          </a:p>
        </p:txBody>
      </p:sp>
      <p:sp>
        <p:nvSpPr>
          <p:cNvPr id="16" name="">
            <a:extLst xmlns:a="http://schemas.openxmlformats.org/drawingml/2006/main">
              <a:ext uri="{FF2B5EF4-FFF2-40B4-BE49-F238E27FC236}">
                <a16:creationId xmlns:a16="http://schemas.microsoft.com/office/drawing/2014/main" id="{CD41B582-A2F3-4673-8083-DAC69D2CDBAF}"/>
              </a:ext>
            </a:extLst>
          </p:cNvPr>
          <p:cNvSpPr>
            <a:spLocks xmlns:a="http://schemas.openxmlformats.org/drawingml/2006/main" noGrp="1"/>
          </p:cNvSpPr>
          <p:nvPr/>
        </p:nvSpPr>
        <p:spPr>
          <a:xfrm xmlns:a="http://schemas.openxmlformats.org/drawingml/2006/main">
            <a:off x="7486650" y="23622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Chi tiết sinh viên</a:t>
            </a:r>
          </a:p>
        </p:txBody>
      </p:sp>
      <p:sp>
        <p:nvSpPr>
          <p:cNvPr id="17" name="">
            <a:extLst xmlns:a="http://schemas.openxmlformats.org/drawingml/2006/main">
              <a:ext uri="{FF2B5EF4-FFF2-40B4-BE49-F238E27FC236}">
                <a16:creationId xmlns:a16="http://schemas.microsoft.com/office/drawing/2014/main" id="{FD361D35-485C-413C-A73D-D3EA713DCDC9}"/>
              </a:ext>
            </a:extLst>
          </p:cNvPr>
          <p:cNvSpPr>
            <a:spLocks xmlns:a="http://schemas.openxmlformats.org/drawingml/2006/main" noGrp="1"/>
          </p:cNvSpPr>
          <p:nvPr/>
        </p:nvSpPr>
        <p:spPr>
          <a:xfrm xmlns:a="http://schemas.openxmlformats.org/drawingml/2006/main">
            <a:off x="6572250" y="30861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S08</a:t>
            </a:r>
          </a:p>
        </p:txBody>
      </p:sp>
      <p:sp>
        <p:nvSpPr>
          <p:cNvPr id="18" name="">
            <a:extLst xmlns:a="http://schemas.openxmlformats.org/drawingml/2006/main">
              <a:ext uri="{FF2B5EF4-FFF2-40B4-BE49-F238E27FC236}">
                <a16:creationId xmlns:a16="http://schemas.microsoft.com/office/drawing/2014/main" id="{AA73B04E-25DB-4876-994A-94CCCF845B04}"/>
              </a:ext>
            </a:extLst>
          </p:cNvPr>
          <p:cNvSpPr>
            <a:spLocks xmlns:a="http://schemas.openxmlformats.org/drawingml/2006/main" noGrp="1"/>
          </p:cNvSpPr>
          <p:nvPr/>
        </p:nvSpPr>
        <p:spPr>
          <a:xfrm xmlns:a="http://schemas.openxmlformats.org/drawingml/2006/main">
            <a:off x="7486650" y="30861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Lịch sử và kết quả slot</a:t>
            </a:r>
          </a:p>
        </p:txBody>
      </p:sp>
      <p:sp>
        <p:nvSpPr>
          <p:cNvPr id="19" name="">
            <a:extLst xmlns:a="http://schemas.openxmlformats.org/drawingml/2006/main">
              <a:ext uri="{FF2B5EF4-FFF2-40B4-BE49-F238E27FC236}">
                <a16:creationId xmlns:a16="http://schemas.microsoft.com/office/drawing/2014/main" id="{CD5DE1A3-8576-432A-A624-12452A698BC9}"/>
              </a:ext>
            </a:extLst>
          </p:cNvPr>
          <p:cNvSpPr>
            <a:spLocks xmlns:a="http://schemas.openxmlformats.org/drawingml/2006/main" noGrp="1"/>
          </p:cNvSpPr>
          <p:nvPr/>
        </p:nvSpPr>
        <p:spPr>
          <a:xfrm xmlns:a="http://schemas.openxmlformats.org/drawingml/2006/main">
            <a:off x="6572250" y="38100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S09</a:t>
            </a:r>
          </a:p>
        </p:txBody>
      </p:sp>
      <p:sp>
        <p:nvSpPr>
          <p:cNvPr id="20" name="">
            <a:extLst xmlns:a="http://schemas.openxmlformats.org/drawingml/2006/main">
              <a:ext uri="{FF2B5EF4-FFF2-40B4-BE49-F238E27FC236}">
                <a16:creationId xmlns:a16="http://schemas.microsoft.com/office/drawing/2014/main" id="{72FA9F33-023B-4C33-AED6-C17BD9C794C0}"/>
              </a:ext>
            </a:extLst>
          </p:cNvPr>
          <p:cNvSpPr>
            <a:spLocks xmlns:a="http://schemas.openxmlformats.org/drawingml/2006/main" noGrp="1"/>
          </p:cNvSpPr>
          <p:nvPr/>
        </p:nvSpPr>
        <p:spPr>
          <a:xfrm xmlns:a="http://schemas.openxmlformats.org/drawingml/2006/main">
            <a:off x="7486650" y="38100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Xuất kết quả</a:t>
            </a:r>
          </a:p>
        </p:txBody>
      </p:sp>
      <p:sp>
        <p:nvSpPr>
          <p:cNvPr id="21" name="">
            <a:extLst xmlns:a="http://schemas.openxmlformats.org/drawingml/2006/main">
              <a:ext uri="{FF2B5EF4-FFF2-40B4-BE49-F238E27FC236}">
                <a16:creationId xmlns:a16="http://schemas.microsoft.com/office/drawing/2014/main" id="{202CCE5B-AF93-4A97-95B7-D91107528F7D}"/>
              </a:ext>
            </a:extLst>
          </p:cNvPr>
          <p:cNvSpPr>
            <a:spLocks xmlns:a="http://schemas.openxmlformats.org/drawingml/2006/main" noGrp="1"/>
          </p:cNvSpPr>
          <p:nvPr/>
        </p:nvSpPr>
        <p:spPr>
          <a:xfrm xmlns:a="http://schemas.openxmlformats.org/drawingml/2006/main">
            <a:off x="6572250" y="45339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S10</a:t>
            </a:r>
          </a:p>
        </p:txBody>
      </p:sp>
      <p:sp>
        <p:nvSpPr>
          <p:cNvPr id="22" name="">
            <a:extLst xmlns:a="http://schemas.openxmlformats.org/drawingml/2006/main">
              <a:ext uri="{FF2B5EF4-FFF2-40B4-BE49-F238E27FC236}">
                <a16:creationId xmlns:a16="http://schemas.microsoft.com/office/drawing/2014/main" id="{BBDB2B02-0EB3-4E97-A649-008EE5E6B2E1}"/>
              </a:ext>
            </a:extLst>
          </p:cNvPr>
          <p:cNvSpPr>
            <a:spLocks xmlns:a="http://schemas.openxmlformats.org/drawingml/2006/main" noGrp="1"/>
          </p:cNvSpPr>
          <p:nvPr/>
        </p:nvSpPr>
        <p:spPr>
          <a:xfrm xmlns:a="http://schemas.openxmlformats.org/drawingml/2006/main">
            <a:off x="7486650" y="45339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Google Drive</a:t>
            </a:r>
          </a:p>
        </p:txBody>
      </p:sp>
      <p:sp>
        <p:nvSpPr>
          <p:cNvPr id="23" name="">
            <a:extLst xmlns:a="http://schemas.openxmlformats.org/drawingml/2006/main">
              <a:ext uri="{FF2B5EF4-FFF2-40B4-BE49-F238E27FC236}">
                <a16:creationId xmlns:a16="http://schemas.microsoft.com/office/drawing/2014/main" id="{3B20A95D-D38E-4D6A-B445-00247ECCEF2D}"/>
              </a:ext>
            </a:extLst>
          </p:cNvPr>
          <p:cNvSpPr>
            <a:spLocks xmlns:a="http://schemas.openxmlformats.org/drawingml/2006/main" noGrp="1"/>
          </p:cNvSpPr>
          <p:nvPr/>
        </p:nvSpPr>
        <p:spPr>
          <a:xfrm xmlns:a="http://schemas.openxmlformats.org/drawingml/2006/main">
            <a:off x="609600" y="5657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667085"/>
                </a:solidFill>
                <a:latin typeface="Arial"/>
                <a:ea typeface="Arial"/>
                <a:cs typeface="Arial"/>
              </a:defRPr>
            </a:defPPr>
          </a:lstStyle>
          <a:p xmlns:a="http://schemas.openxmlformats.org/drawingml/2006/main">
            <a:pPr>
              <a:defRPr sz="1800" b="0">
                <a:solidFill>
                  <a:srgbClr val="667085"/>
                </a:solidFill>
                <a:latin typeface="Arial"/>
                <a:ea typeface="Arial"/>
                <a:cs typeface="Arial"/>
              </a:defRPr>
            </a:pPr>
            <a:r>
              <a:rPr sz="1800" b="0">
                <a:solidFill>
                  <a:srgbClr val="667085"/>
                </a:solidFill>
                <a:latin typeface="Arial"/>
                <a:ea typeface="Arial"/>
                <a:cs typeface="Arial"/>
              </a:rPr>
              <a:t>Cấp cao: S02 và S10. Sheet và biến thể trạng thái không tính thêm màn hình.</a:t>
            </a:r>
          </a:p>
        </p:txBody>
      </p:sp>
    </p:spTree>
    <p:extLst>
      <p:ext uri="{BB962C8B-B14F-4D97-AF65-F5344CB8AC3E}">
        <p14:creationId xmlns:p14="http://schemas.microsoft.com/office/powerpoint/2010/main" val="17756510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4E174C-BFD9-4769-A6C7-63C804FC561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Ba luồng sử dụng</a:t>
            </a:r>
          </a:p>
        </p:txBody>
      </p:sp>
      <p:sp>
        <p:nvSpPr>
          <p:cNvPr id="2" name="">
            <a:extLst xmlns:a="http://schemas.openxmlformats.org/drawingml/2006/main">
              <a:ext uri="{FF2B5EF4-FFF2-40B4-BE49-F238E27FC236}">
                <a16:creationId xmlns:a16="http://schemas.microsoft.com/office/drawing/2014/main" id="{92DA1A73-2F14-457B-B8D9-FE4491ED3E5C}"/>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04   FAP Attendance</a:t>
            </a:r>
          </a:p>
        </p:txBody>
      </p:sp>
      <p:graphicFrame>
        <p:nvGraphicFramePr>
          <p:cNvPr id="3" name="">
            <a:extLst xmlns:a="http://schemas.openxmlformats.org/drawingml/2006/main">
              <a:ext uri="{FF2B5EF4-FFF2-40B4-BE49-F238E27FC236}">
                <a16:creationId xmlns:a16="http://schemas.microsoft.com/office/drawing/2014/main" id="{445EA554-80FF-4F56-B9E4-B6FA527368FF}"/>
              </a:ext>
            </a:extLst>
          </p:cNvPr>
          <p:cNvGraphicFramePr/>
          <p:nvPr/>
        </p:nvGraphicFramePr>
        <p:xfrm>
          <a:off xmlns:a="http://schemas.openxmlformats.org/drawingml/2006/main" x="609600" y="1543050"/>
          <a:ext xmlns:a="http://schemas.openxmlformats.org/drawingml/2006/main" cx="10972800" cy="3752850"/>
        </p:xfrm>
        <a:graphic xmlns:a="http://schemas.openxmlformats.org/drawingml/2006/main">
          <a:graphicData uri="http://schemas.openxmlformats.org/drawingml/2006/table">
            <a:tbl>
              <a:tblPr/>
              <a:tblGrid>
                <a:gridCol w="2190750"/>
                <a:gridCol w="4667250"/>
                <a:gridCol w="4114800"/>
              </a:tblGrid>
              <a:tr h="938213">
                <a:tc>
                  <a:txBody>
                    <a:bodyPr/>
                    <a:lstStyle/>
                    <a:p>
                      <a:r>
                        <a:rPr sz="1800" b="1">
                          <a:solidFill>
                            <a:srgbClr val="FFFFFF"/>
                          </a:solidFill>
                          <a:latin typeface="Arial"/>
                          <a:ea typeface="Arial"/>
                          <a:cs typeface="Arial"/>
                        </a:rPr>
                        <a:t>Luồng</a:t>
                      </a:r>
                    </a:p>
                  </a:txBody>
                  <a:tcPr marL="133350" marR="133350" marT="114300" marB="114300" anchor="t">
                    <a:solidFill>
                      <a:srgbClr val="C93C13"/>
                    </a:solidFill>
                  </a:tcPr>
                </a:tc>
                <a:tc>
                  <a:txBody>
                    <a:bodyPr/>
                    <a:lstStyle/>
                    <a:p>
                      <a:r>
                        <a:rPr sz="1800" b="1">
                          <a:solidFill>
                            <a:srgbClr val="FFFFFF"/>
                          </a:solidFill>
                          <a:latin typeface="Arial"/>
                          <a:ea typeface="Arial"/>
                          <a:cs typeface="Arial"/>
                        </a:rPr>
                        <a:t>Đường đi chính</a:t>
                      </a:r>
                    </a:p>
                  </a:txBody>
                  <a:tcPr marL="133350" marR="133350" marT="114300" marB="114300" anchor="t">
                    <a:solidFill>
                      <a:srgbClr val="C93C13"/>
                    </a:solidFill>
                  </a:tcPr>
                </a:tc>
                <a:tc>
                  <a:txBody>
                    <a:bodyPr/>
                    <a:lstStyle/>
                    <a:p>
                      <a:r>
                        <a:rPr sz="1800" b="1">
                          <a:solidFill>
                            <a:srgbClr val="FFFFFF"/>
                          </a:solidFill>
                          <a:latin typeface="Arial"/>
                          <a:ea typeface="Arial"/>
                          <a:cs typeface="Arial"/>
                        </a:rPr>
                        <a:t>Nhánh cần kiểm thử</a:t>
                      </a:r>
                    </a:p>
                  </a:txBody>
                  <a:tcPr marL="133350" marR="133350" marT="114300" marB="114300" anchor="t">
                    <a:solidFill>
                      <a:srgbClr val="C93C13"/>
                    </a:solidFill>
                  </a:tcPr>
                </a:tc>
              </a:tr>
              <a:tr h="938213">
                <a:tc>
                  <a:txBody>
                    <a:bodyPr/>
                    <a:lstStyle/>
                    <a:p>
                      <a:r>
                        <a:rPr sz="1800">
                          <a:solidFill>
                            <a:srgbClr val="243047"/>
                          </a:solidFill>
                          <a:latin typeface="Arial"/>
                          <a:ea typeface="Arial"/>
                          <a:cs typeface="Arial"/>
                        </a:rPr>
                        <a:t>F1 Cấu hình</a:t>
                      </a:r>
                    </a:p>
                  </a:txBody>
                  <a:tcPr marL="133350" marR="133350" marT="114300" marB="114300" anchor="t"/>
                </a:tc>
                <a:tc>
                  <a:txBody>
                    <a:bodyPr/>
                    <a:lstStyle/>
                    <a:p>
                      <a:r>
                        <a:rPr sz="1800">
                          <a:solidFill>
                            <a:srgbClr val="243047"/>
                          </a:solidFill>
                          <a:latin typeface="Arial"/>
                          <a:ea typeface="Arial"/>
                          <a:cs typeface="Arial"/>
                        </a:rPr>
                        <a:t>S01 / S03 / S02 / S05</a:t>
                      </a:r>
                    </a:p>
                    <a:p>
                      <a:r>
                        <a:rPr sz="1800">
                          <a:solidFill>
                            <a:srgbClr val="243047"/>
                          </a:solidFill>
                          <a:latin typeface="Arial"/>
                          <a:ea typeface="Arial"/>
                          <a:cs typeface="Arial"/>
                        </a:rPr>
                        <a:t>Lưu lịch lớp SE1921</a:t>
                      </a:r>
                    </a:p>
                  </a:txBody>
                  <a:tcPr marL="133350" marR="133350" marT="114300" marB="114300" anchor="t"/>
                </a:tc>
                <a:tc>
                  <a:txBody>
                    <a:bodyPr/>
                    <a:lstStyle/>
                    <a:p>
                      <a:r>
                        <a:rPr sz="1800">
                          <a:solidFill>
                            <a:srgbClr val="243047"/>
                          </a:solidFill>
                          <a:latin typeface="Arial"/>
                          <a:ea typeface="Arial"/>
                          <a:cs typeface="Arial"/>
                        </a:rPr>
                        <a:t>Hủy giữ lịch cũ</a:t>
                      </a:r>
                    </a:p>
                    <a:p>
                      <a:r>
                        <a:rPr sz="1800">
                          <a:solidFill>
                            <a:srgbClr val="243047"/>
                          </a:solidFill>
                          <a:latin typeface="Arial"/>
                          <a:ea typeface="Arial"/>
                          <a:cs typeface="Arial"/>
                        </a:rPr>
                        <a:t>File lỗi, chọn lại</a:t>
                      </a:r>
                    </a:p>
                  </a:txBody>
                  <a:tcPr marL="133350" marR="133350" marT="114300" marB="114300" anchor="t"/>
                </a:tc>
              </a:tr>
              <a:tr h="938213">
                <a:tc>
                  <a:txBody>
                    <a:bodyPr/>
                    <a:lstStyle/>
                    <a:p>
                      <a:r>
                        <a:rPr sz="1800">
                          <a:solidFill>
                            <a:srgbClr val="243047"/>
                          </a:solidFill>
                          <a:latin typeface="Arial"/>
                          <a:ea typeface="Arial"/>
                          <a:cs typeface="Arial"/>
                        </a:rPr>
                        <a:t>F2 QR và chốt</a:t>
                      </a:r>
                    </a:p>
                  </a:txBody>
                  <a:tcPr marL="133350" marR="133350" marT="114300" marB="114300" anchor="t"/>
                </a:tc>
                <a:tc>
                  <a:txBody>
                    <a:bodyPr/>
                    <a:lstStyle/>
                    <a:p>
                      <a:r>
                        <a:rPr sz="1800">
                          <a:solidFill>
                            <a:srgbClr val="243047"/>
                          </a:solidFill>
                          <a:latin typeface="Arial"/>
                          <a:ea typeface="Arial"/>
                          <a:cs typeface="Arial"/>
                        </a:rPr>
                        <a:t>S02 / S04 / S06 / S04</a:t>
                      </a:r>
                    </a:p>
                    <a:p>
                      <a:r>
                        <a:rPr sz="1800">
                          <a:solidFill>
                            <a:srgbClr val="243047"/>
                          </a:solidFill>
                          <a:latin typeface="Arial"/>
                          <a:ea typeface="Arial"/>
                          <a:cs typeface="Arial"/>
                        </a:rPr>
                        <a:t>Slot 5 chuyển Đã chốt</a:t>
                      </a:r>
                    </a:p>
                  </a:txBody>
                  <a:tcPr marL="133350" marR="133350" marT="114300" marB="114300" anchor="t"/>
                </a:tc>
                <a:tc>
                  <a:txBody>
                    <a:bodyPr/>
                    <a:lstStyle/>
                    <a:p>
                      <a:r>
                        <a:rPr sz="1800">
                          <a:solidFill>
                            <a:srgbClr val="243047"/>
                          </a:solidFill>
                          <a:latin typeface="Arial"/>
                          <a:ea typeface="Arial"/>
                          <a:cs typeface="Arial"/>
                        </a:rPr>
                        <a:t>Hủy xác nhận</a:t>
                      </a:r>
                    </a:p>
                    <a:p>
                      <a:r>
                        <a:rPr sz="1800">
                          <a:solidFill>
                            <a:srgbClr val="243047"/>
                          </a:solidFill>
                          <a:latin typeface="Arial"/>
                          <a:ea typeface="Arial"/>
                          <a:cs typeface="Arial"/>
                        </a:rPr>
                        <a:t>QR lỗi, thử lại</a:t>
                      </a:r>
                    </a:p>
                  </a:txBody>
                  <a:tcPr marL="133350" marR="133350" marT="114300" marB="114300" anchor="t"/>
                </a:tc>
              </a:tr>
              <a:tr h="938213">
                <a:tc>
                  <a:txBody>
                    <a:bodyPr/>
                    <a:lstStyle/>
                    <a:p>
                      <a:r>
                        <a:rPr sz="1800">
                          <a:solidFill>
                            <a:srgbClr val="243047"/>
                          </a:solidFill>
                          <a:latin typeface="Arial"/>
                          <a:ea typeface="Arial"/>
                          <a:cs typeface="Arial"/>
                        </a:rPr>
                        <a:t>F3 Sửa và xuất</a:t>
                      </a:r>
                    </a:p>
                  </a:txBody>
                  <a:tcPr marL="133350" marR="133350" marT="114300" marB="114300" anchor="t"/>
                </a:tc>
                <a:tc>
                  <a:txBody>
                    <a:bodyPr/>
                    <a:lstStyle/>
                    <a:p>
                      <a:r>
                        <a:rPr sz="1800">
                          <a:solidFill>
                            <a:srgbClr val="243047"/>
                          </a:solidFill>
                          <a:latin typeface="Arial"/>
                          <a:ea typeface="Arial"/>
                          <a:cs typeface="Arial"/>
                        </a:rPr>
                        <a:t>S08 / S07 / S08 / S09</a:t>
                      </a:r>
                    </a:p>
                    <a:p>
                      <a:r>
                        <a:rPr sz="1800">
                          <a:solidFill>
                            <a:srgbClr val="243047"/>
                          </a:solidFill>
                          <a:latin typeface="Arial"/>
                          <a:ea typeface="Arial"/>
                          <a:cs typeface="Arial"/>
                        </a:rPr>
                        <a:t>S10 tùy chọn</a:t>
                      </a:r>
                    </a:p>
                  </a:txBody>
                  <a:tcPr marL="133350" marR="133350" marT="114300" marB="114300" anchor="t"/>
                </a:tc>
                <a:tc>
                  <a:txBody>
                    <a:bodyPr/>
                    <a:lstStyle/>
                    <a:p>
                      <a:r>
                        <a:rPr sz="1800">
                          <a:solidFill>
                            <a:srgbClr val="243047"/>
                          </a:solidFill>
                          <a:latin typeface="Arial"/>
                          <a:ea typeface="Arial"/>
                          <a:cs typeface="Arial"/>
                        </a:rPr>
                        <a:t>Lý do trống, nhập lại</a:t>
                      </a:r>
                    </a:p>
                    <a:p>
                      <a:r>
                        <a:rPr sz="1800">
                          <a:solidFill>
                            <a:srgbClr val="243047"/>
                          </a:solidFill>
                          <a:latin typeface="Arial"/>
                          <a:ea typeface="Arial"/>
                          <a:cs typeface="Arial"/>
                        </a:rPr>
                        <a:t>Drive lỗi, giữ local</a:t>
                      </a:r>
                    </a:p>
                  </a:txBody>
                  <a:tcPr marL="133350" marR="133350" marT="114300" marB="114300" anchor="t"/>
                </a:tc>
              </a:tr>
            </a:tbl>
          </a:graphicData>
        </a:graphic>
      </p:graphicFrame>
      <p:sp>
        <p:nvSpPr>
          <p:cNvPr id="4" name="">
            <a:extLst xmlns:a="http://schemas.openxmlformats.org/drawingml/2006/main">
              <a:ext uri="{FF2B5EF4-FFF2-40B4-BE49-F238E27FC236}">
                <a16:creationId xmlns:a16="http://schemas.microsoft.com/office/drawing/2014/main" id="{BEFA254E-553B-49E8-8229-23DD2E537EBF}"/>
              </a:ext>
            </a:extLst>
          </p:cNvPr>
          <p:cNvSpPr>
            <a:spLocks xmlns:a="http://schemas.openxmlformats.org/drawingml/2006/main" noGrp="1"/>
          </p:cNvSpPr>
          <p:nvPr/>
        </p:nvSpPr>
        <p:spPr>
          <a:xfrm xmlns:a="http://schemas.openxmlformats.org/drawingml/2006/main">
            <a:off x="609600" y="56959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67085"/>
                </a:solidFill>
                <a:latin typeface="Arial"/>
                <a:ea typeface="Arial"/>
                <a:cs typeface="Arial"/>
              </a:defRPr>
            </a:defPPr>
          </a:lstStyle>
          <a:p xmlns:a="http://schemas.openxmlformats.org/drawingml/2006/main">
            <a:pPr>
              <a:defRPr sz="1875" b="0">
                <a:solidFill>
                  <a:srgbClr val="667085"/>
                </a:solidFill>
                <a:latin typeface="Arial"/>
                <a:ea typeface="Arial"/>
                <a:cs typeface="Arial"/>
              </a:defRPr>
            </a:pPr>
            <a:r>
              <a:rPr sz="1875" b="0">
                <a:solidFill>
                  <a:srgbClr val="667085"/>
                </a:solidFill>
                <a:latin typeface="Arial"/>
                <a:ea typeface="Arial"/>
                <a:cs typeface="Arial"/>
              </a:rPr>
              <a:t>Mỗi luồng có điểm bắt đầu, đích và đường Back giữ đúng ngữ cảnh.</a:t>
            </a:r>
          </a:p>
        </p:txBody>
      </p:sp>
    </p:spTree>
    <p:extLst>
      <p:ext uri="{BB962C8B-B14F-4D97-AF65-F5344CB8AC3E}">
        <p14:creationId xmlns:p14="http://schemas.microsoft.com/office/powerpoint/2010/main" val="1823047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D808C1-E3BF-4A76-B96F-0394AFDAD97D}"/>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Sinh giao diện bằng AI</a:t>
            </a:r>
          </a:p>
        </p:txBody>
      </p:sp>
      <p:sp>
        <p:nvSpPr>
          <p:cNvPr id="2" name="">
            <a:extLst xmlns:a="http://schemas.openxmlformats.org/drawingml/2006/main">
              <a:ext uri="{FF2B5EF4-FFF2-40B4-BE49-F238E27FC236}">
                <a16:creationId xmlns:a16="http://schemas.microsoft.com/office/drawing/2014/main" id="{C2131E61-86EC-42EB-83DF-A428BEB86E29}"/>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05   FAP Attendance</a:t>
            </a:r>
          </a:p>
        </p:txBody>
      </p:sp>
      <p:sp>
        <p:nvSpPr>
          <p:cNvPr id="3" name="">
            <a:extLst xmlns:a="http://schemas.openxmlformats.org/drawingml/2006/main">
              <a:ext uri="{FF2B5EF4-FFF2-40B4-BE49-F238E27FC236}">
                <a16:creationId xmlns:a16="http://schemas.microsoft.com/office/drawing/2014/main" id="{0A59A536-BECC-4777-A3A9-6FA891687C11}"/>
              </a:ext>
            </a:extLst>
          </p:cNvPr>
          <p:cNvSpPr>
            <a:spLocks xmlns:a="http://schemas.openxmlformats.org/drawingml/2006/main" noGrp="1"/>
          </p:cNvSpPr>
          <p:nvPr/>
        </p:nvSpPr>
        <p:spPr>
          <a:xfrm xmlns:a="http://schemas.openxmlformats.org/drawingml/2006/main">
            <a:off x="609600" y="14954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C93C13"/>
                </a:solidFill>
                <a:latin typeface="Arial"/>
                <a:ea typeface="Arial"/>
                <a:cs typeface="Arial"/>
              </a:defRPr>
            </a:defPPr>
          </a:lstStyle>
          <a:p xmlns:a="http://schemas.openxmlformats.org/drawingml/2006/main">
            <a:pPr>
              <a:defRPr sz="1875" b="1">
                <a:solidFill>
                  <a:srgbClr val="C93C13"/>
                </a:solidFill>
                <a:latin typeface="Arial"/>
                <a:ea typeface="Arial"/>
                <a:cs typeface="Arial"/>
              </a:defRPr>
            </a:pPr>
            <a:r>
              <a:rPr sz="1875" b="1">
                <a:solidFill>
                  <a:srgbClr val="C93C13"/>
                </a:solidFill>
                <a:latin typeface="Arial"/>
                <a:ea typeface="Arial"/>
                <a:cs typeface="Arial"/>
              </a:rPr>
              <a:t>Trích nguyên văn prompt V0</a:t>
            </a:r>
          </a:p>
        </p:txBody>
      </p:sp>
      <p:sp>
        <p:nvSpPr>
          <p:cNvPr id="4" name="">
            <a:extLst xmlns:a="http://schemas.openxmlformats.org/drawingml/2006/main">
              <a:ext uri="{FF2B5EF4-FFF2-40B4-BE49-F238E27FC236}">
                <a16:creationId xmlns:a16="http://schemas.microsoft.com/office/drawing/2014/main" id="{48B1FE84-72E2-423A-83D5-B95B41E76BA6}"/>
              </a:ext>
            </a:extLst>
          </p:cNvPr>
          <p:cNvSpPr>
            <a:spLocks xmlns:a="http://schemas.openxmlformats.org/drawingml/2006/main" noGrp="1"/>
          </p:cNvSpPr>
          <p:nvPr/>
        </p:nvSpPr>
        <p:spPr>
          <a:xfrm xmlns:a="http://schemas.openxmlformats.org/drawingml/2006/main">
            <a:off x="609600" y="2047875"/>
            <a:ext cx="752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243047"/>
                </a:solidFill>
                <a:latin typeface="Arial"/>
                <a:ea typeface="Arial"/>
                <a:cs typeface="Arial"/>
              </a:defRPr>
            </a:defPPr>
          </a:lstStyle>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Hãy thiết kế đầy đủ 10 màn hình cho ứng dụng FAP Attendance dành</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cho giảng viên Trường Đại học FPT. Đây là bản thiết kế V0 của</a:t>
            </a:r>
          </a:p>
          <a:p xmlns:a="http://schemas.openxmlformats.org/drawingml/2006/main">
            <a:pPr>
              <a:defRPr sz="2025" b="0">
                <a:solidFill>
                  <a:srgbClr val="243047"/>
                </a:solidFill>
                <a:latin typeface="Arial"/>
                <a:ea typeface="Arial"/>
                <a:cs typeface="Arial"/>
              </a:defRPr>
            </a:pPr>
            <a:r>
              <a:rPr sz="2025" b="0">
                <a:solidFill>
                  <a:srgbClr val="243047"/>
                </a:solidFill>
                <a:latin typeface="Arial"/>
                <a:ea typeface="Arial"/>
                <a:cs typeface="Arial"/>
              </a:rPr>
              <a:t>bài Lab 2: Thiết kế UI/UX có hỗ trợ AI.</a:t>
            </a:r>
          </a:p>
        </p:txBody>
      </p:sp>
      <p:sp>
        <p:nvSpPr>
          <p:cNvPr id="5" name="">
            <a:extLst xmlns:a="http://schemas.openxmlformats.org/drawingml/2006/main">
              <a:ext uri="{FF2B5EF4-FFF2-40B4-BE49-F238E27FC236}">
                <a16:creationId xmlns:a16="http://schemas.microsoft.com/office/drawing/2014/main" id="{794D0518-0471-4635-B8C3-65A5749118ED}"/>
              </a:ext>
            </a:extLst>
          </p:cNvPr>
          <p:cNvSpPr>
            <a:spLocks xmlns:a="http://schemas.openxmlformats.org/drawingml/2006/main" noGrp="1"/>
          </p:cNvSpPr>
          <p:nvPr/>
        </p:nvSpPr>
        <p:spPr>
          <a:xfrm xmlns:a="http://schemas.openxmlformats.org/drawingml/2006/main">
            <a:off x="609600" y="3810000"/>
            <a:ext cx="733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Ràng buộc trong prompt</a:t>
            </a:r>
          </a:p>
        </p:txBody>
      </p:sp>
      <p:sp>
        <p:nvSpPr>
          <p:cNvPr id="6" name="">
            <a:extLst xmlns:a="http://schemas.openxmlformats.org/drawingml/2006/main">
              <a:ext uri="{FF2B5EF4-FFF2-40B4-BE49-F238E27FC236}">
                <a16:creationId xmlns:a16="http://schemas.microsoft.com/office/drawing/2014/main" id="{B3CA807A-700E-4A00-83F0-7C7CEA12B1B6}"/>
              </a:ext>
            </a:extLst>
          </p:cNvPr>
          <p:cNvSpPr>
            <a:spLocks xmlns:a="http://schemas.openxmlformats.org/drawingml/2006/main" noGrp="1"/>
          </p:cNvSpPr>
          <p:nvPr/>
        </p:nvSpPr>
        <p:spPr>
          <a:xfrm xmlns:a="http://schemas.openxmlformats.org/drawingml/2006/main">
            <a:off x="609600" y="4267200"/>
            <a:ext cx="7334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10 màn hình mobile cho giảng viên</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Ba flow có nhánh lỗi và phục hồi</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Local-first, Drive tùy chọn</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Chữ và vùng chạm dễ sử dụng</a:t>
            </a:r>
          </a:p>
        </p:txBody>
      </p:sp>
      <p:pic>
        <p:nvPicPr>
          <p:cNvPr id="7" name="">
            <a:extLst xmlns:a="http://schemas.openxmlformats.org/drawingml/2006/main">
              <a:ext uri="{FF2B5EF4-FFF2-40B4-BE49-F238E27FC236}">
                <a16:creationId xmlns:a16="http://schemas.microsoft.com/office/drawing/2014/main" id="{8F2B3244-E62F-4781-A30D-7151B7168176}"/>
              </a:ext>
            </a:extLst>
          </p:cNvPr>
          <p:cNvPicPr>
            <a:picLocks xmlns:a="http://schemas.openxmlformats.org/drawingml/2006/main" noChangeAspect="1"/>
          </p:cNvPicPr>
          <p:nvPr/>
        </p:nvPicPr>
        <p:blipFill>
          <a:blip xmlns:r="http://schemas.openxmlformats.org/officeDocument/2006/relationships" xmlns:a="http://schemas.openxmlformats.org/drawingml/2006/main" r:embed="Re958eb6bd2d843a5"/>
          <a:stretch xmlns:a="http://schemas.openxmlformats.org/drawingml/2006/main"/>
        </p:blipFill>
        <p:spPr>
          <a:xfrm xmlns:a="http://schemas.openxmlformats.org/drawingml/2006/main">
            <a:off x="9471959" y="1428750"/>
            <a:ext cx="1287182" cy="4286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5D604CF-632A-4FC4-B9A1-6EA3EDDC3B92}"/>
              </a:ext>
            </a:extLst>
          </p:cNvPr>
          <p:cNvSpPr>
            <a:spLocks xmlns:a="http://schemas.openxmlformats.org/drawingml/2006/main" noGrp="1"/>
          </p:cNvSpPr>
          <p:nvPr/>
        </p:nvSpPr>
        <p:spPr>
          <a:xfrm xmlns:a="http://schemas.openxmlformats.org/drawingml/2006/main">
            <a:off x="8763000" y="5857875"/>
            <a:ext cx="270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667085"/>
                </a:solidFill>
                <a:latin typeface="Arial"/>
                <a:ea typeface="Arial"/>
                <a:cs typeface="Arial"/>
              </a:defRPr>
            </a:defPPr>
          </a:lstStyle>
          <a:p xmlns:a="http://schemas.openxmlformats.org/drawingml/2006/main">
            <a:pPr>
              <a:defRPr sz="1650" b="0">
                <a:solidFill>
                  <a:srgbClr val="667085"/>
                </a:solidFill>
                <a:latin typeface="Arial"/>
                <a:ea typeface="Arial"/>
                <a:cs typeface="Arial"/>
              </a:defRPr>
            </a:pPr>
            <a:r>
              <a:rPr sz="1650" b="0">
                <a:solidFill>
                  <a:srgbClr val="667085"/>
                </a:solidFill>
                <a:latin typeface="Arial"/>
                <a:ea typeface="Arial"/>
                <a:cs typeface="Arial"/>
              </a:rPr>
              <a:t>Output S02 V0</a:t>
            </a:r>
          </a:p>
        </p:txBody>
      </p:sp>
    </p:spTree>
    <p:extLst>
      <p:ext uri="{BB962C8B-B14F-4D97-AF65-F5344CB8AC3E}">
        <p14:creationId xmlns:p14="http://schemas.microsoft.com/office/powerpoint/2010/main" val="21453033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ACCBD9-4714-48E3-822E-D68979624144}"/>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Các vòng sửa và phản biện</a:t>
            </a:r>
          </a:p>
        </p:txBody>
      </p:sp>
      <p:sp>
        <p:nvSpPr>
          <p:cNvPr id="2" name="">
            <a:extLst xmlns:a="http://schemas.openxmlformats.org/drawingml/2006/main">
              <a:ext uri="{FF2B5EF4-FFF2-40B4-BE49-F238E27FC236}">
                <a16:creationId xmlns:a16="http://schemas.microsoft.com/office/drawing/2014/main" id="{FEA25759-CA45-4AB3-B5F7-F87F9D271C7B}"/>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06   FAP Attendance</a:t>
            </a:r>
          </a:p>
        </p:txBody>
      </p:sp>
      <p:graphicFrame>
        <p:nvGraphicFramePr>
          <p:cNvPr id="3" name="">
            <a:extLst xmlns:a="http://schemas.openxmlformats.org/drawingml/2006/main">
              <a:ext uri="{FF2B5EF4-FFF2-40B4-BE49-F238E27FC236}">
                <a16:creationId xmlns:a16="http://schemas.microsoft.com/office/drawing/2014/main" id="{DF5AE67C-AC1D-409C-9DF5-5D34C8761AED}"/>
              </a:ext>
            </a:extLst>
          </p:cNvPr>
          <p:cNvGraphicFramePr/>
          <p:nvPr/>
        </p:nvGraphicFramePr>
        <p:xfrm>
          <a:off xmlns:a="http://schemas.openxmlformats.org/drawingml/2006/main" x="609600" y="1447800"/>
          <a:ext xmlns:a="http://schemas.openxmlformats.org/drawingml/2006/main" cx="10972800" cy="2686050"/>
        </p:xfrm>
        <a:graphic xmlns:a="http://schemas.openxmlformats.org/drawingml/2006/main">
          <a:graphicData uri="http://schemas.openxmlformats.org/drawingml/2006/table">
            <a:tbl>
              <a:tblPr/>
              <a:tblGrid>
                <a:gridCol w="1238250"/>
                <a:gridCol w="4476750"/>
                <a:gridCol w="5257800"/>
              </a:tblGrid>
              <a:tr h="671513">
                <a:tc>
                  <a:txBody>
                    <a:bodyPr/>
                    <a:lstStyle/>
                    <a:p>
                      <a:r>
                        <a:rPr sz="1800" b="1">
                          <a:solidFill>
                            <a:srgbClr val="FFFFFF"/>
                          </a:solidFill>
                          <a:latin typeface="Arial"/>
                          <a:ea typeface="Arial"/>
                          <a:cs typeface="Arial"/>
                        </a:rPr>
                        <a:t>Bản</a:t>
                      </a:r>
                    </a:p>
                  </a:txBody>
                  <a:tcPr marL="133350" marR="133350" marT="114300" marB="114300" anchor="t">
                    <a:solidFill>
                      <a:srgbClr val="C93C13"/>
                    </a:solidFill>
                  </a:tcPr>
                </a:tc>
                <a:tc>
                  <a:txBody>
                    <a:bodyPr/>
                    <a:lstStyle/>
                    <a:p>
                      <a:r>
                        <a:rPr sz="1800" b="1">
                          <a:solidFill>
                            <a:srgbClr val="FFFFFF"/>
                          </a:solidFill>
                          <a:latin typeface="Arial"/>
                          <a:ea typeface="Arial"/>
                          <a:cs typeface="Arial"/>
                        </a:rPr>
                        <a:t>Trọng tâm sửa</a:t>
                      </a:r>
                    </a:p>
                  </a:txBody>
                  <a:tcPr marL="133350" marR="133350" marT="114300" marB="114300" anchor="t">
                    <a:solidFill>
                      <a:srgbClr val="C93C13"/>
                    </a:solidFill>
                  </a:tcPr>
                </a:tc>
                <a:tc>
                  <a:txBody>
                    <a:bodyPr/>
                    <a:lstStyle/>
                    <a:p>
                      <a:r>
                        <a:rPr sz="1800" b="1">
                          <a:solidFill>
                            <a:srgbClr val="FFFFFF"/>
                          </a:solidFill>
                          <a:latin typeface="Arial"/>
                          <a:ea typeface="Arial"/>
                          <a:cs typeface="Arial"/>
                        </a:rPr>
                        <a:t>Bằng chứng hiện có</a:t>
                      </a:r>
                    </a:p>
                  </a:txBody>
                  <a:tcPr marL="133350" marR="133350" marT="114300" marB="114300" anchor="t">
                    <a:solidFill>
                      <a:srgbClr val="C93C13"/>
                    </a:solidFill>
                  </a:tcPr>
                </a:tc>
              </a:tr>
              <a:tr h="671513">
                <a:tc>
                  <a:txBody>
                    <a:bodyPr/>
                    <a:lstStyle/>
                    <a:p>
                      <a:r>
                        <a:rPr sz="1800">
                          <a:solidFill>
                            <a:srgbClr val="243047"/>
                          </a:solidFill>
                          <a:latin typeface="Arial"/>
                          <a:ea typeface="Arial"/>
                          <a:cs typeface="Arial"/>
                        </a:rPr>
                        <a:t>V1</a:t>
                      </a:r>
                    </a:p>
                  </a:txBody>
                  <a:tcPr marL="133350" marR="133350" marT="114300" marB="114300" anchor="t"/>
                </a:tc>
                <a:tc>
                  <a:txBody>
                    <a:bodyPr/>
                    <a:lstStyle/>
                    <a:p>
                      <a:r>
                        <a:rPr sz="1800">
                          <a:solidFill>
                            <a:srgbClr val="243047"/>
                          </a:solidFill>
                          <a:latin typeface="Arial"/>
                          <a:ea typeface="Arial"/>
                          <a:cs typeface="Arial"/>
                        </a:rPr>
                        <a:t>Ngữ cảnh lớp và lịch</a:t>
                      </a:r>
                    </a:p>
                  </a:txBody>
                  <a:tcPr marL="133350" marR="133350" marT="114300" marB="114300" anchor="t"/>
                </a:tc>
                <a:tc>
                  <a:txBody>
                    <a:bodyPr/>
                    <a:lstStyle/>
                    <a:p>
                      <a:r>
                        <a:rPr sz="1800">
                          <a:solidFill>
                            <a:srgbClr val="243047"/>
                          </a:solidFill>
                          <a:latin typeface="Arial"/>
                          <a:ea typeface="Arial"/>
                          <a:cs typeface="Arial"/>
                        </a:rPr>
                        <a:t>9 ảnh đã lưu, thiếu S06</a:t>
                      </a:r>
                    </a:p>
                  </a:txBody>
                  <a:tcPr marL="133350" marR="133350" marT="114300" marB="114300" anchor="t"/>
                </a:tc>
              </a:tr>
              <a:tr h="671513">
                <a:tc>
                  <a:txBody>
                    <a:bodyPr/>
                    <a:lstStyle/>
                    <a:p>
                      <a:r>
                        <a:rPr sz="1800">
                          <a:solidFill>
                            <a:srgbClr val="243047"/>
                          </a:solidFill>
                          <a:latin typeface="Arial"/>
                          <a:ea typeface="Arial"/>
                          <a:cs typeface="Arial"/>
                        </a:rPr>
                        <a:t>V2</a:t>
                      </a:r>
                    </a:p>
                  </a:txBody>
                  <a:tcPr marL="133350" marR="133350" marT="114300" marB="114300" anchor="t"/>
                </a:tc>
                <a:tc>
                  <a:txBody>
                    <a:bodyPr/>
                    <a:lstStyle/>
                    <a:p>
                      <a:r>
                        <a:rPr sz="1800">
                          <a:solidFill>
                            <a:srgbClr val="243047"/>
                          </a:solidFill>
                          <a:latin typeface="Arial"/>
                          <a:ea typeface="Arial"/>
                          <a:cs typeface="Arial"/>
                        </a:rPr>
                        <a:t>P/A, lịch sử và note</a:t>
                      </a:r>
                    </a:p>
                  </a:txBody>
                  <a:tcPr marL="133350" marR="133350" marT="114300" marB="114300" anchor="t"/>
                </a:tc>
                <a:tc>
                  <a:txBody>
                    <a:bodyPr/>
                    <a:lstStyle/>
                    <a:p>
                      <a:r>
                        <a:rPr sz="1800">
                          <a:solidFill>
                            <a:srgbClr val="243047"/>
                          </a:solidFill>
                          <a:latin typeface="Arial"/>
                          <a:ea typeface="Arial"/>
                          <a:cs typeface="Arial"/>
                        </a:rPr>
                        <a:t>7 ảnh đã lưu, còn lỗi</a:t>
                      </a:r>
                    </a:p>
                  </a:txBody>
                  <a:tcPr marL="133350" marR="133350" marT="114300" marB="114300" anchor="t"/>
                </a:tc>
              </a:tr>
              <a:tr h="671513">
                <a:tc>
                  <a:txBody>
                    <a:bodyPr/>
                    <a:lstStyle/>
                    <a:p>
                      <a:r>
                        <a:rPr sz="1800">
                          <a:solidFill>
                            <a:srgbClr val="243047"/>
                          </a:solidFill>
                          <a:latin typeface="Arial"/>
                          <a:ea typeface="Arial"/>
                          <a:cs typeface="Arial"/>
                        </a:rPr>
                        <a:t>V3</a:t>
                      </a:r>
                    </a:p>
                  </a:txBody>
                  <a:tcPr marL="133350" marR="133350" marT="114300" marB="114300" anchor="t"/>
                </a:tc>
                <a:tc>
                  <a:txBody>
                    <a:bodyPr/>
                    <a:lstStyle/>
                    <a:p>
                      <a:r>
                        <a:rPr sz="1800">
                          <a:solidFill>
                            <a:srgbClr val="243047"/>
                          </a:solidFill>
                          <a:latin typeface="Arial"/>
                          <a:ea typeface="Arial"/>
                          <a:cs typeface="Arial"/>
                        </a:rPr>
                        <a:t>Xuất và sao lưu</a:t>
                      </a:r>
                    </a:p>
                  </a:txBody>
                  <a:tcPr marL="133350" marR="133350" marT="114300" marB="114300" anchor="t"/>
                </a:tc>
                <a:tc>
                  <a:txBody>
                    <a:bodyPr/>
                    <a:lstStyle/>
                    <a:p>
                      <a:r>
                        <a:rPr sz="1800">
                          <a:solidFill>
                            <a:srgbClr val="243047"/>
                          </a:solidFill>
                          <a:latin typeface="Arial"/>
                          <a:ea typeface="Arial"/>
                          <a:cs typeface="Arial"/>
                        </a:rPr>
                        <a:t>Đã nhận qua chat, thiếu bộ lưu riêng</a:t>
                      </a:r>
                    </a:p>
                  </a:txBody>
                  <a:tcPr marL="133350" marR="133350" marT="114300" marB="114300" anchor="t"/>
                </a:tc>
              </a:tr>
            </a:tbl>
          </a:graphicData>
        </a:graphic>
      </p:graphicFrame>
      <p:sp>
        <p:nvSpPr>
          <p:cNvPr id="4" name="">
            <a:extLst xmlns:a="http://schemas.openxmlformats.org/drawingml/2006/main">
              <a:ext uri="{FF2B5EF4-FFF2-40B4-BE49-F238E27FC236}">
                <a16:creationId xmlns:a16="http://schemas.microsoft.com/office/drawing/2014/main" id="{221DF775-CE3E-4A19-BC8E-3EE37CA7386F}"/>
              </a:ext>
            </a:extLst>
          </p:cNvPr>
          <p:cNvSpPr>
            <a:spLocks xmlns:a="http://schemas.openxmlformats.org/drawingml/2006/main" noGrp="1"/>
          </p:cNvSpPr>
          <p:nvPr/>
        </p:nvSpPr>
        <p:spPr>
          <a:xfrm xmlns:a="http://schemas.openxmlformats.org/drawingml/2006/main">
            <a:off x="609600" y="43624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1">
                <a:solidFill>
                  <a:srgbClr val="C93C13"/>
                </a:solidFill>
                <a:latin typeface="Arial"/>
                <a:ea typeface="Arial"/>
                <a:cs typeface="Arial"/>
              </a:defRPr>
            </a:defPPr>
          </a:lstStyle>
          <a:p xmlns:a="http://schemas.openxmlformats.org/drawingml/2006/main">
            <a:pPr>
              <a:defRPr sz="2025" b="1">
                <a:solidFill>
                  <a:srgbClr val="C93C13"/>
                </a:solidFill>
                <a:latin typeface="Arial"/>
                <a:ea typeface="Arial"/>
                <a:cs typeface="Arial"/>
              </a:defRPr>
            </a:pPr>
            <a:r>
              <a:rPr sz="2025" b="1">
                <a:solidFill>
                  <a:srgbClr val="C93C13"/>
                </a:solidFill>
                <a:latin typeface="Arial"/>
                <a:ea typeface="Arial"/>
                <a:cs typeface="Arial"/>
              </a:rPr>
              <a:t>5 phát hiện cụ thể</a:t>
            </a:r>
          </a:p>
        </p:txBody>
      </p:sp>
      <p:sp>
        <p:nvSpPr>
          <p:cNvPr id="5" name="">
            <a:extLst xmlns:a="http://schemas.openxmlformats.org/drawingml/2006/main">
              <a:ext uri="{FF2B5EF4-FFF2-40B4-BE49-F238E27FC236}">
                <a16:creationId xmlns:a16="http://schemas.microsoft.com/office/drawing/2014/main" id="{F6405C6F-CADF-4CB1-ACC4-485A84FE294A}"/>
              </a:ext>
            </a:extLst>
          </p:cNvPr>
          <p:cNvSpPr>
            <a:spLocks xmlns:a="http://schemas.openxmlformats.org/drawingml/2006/main" noGrp="1"/>
          </p:cNvSpPr>
          <p:nvPr/>
        </p:nvSpPr>
        <p:spPr>
          <a:xfrm xmlns:a="http://schemas.openxmlformats.org/drawingml/2006/main">
            <a:off x="609600" y="486727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243047"/>
                </a:solidFill>
                <a:latin typeface="Arial"/>
                <a:ea typeface="Arial"/>
                <a:cs typeface="Arial"/>
              </a:defRPr>
            </a:defPPr>
          </a:lstStyle>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S05: quyền sửa lịch</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S07: khung giờ trong note</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S07: lý do mới và audit</a:t>
            </a:r>
          </a:p>
        </p:txBody>
      </p:sp>
      <p:sp>
        <p:nvSpPr>
          <p:cNvPr id="6" name="">
            <a:extLst xmlns:a="http://schemas.openxmlformats.org/drawingml/2006/main">
              <a:ext uri="{FF2B5EF4-FFF2-40B4-BE49-F238E27FC236}">
                <a16:creationId xmlns:a16="http://schemas.microsoft.com/office/drawing/2014/main" id="{5D5B9A3F-2E80-40D1-9AA1-B5F09D8D7B50}"/>
              </a:ext>
            </a:extLst>
          </p:cNvPr>
          <p:cNvSpPr>
            <a:spLocks xmlns:a="http://schemas.openxmlformats.org/drawingml/2006/main" noGrp="1"/>
          </p:cNvSpPr>
          <p:nvPr/>
        </p:nvSpPr>
        <p:spPr>
          <a:xfrm xmlns:a="http://schemas.openxmlformats.org/drawingml/2006/main">
            <a:off x="6572250" y="4867275"/>
            <a:ext cx="50101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243047"/>
                </a:solidFill>
                <a:latin typeface="Arial"/>
                <a:ea typeface="Arial"/>
                <a:cs typeface="Arial"/>
              </a:defRPr>
            </a:defPPr>
          </a:lstStyle>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S06: nhãn QR chạy ngầm</a:t>
            </a:r>
          </a:p>
          <a:p xmlns:a="http://schemas.openxmlformats.org/drawingml/2006/main">
            <a:pPr>
              <a:defRPr sz="1800" b="0">
                <a:solidFill>
                  <a:srgbClr val="243047"/>
                </a:solidFill>
                <a:latin typeface="Arial"/>
                <a:ea typeface="Arial"/>
                <a:cs typeface="Arial"/>
              </a:defRPr>
            </a:pPr>
            <a:r>
              <a:rPr sz="1800" b="0">
                <a:solidFill>
                  <a:srgbClr val="243047"/>
                </a:solidFill>
                <a:latin typeface="Arial"/>
                <a:ea typeface="Arial"/>
                <a:cs typeface="Arial"/>
              </a:rPr>
              <a:t>S09: tên file preview khác kết quả</a:t>
            </a:r>
          </a:p>
        </p:txBody>
      </p:sp>
      <p:sp>
        <p:nvSpPr>
          <p:cNvPr id="7" name="">
            <a:extLst xmlns:a="http://schemas.openxmlformats.org/drawingml/2006/main">
              <a:ext uri="{FF2B5EF4-FFF2-40B4-BE49-F238E27FC236}">
                <a16:creationId xmlns:a16="http://schemas.microsoft.com/office/drawing/2014/main" id="{48A9B196-D8B6-4E88-89F4-905E67314E26}"/>
              </a:ext>
            </a:extLst>
          </p:cNvPr>
          <p:cNvSpPr>
            <a:spLocks xmlns:a="http://schemas.openxmlformats.org/drawingml/2006/main" noGrp="1"/>
          </p:cNvSpPr>
          <p:nvPr/>
        </p:nvSpPr>
        <p:spPr>
          <a:xfrm xmlns:a="http://schemas.openxmlformats.org/drawingml/2006/main">
            <a:off x="609600" y="60864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667085"/>
                </a:solidFill>
                <a:latin typeface="Arial"/>
                <a:ea typeface="Arial"/>
                <a:cs typeface="Arial"/>
              </a:defRPr>
            </a:defPPr>
          </a:lstStyle>
          <a:p xmlns:a="http://schemas.openxmlformats.org/drawingml/2006/main">
            <a:pPr>
              <a:defRPr sz="1500" b="0">
                <a:solidFill>
                  <a:srgbClr val="667085"/>
                </a:solidFill>
                <a:latin typeface="Arial"/>
                <a:ea typeface="Arial"/>
                <a:cs typeface="Arial"/>
              </a:defRPr>
            </a:pPr>
            <a:r>
              <a:rPr sz="1500" b="0">
                <a:solidFill>
                  <a:srgbClr val="667085"/>
                </a:solidFill>
                <a:latin typeface="Arial"/>
                <a:ea typeface="Arial"/>
                <a:cs typeface="Arial"/>
              </a:rPr>
              <a:t>Chưa đủ chuỗi bằng chứng để xác nhận hoàn tất ba vòng cải tiến</a:t>
            </a:r>
          </a:p>
        </p:txBody>
      </p:sp>
    </p:spTree>
    <p:extLst>
      <p:ext uri="{BB962C8B-B14F-4D97-AF65-F5344CB8AC3E}">
        <p14:creationId xmlns:p14="http://schemas.microsoft.com/office/powerpoint/2010/main" val="880823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EA82CA-BD06-4ADB-B2B1-9D2CF7E768D3}"/>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Định hướng quyết định thiết kế</a:t>
            </a:r>
          </a:p>
        </p:txBody>
      </p:sp>
      <p:sp>
        <p:nvSpPr>
          <p:cNvPr id="2" name="">
            <a:extLst xmlns:a="http://schemas.openxmlformats.org/drawingml/2006/main">
              <a:ext uri="{FF2B5EF4-FFF2-40B4-BE49-F238E27FC236}">
                <a16:creationId xmlns:a16="http://schemas.microsoft.com/office/drawing/2014/main" id="{AAA4EAA0-994B-40A6-B47F-A94111FC736D}"/>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07   FAP Attendance</a:t>
            </a:r>
          </a:p>
        </p:txBody>
      </p:sp>
      <p:sp>
        <p:nvSpPr>
          <p:cNvPr id="3" name="">
            <a:extLst xmlns:a="http://schemas.openxmlformats.org/drawingml/2006/main">
              <a:ext uri="{FF2B5EF4-FFF2-40B4-BE49-F238E27FC236}">
                <a16:creationId xmlns:a16="http://schemas.microsoft.com/office/drawing/2014/main" id="{406196D3-E215-470F-9F73-B6D09F8B9F61}"/>
              </a:ext>
            </a:extLst>
          </p:cNvPr>
          <p:cNvSpPr>
            <a:spLocks xmlns:a="http://schemas.openxmlformats.org/drawingml/2006/main" noGrp="1"/>
          </p:cNvSpPr>
          <p:nvPr/>
        </p:nvSpPr>
        <p:spPr>
          <a:xfrm xmlns:a="http://schemas.openxmlformats.org/drawingml/2006/main">
            <a:off x="609600" y="1695450"/>
            <a:ext cx="321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Accept</a:t>
            </a:r>
          </a:p>
        </p:txBody>
      </p:sp>
      <p:sp>
        <p:nvSpPr>
          <p:cNvPr id="4" name="">
            <a:extLst xmlns:a="http://schemas.openxmlformats.org/drawingml/2006/main">
              <a:ext uri="{FF2B5EF4-FFF2-40B4-BE49-F238E27FC236}">
                <a16:creationId xmlns:a16="http://schemas.microsoft.com/office/drawing/2014/main" id="{031F8107-713D-4890-8E80-B5E3F6544ADE}"/>
              </a:ext>
            </a:extLst>
          </p:cNvPr>
          <p:cNvSpPr>
            <a:spLocks xmlns:a="http://schemas.openxmlformats.org/drawingml/2006/main" noGrp="1"/>
          </p:cNvSpPr>
          <p:nvPr/>
        </p:nvSpPr>
        <p:spPr>
          <a:xfrm xmlns:a="http://schemas.openxmlformats.org/drawingml/2006/main">
            <a:off x="609600" y="2152650"/>
            <a:ext cx="32194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Local-first</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Drive tùy chọn</a:t>
            </a:r>
          </a:p>
          <a:p xmlns:a="http://schemas.openxmlformats.org/drawingml/2006/main">
            <a:r>
              <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Giữ đường hoàn thành tác vụ khi mạng yếu.</a:t>
            </a:r>
          </a:p>
        </p:txBody>
      </p:sp>
      <p:sp>
        <p:nvSpPr>
          <p:cNvPr id="5" name="">
            <a:extLst xmlns:a="http://schemas.openxmlformats.org/drawingml/2006/main">
              <a:ext uri="{FF2B5EF4-FFF2-40B4-BE49-F238E27FC236}">
                <a16:creationId xmlns:a16="http://schemas.microsoft.com/office/drawing/2014/main" id="{A9CBC7BA-709E-4720-BCB4-FABEC04C08D8}"/>
              </a:ext>
            </a:extLst>
          </p:cNvPr>
          <p:cNvSpPr>
            <a:spLocks xmlns:a="http://schemas.openxmlformats.org/drawingml/2006/main" noGrp="1"/>
          </p:cNvSpPr>
          <p:nvPr/>
        </p:nvSpPr>
        <p:spPr>
          <a:xfrm xmlns:a="http://schemas.openxmlformats.org/drawingml/2006/main">
            <a:off x="4457700" y="1695450"/>
            <a:ext cx="321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Modify</a:t>
            </a:r>
          </a:p>
        </p:txBody>
      </p:sp>
      <p:sp>
        <p:nvSpPr>
          <p:cNvPr id="6" name="">
            <a:extLst xmlns:a="http://schemas.openxmlformats.org/drawingml/2006/main">
              <a:ext uri="{FF2B5EF4-FFF2-40B4-BE49-F238E27FC236}">
                <a16:creationId xmlns:a16="http://schemas.microsoft.com/office/drawing/2014/main" id="{F5364F4D-11C6-45EE-8F5A-19DEF2E78E28}"/>
              </a:ext>
            </a:extLst>
          </p:cNvPr>
          <p:cNvSpPr>
            <a:spLocks xmlns:a="http://schemas.openxmlformats.org/drawingml/2006/main" noGrp="1"/>
          </p:cNvSpPr>
          <p:nvPr/>
        </p:nvSpPr>
        <p:spPr>
          <a:xfrm xmlns:a="http://schemas.openxmlformats.org/drawingml/2006/main">
            <a:off x="4457700" y="2152650"/>
            <a:ext cx="32194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Lý do mới bắt buộc</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Audit trước và sau</a:t>
            </a:r>
          </a:p>
          <a:p xmlns:a="http://schemas.openxmlformats.org/drawingml/2006/main">
            <a:r>
              <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Giúp giảng viên giải thích và đối chiếu lần sửa.</a:t>
            </a:r>
          </a:p>
        </p:txBody>
      </p:sp>
      <p:sp>
        <p:nvSpPr>
          <p:cNvPr id="7" name="">
            <a:extLst xmlns:a="http://schemas.openxmlformats.org/drawingml/2006/main">
              <a:ext uri="{FF2B5EF4-FFF2-40B4-BE49-F238E27FC236}">
                <a16:creationId xmlns:a16="http://schemas.microsoft.com/office/drawing/2014/main" id="{478588B8-AC6C-4F8C-932B-9B364271FDBB}"/>
              </a:ext>
            </a:extLst>
          </p:cNvPr>
          <p:cNvSpPr>
            <a:spLocks xmlns:a="http://schemas.openxmlformats.org/drawingml/2006/main" noGrp="1"/>
          </p:cNvSpPr>
          <p:nvPr/>
        </p:nvSpPr>
        <p:spPr>
          <a:xfrm xmlns:a="http://schemas.openxmlformats.org/drawingml/2006/main">
            <a:off x="8305800" y="16954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Reject</a:t>
            </a:r>
          </a:p>
        </p:txBody>
      </p:sp>
      <p:sp>
        <p:nvSpPr>
          <p:cNvPr id="8" name="">
            <a:extLst xmlns:a="http://schemas.openxmlformats.org/drawingml/2006/main">
              <a:ext uri="{FF2B5EF4-FFF2-40B4-BE49-F238E27FC236}">
                <a16:creationId xmlns:a16="http://schemas.microsoft.com/office/drawing/2014/main" id="{B768FDA3-46AB-43E1-B17B-3D1C21511492}"/>
              </a:ext>
            </a:extLst>
          </p:cNvPr>
          <p:cNvSpPr>
            <a:spLocks xmlns:a="http://schemas.openxmlformats.org/drawingml/2006/main" noGrp="1"/>
          </p:cNvSpPr>
          <p:nvPr/>
        </p:nvSpPr>
        <p:spPr>
          <a:xfrm xmlns:a="http://schemas.openxmlformats.org/drawingml/2006/main">
            <a:off x="8305800" y="2152650"/>
            <a:ext cx="32766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QR chạy ngầm khi Back</a:t>
            </a:r>
          </a:p>
          <a:p xmlns:a="http://schemas.openxmlformats.org/drawingml/2006/main">
            <a:r>
              <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Về lớp tạm dừng nhận.</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Slot vẫn active, chưa tự chốt.</a:t>
            </a:r>
          </a:p>
        </p:txBody>
      </p:sp>
      <p:sp>
        <p:nvSpPr>
          <p:cNvPr id="9" name="">
            <a:extLst xmlns:a="http://schemas.openxmlformats.org/drawingml/2006/main">
              <a:ext uri="{FF2B5EF4-FFF2-40B4-BE49-F238E27FC236}">
                <a16:creationId xmlns:a16="http://schemas.microsoft.com/office/drawing/2014/main" id="{CC1F7092-DDDE-49DF-BFCD-694BCA4109B5}"/>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667085"/>
                </a:solidFill>
                <a:latin typeface="Arial"/>
                <a:ea typeface="Arial"/>
                <a:cs typeface="Arial"/>
              </a:defRPr>
            </a:defPPr>
          </a:lstStyle>
          <a:p xmlns:a="http://schemas.openxmlformats.org/drawingml/2006/main">
            <a:pPr>
              <a:defRPr sz="1800" b="0">
                <a:solidFill>
                  <a:srgbClr val="667085"/>
                </a:solidFill>
                <a:latin typeface="Arial"/>
                <a:ea typeface="Arial"/>
                <a:cs typeface="Arial"/>
              </a:defRPr>
            </a:pPr>
            <a:r>
              <a:rPr sz="1800" b="0">
                <a:solidFill>
                  <a:srgbClr val="667085"/>
                </a:solidFill>
                <a:latin typeface="Arial"/>
                <a:ea typeface="Arial"/>
                <a:cs typeface="Arial"/>
              </a:rPr>
              <a:t>D01–D09 đang chờ sinh viên chốt. Các ví dụ trên là đề xuất có căn cứ.</a:t>
            </a:r>
          </a:p>
        </p:txBody>
      </p:sp>
    </p:spTree>
    <p:extLst>
      <p:ext uri="{BB962C8B-B14F-4D97-AF65-F5344CB8AC3E}">
        <p14:creationId xmlns:p14="http://schemas.microsoft.com/office/powerpoint/2010/main" val="8496627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FC64D7-E26B-465B-898B-98B7DCEABCD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UI trước và sau: S07</a:t>
            </a:r>
          </a:p>
        </p:txBody>
      </p:sp>
      <p:sp>
        <p:nvSpPr>
          <p:cNvPr id="2" name="">
            <a:extLst xmlns:a="http://schemas.openxmlformats.org/drawingml/2006/main">
              <a:ext uri="{FF2B5EF4-FFF2-40B4-BE49-F238E27FC236}">
                <a16:creationId xmlns:a16="http://schemas.microsoft.com/office/drawing/2014/main" id="{7AC4E2A4-271B-45CB-8A6B-E5695E330F63}"/>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08   FAP Attendance</a:t>
            </a:r>
          </a:p>
        </p:txBody>
      </p:sp>
      <p:sp>
        <p:nvSpPr>
          <p:cNvPr id="3" name="">
            <a:extLst xmlns:a="http://schemas.openxmlformats.org/drawingml/2006/main">
              <a:ext uri="{FF2B5EF4-FFF2-40B4-BE49-F238E27FC236}">
                <a16:creationId xmlns:a16="http://schemas.microsoft.com/office/drawing/2014/main" id="{C0EE9E61-4496-48C1-BDA2-829D4D9CD799}"/>
              </a:ext>
            </a:extLst>
          </p:cNvPr>
          <p:cNvSpPr>
            <a:spLocks xmlns:a="http://schemas.openxmlformats.org/drawingml/2006/main" noGrp="1"/>
          </p:cNvSpPr>
          <p:nvPr/>
        </p:nvSpPr>
        <p:spPr>
          <a:xfrm xmlns:a="http://schemas.openxmlformats.org/drawingml/2006/main">
            <a:off x="609600" y="13811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C93C13"/>
                </a:solidFill>
                <a:latin typeface="Arial"/>
                <a:ea typeface="Arial"/>
                <a:cs typeface="Arial"/>
              </a:defRPr>
            </a:defPPr>
          </a:lstStyle>
          <a:p xmlns:a="http://schemas.openxmlformats.org/drawingml/2006/main">
            <a:pPr>
              <a:defRPr sz="1800" b="1">
                <a:solidFill>
                  <a:srgbClr val="C93C13"/>
                </a:solidFill>
                <a:latin typeface="Arial"/>
                <a:ea typeface="Arial"/>
                <a:cs typeface="Arial"/>
              </a:defRPr>
            </a:pPr>
            <a:r>
              <a:rPr sz="1800" b="1">
                <a:solidFill>
                  <a:srgbClr val="C93C13"/>
                </a:solidFill>
                <a:latin typeface="Arial"/>
                <a:ea typeface="Arial"/>
                <a:cs typeface="Arial"/>
              </a:rPr>
              <a:t>S07 V0</a:t>
            </a:r>
          </a:p>
        </p:txBody>
      </p:sp>
      <p:sp>
        <p:nvSpPr>
          <p:cNvPr id="4" name="">
            <a:extLst xmlns:a="http://schemas.openxmlformats.org/drawingml/2006/main">
              <a:ext uri="{FF2B5EF4-FFF2-40B4-BE49-F238E27FC236}">
                <a16:creationId xmlns:a16="http://schemas.microsoft.com/office/drawing/2014/main" id="{5B2079DA-BA75-4A51-8F89-DEAB8AAE1F04}"/>
              </a:ext>
            </a:extLst>
          </p:cNvPr>
          <p:cNvSpPr>
            <a:spLocks xmlns:a="http://schemas.openxmlformats.org/drawingml/2006/main" noGrp="1"/>
          </p:cNvSpPr>
          <p:nvPr/>
        </p:nvSpPr>
        <p:spPr>
          <a:xfrm xmlns:a="http://schemas.openxmlformats.org/drawingml/2006/main">
            <a:off x="3429000" y="13811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C93C13"/>
                </a:solidFill>
                <a:latin typeface="Arial"/>
                <a:ea typeface="Arial"/>
                <a:cs typeface="Arial"/>
              </a:defRPr>
            </a:defPPr>
          </a:lstStyle>
          <a:p xmlns:a="http://schemas.openxmlformats.org/drawingml/2006/main">
            <a:pPr>
              <a:defRPr sz="1800" b="1">
                <a:solidFill>
                  <a:srgbClr val="C93C13"/>
                </a:solidFill>
                <a:latin typeface="Arial"/>
                <a:ea typeface="Arial"/>
                <a:cs typeface="Arial"/>
              </a:defRPr>
            </a:pPr>
            <a:r>
              <a:rPr sz="1800" b="1">
                <a:solidFill>
                  <a:srgbClr val="C93C13"/>
                </a:solidFill>
                <a:latin typeface="Arial"/>
                <a:ea typeface="Arial"/>
                <a:cs typeface="Arial"/>
              </a:rPr>
              <a:t>S07 V2</a:t>
            </a:r>
          </a:p>
        </p:txBody>
      </p:sp>
      <p:pic>
        <p:nvPicPr>
          <p:cNvPr id="5" name="">
            <a:extLst xmlns:a="http://schemas.openxmlformats.org/drawingml/2006/main">
              <a:ext uri="{FF2B5EF4-FFF2-40B4-BE49-F238E27FC236}">
                <a16:creationId xmlns:a16="http://schemas.microsoft.com/office/drawing/2014/main" id="{09212570-792D-44BE-AAFD-A27C274BAF97}"/>
              </a:ext>
            </a:extLst>
          </p:cNvPr>
          <p:cNvPicPr>
            <a:picLocks xmlns:a="http://schemas.openxmlformats.org/drawingml/2006/main" noChangeAspect="1"/>
          </p:cNvPicPr>
          <p:nvPr/>
        </p:nvPicPr>
        <p:blipFill>
          <a:blip xmlns:r="http://schemas.openxmlformats.org/officeDocument/2006/relationships" xmlns:a="http://schemas.openxmlformats.org/drawingml/2006/main" r:embed="R564db39d537346d3"/>
          <a:stretch xmlns:a="http://schemas.openxmlformats.org/drawingml/2006/main"/>
        </p:blipFill>
        <p:spPr>
          <a:xfrm xmlns:a="http://schemas.openxmlformats.org/drawingml/2006/main">
            <a:off x="928444" y="1857375"/>
            <a:ext cx="1838813"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87C3167-2A29-4E59-97CF-94651C26D3A8}"/>
              </a:ext>
            </a:extLst>
          </p:cNvPr>
          <p:cNvPicPr>
            <a:picLocks xmlns:a="http://schemas.openxmlformats.org/drawingml/2006/main" noChangeAspect="1"/>
          </p:cNvPicPr>
          <p:nvPr/>
        </p:nvPicPr>
        <p:blipFill>
          <a:blip xmlns:r="http://schemas.openxmlformats.org/officeDocument/2006/relationships" xmlns:a="http://schemas.openxmlformats.org/drawingml/2006/main" r:embed="Rc3eaf69f426646a6"/>
          <a:stretch xmlns:a="http://schemas.openxmlformats.org/drawingml/2006/main"/>
        </p:blipFill>
        <p:spPr>
          <a:xfrm xmlns:a="http://schemas.openxmlformats.org/drawingml/2006/main">
            <a:off x="3954899" y="1857375"/>
            <a:ext cx="142470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2B6694D-3656-423F-9D66-EB9CC2911751}"/>
              </a:ext>
            </a:extLst>
          </p:cNvPr>
          <p:cNvSpPr>
            <a:spLocks xmlns:a="http://schemas.openxmlformats.org/drawingml/2006/main" noGrp="1"/>
          </p:cNvSpPr>
          <p:nvPr/>
        </p:nvSpPr>
        <p:spPr>
          <a:xfrm xmlns:a="http://schemas.openxmlformats.org/drawingml/2006/main">
            <a:off x="6667500" y="1790700"/>
            <a:ext cx="491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Nội dung đối chiếu</a:t>
            </a:r>
          </a:p>
        </p:txBody>
      </p:sp>
      <p:sp>
        <p:nvSpPr>
          <p:cNvPr id="8" name="">
            <a:extLst xmlns:a="http://schemas.openxmlformats.org/drawingml/2006/main">
              <a:ext uri="{FF2B5EF4-FFF2-40B4-BE49-F238E27FC236}">
                <a16:creationId xmlns:a16="http://schemas.microsoft.com/office/drawing/2014/main" id="{965021A7-3E20-4944-A2F4-9C15EA1824F5}"/>
              </a:ext>
            </a:extLst>
          </p:cNvPr>
          <p:cNvSpPr>
            <a:spLocks xmlns:a="http://schemas.openxmlformats.org/drawingml/2006/main" noGrp="1"/>
          </p:cNvSpPr>
          <p:nvPr/>
        </p:nvSpPr>
        <p:spPr>
          <a:xfrm xmlns:a="http://schemas.openxmlformats.org/drawingml/2006/main">
            <a:off x="6667500" y="2247900"/>
            <a:ext cx="49149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Identity và thống kê</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Lịch sử theo từng slot</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Note và thao tác sửa</a:t>
            </a:r>
          </a:p>
          <a:p xmlns:a="http://schemas.openxmlformats.org/drawingml/2006/main">
            <a:r>
              <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Cần thống nhất khung giờ,</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note và trạng thái lỗi.</a:t>
            </a:r>
          </a:p>
        </p:txBody>
      </p:sp>
      <p:sp>
        <p:nvSpPr>
          <p:cNvPr id="9" name="">
            <a:extLst xmlns:a="http://schemas.openxmlformats.org/drawingml/2006/main">
              <a:ext uri="{FF2B5EF4-FFF2-40B4-BE49-F238E27FC236}">
                <a16:creationId xmlns:a16="http://schemas.microsoft.com/office/drawing/2014/main" id="{19277260-142B-4103-A9C4-CC3FB56552D3}"/>
              </a:ext>
            </a:extLst>
          </p:cNvPr>
          <p:cNvSpPr>
            <a:spLocks xmlns:a="http://schemas.openxmlformats.org/drawingml/2006/main" noGrp="1"/>
          </p:cNvSpPr>
          <p:nvPr/>
        </p:nvSpPr>
        <p:spPr>
          <a:xfrm xmlns:a="http://schemas.openxmlformats.org/drawingml/2006/main">
            <a:off x="6667500" y="5010150"/>
            <a:ext cx="4914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Chưa có bộ low-fi đã lưu.</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Đây là UI V0/V2, không phải</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final đã kiểm thử.</a:t>
            </a:r>
          </a:p>
        </p:txBody>
      </p:sp>
    </p:spTree>
    <p:extLst>
      <p:ext uri="{BB962C8B-B14F-4D97-AF65-F5344CB8AC3E}">
        <p14:creationId xmlns:p14="http://schemas.microsoft.com/office/powerpoint/2010/main" val="14561238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B58AE8-5054-4CAE-9ADA-8285756F6786}"/>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Design system và components</a:t>
            </a:r>
          </a:p>
        </p:txBody>
      </p:sp>
      <p:sp>
        <p:nvSpPr>
          <p:cNvPr id="2" name="">
            <a:extLst xmlns:a="http://schemas.openxmlformats.org/drawingml/2006/main">
              <a:ext uri="{FF2B5EF4-FFF2-40B4-BE49-F238E27FC236}">
                <a16:creationId xmlns:a16="http://schemas.microsoft.com/office/drawing/2014/main" id="{DCF1FD4B-A4E2-4EFC-A3D7-308D89B3CD7C}"/>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09   FAP Attendance</a:t>
            </a:r>
          </a:p>
        </p:txBody>
      </p:sp>
      <p:sp>
        <p:nvSpPr>
          <p:cNvPr id="3" name="">
            <a:extLst xmlns:a="http://schemas.openxmlformats.org/drawingml/2006/main">
              <a:ext uri="{FF2B5EF4-FFF2-40B4-BE49-F238E27FC236}">
                <a16:creationId xmlns:a16="http://schemas.microsoft.com/office/drawing/2014/main" id="{9EDE6E21-013A-45CB-A2F5-E2C75009788E}"/>
              </a:ext>
            </a:extLst>
          </p:cNvPr>
          <p:cNvSpPr>
            <a:spLocks xmlns:a="http://schemas.openxmlformats.org/drawingml/2006/main" noGrp="1"/>
          </p:cNvSpPr>
          <p:nvPr/>
        </p:nvSpPr>
        <p:spPr>
          <a:xfrm xmlns:a="http://schemas.openxmlformats.org/drawingml/2006/main">
            <a:off x="609600" y="1524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Màu và typography</a:t>
            </a:r>
          </a:p>
        </p:txBody>
      </p:sp>
      <p:sp>
        <p:nvSpPr>
          <p:cNvPr id="4" name="">
            <a:extLst xmlns:a="http://schemas.openxmlformats.org/drawingml/2006/main">
              <a:ext uri="{FF2B5EF4-FFF2-40B4-BE49-F238E27FC236}">
                <a16:creationId xmlns:a16="http://schemas.microsoft.com/office/drawing/2014/main" id="{EE3881FE-B2C2-46EC-81AE-CED6D0D80033}"/>
              </a:ext>
            </a:extLst>
          </p:cNvPr>
          <p:cNvSpPr>
            <a:spLocks xmlns:a="http://schemas.openxmlformats.org/drawingml/2006/main" noGrp="1"/>
          </p:cNvSpPr>
          <p:nvPr/>
        </p:nvSpPr>
        <p:spPr>
          <a:xfrm xmlns:a="http://schemas.openxmlformats.org/drawingml/2006/main">
            <a:off x="609600" y="1981200"/>
            <a:ext cx="5334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Primary  #C93C13</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Brand  #F4511E</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Body  16/24</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Supporting  14/20</a:t>
            </a:r>
          </a:p>
        </p:txBody>
      </p:sp>
      <p:sp>
        <p:nvSpPr>
          <p:cNvPr id="5" name="">
            <a:extLst xmlns:a="http://schemas.openxmlformats.org/drawingml/2006/main">
              <a:ext uri="{FF2B5EF4-FFF2-40B4-BE49-F238E27FC236}">
                <a16:creationId xmlns:a16="http://schemas.microsoft.com/office/drawing/2014/main" id="{34594CF7-6874-499A-9E74-BD883BECF70B}"/>
              </a:ext>
            </a:extLst>
          </p:cNvPr>
          <p:cNvSpPr>
            <a:spLocks xmlns:a="http://schemas.openxmlformats.org/drawingml/2006/main" noGrp="1"/>
          </p:cNvSpPr>
          <p:nvPr/>
        </p:nvSpPr>
        <p:spPr>
          <a:xfrm xmlns:a="http://schemas.openxmlformats.org/drawingml/2006/main">
            <a:off x="6572250" y="152400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Khoảng cách và hình dạng</a:t>
            </a:r>
          </a:p>
        </p:txBody>
      </p:sp>
      <p:sp>
        <p:nvSpPr>
          <p:cNvPr id="6" name="">
            <a:extLst xmlns:a="http://schemas.openxmlformats.org/drawingml/2006/main">
              <a:ext uri="{FF2B5EF4-FFF2-40B4-BE49-F238E27FC236}">
                <a16:creationId xmlns:a16="http://schemas.microsoft.com/office/drawing/2014/main" id="{D01704C3-EC63-4A90-BEB4-F10FE5F2D842}"/>
              </a:ext>
            </a:extLst>
          </p:cNvPr>
          <p:cNvSpPr>
            <a:spLocks xmlns:a="http://schemas.openxmlformats.org/drawingml/2006/main" noGrp="1"/>
          </p:cNvSpPr>
          <p:nvPr/>
        </p:nvSpPr>
        <p:spPr>
          <a:xfrm xmlns:a="http://schemas.openxmlformats.org/drawingml/2006/main">
            <a:off x="6572250" y="1981200"/>
            <a:ext cx="50101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Spacing  4, 8, 12, 16, 24, 32</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Radius  8, 12, 16</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Nút chính  tối thiểu 52</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Vùng chạm  tối thiểu 48 × 48</a:t>
            </a:r>
          </a:p>
        </p:txBody>
      </p:sp>
      <p:sp>
        <p:nvSpPr>
          <p:cNvPr id="7" name="">
            <a:extLst xmlns:a="http://schemas.openxmlformats.org/drawingml/2006/main">
              <a:ext uri="{FF2B5EF4-FFF2-40B4-BE49-F238E27FC236}">
                <a16:creationId xmlns:a16="http://schemas.microsoft.com/office/drawing/2014/main" id="{66A33849-163A-43A8-8EAC-7231E3DD625D}"/>
              </a:ext>
            </a:extLst>
          </p:cNvPr>
          <p:cNvSpPr>
            <a:spLocks xmlns:a="http://schemas.openxmlformats.org/drawingml/2006/main" noGrp="1"/>
          </p:cNvSpPr>
          <p:nvPr/>
        </p:nvSpPr>
        <p:spPr>
          <a:xfrm xmlns:a="http://schemas.openxmlformats.org/drawingml/2006/main">
            <a:off x="609600" y="4476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9 nhóm component</a:t>
            </a:r>
          </a:p>
        </p:txBody>
      </p:sp>
      <p:sp>
        <p:nvSpPr>
          <p:cNvPr id="8" name="">
            <a:extLst xmlns:a="http://schemas.openxmlformats.org/drawingml/2006/main">
              <a:ext uri="{FF2B5EF4-FFF2-40B4-BE49-F238E27FC236}">
                <a16:creationId xmlns:a16="http://schemas.microsoft.com/office/drawing/2014/main" id="{C8D61C74-2BC0-4BCD-BECB-DD2E10D2BE2F}"/>
              </a:ext>
            </a:extLst>
          </p:cNvPr>
          <p:cNvSpPr>
            <a:spLocks xmlns:a="http://schemas.openxmlformats.org/drawingml/2006/main" noGrp="1"/>
          </p:cNvSpPr>
          <p:nvPr/>
        </p:nvSpPr>
        <p:spPr>
          <a:xfrm xmlns:a="http://schemas.openxmlformats.org/drawingml/2006/main">
            <a:off x="609600" y="50482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243047"/>
                </a:solidFill>
                <a:latin typeface="Arial"/>
                <a:ea typeface="Arial"/>
                <a:cs typeface="Arial"/>
              </a:defRPr>
            </a:defPPr>
          </a:lstStyle>
          <a:p xmlns:a="http://schemas.openxmlformats.org/drawingml/2006/main">
            <a:pPr>
              <a:defRPr sz="1950" b="0">
                <a:solidFill>
                  <a:srgbClr val="243047"/>
                </a:solidFill>
                <a:latin typeface="Arial"/>
                <a:ea typeface="Arial"/>
                <a:cs typeface="Arial"/>
              </a:defRPr>
            </a:pPr>
            <a:r>
              <a:rPr sz="1950" b="0">
                <a:solidFill>
                  <a:srgbClr val="243047"/>
                </a:solidFill>
                <a:latin typeface="Arial"/>
                <a:ea typeface="Arial"/>
                <a:cs typeface="Arial"/>
              </a:rPr>
              <a:t>Button, Text field, Card, Navigation, App bar</a:t>
            </a:r>
          </a:p>
          <a:p xmlns:a="http://schemas.openxmlformats.org/drawingml/2006/main">
            <a:pPr>
              <a:defRPr sz="1950" b="0">
                <a:solidFill>
                  <a:srgbClr val="243047"/>
                </a:solidFill>
                <a:latin typeface="Arial"/>
                <a:ea typeface="Arial"/>
                <a:cs typeface="Arial"/>
              </a:defRPr>
            </a:pPr>
            <a:r>
              <a:rPr sz="1950" b="0">
                <a:solidFill>
                  <a:srgbClr val="243047"/>
                </a:solidFill>
                <a:latin typeface="Arial"/>
                <a:ea typeface="Arial"/>
                <a:cs typeface="Arial"/>
              </a:rPr>
              <a:t>Dialog, Loading, Empty, Error</a:t>
            </a:r>
          </a:p>
        </p:txBody>
      </p:sp>
      <p:sp>
        <p:nvSpPr>
          <p:cNvPr id="9" name="">
            <a:extLst xmlns:a="http://schemas.openxmlformats.org/drawingml/2006/main">
              <a:ext uri="{FF2B5EF4-FFF2-40B4-BE49-F238E27FC236}">
                <a16:creationId xmlns:a16="http://schemas.microsoft.com/office/drawing/2014/main" id="{E10386FE-CD7B-4B70-AB5B-5F8ABC45C1C9}"/>
              </a:ext>
            </a:extLst>
          </p:cNvPr>
          <p:cNvSpPr>
            <a:spLocks xmlns:a="http://schemas.openxmlformats.org/drawingml/2006/main" noGrp="1"/>
          </p:cNvSpPr>
          <p:nvPr/>
        </p:nvSpPr>
        <p:spPr>
          <a:xfrm xmlns:a="http://schemas.openxmlformats.org/drawingml/2006/main">
            <a:off x="609600" y="60769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667085"/>
                </a:solidFill>
                <a:latin typeface="Arial"/>
                <a:ea typeface="Arial"/>
                <a:cs typeface="Arial"/>
              </a:defRPr>
            </a:defPPr>
          </a:lstStyle>
          <a:p xmlns:a="http://schemas.openxmlformats.org/drawingml/2006/main">
            <a:pPr>
              <a:defRPr sz="1500" b="0">
                <a:solidFill>
                  <a:srgbClr val="667085"/>
                </a:solidFill>
                <a:latin typeface="Arial"/>
                <a:ea typeface="Arial"/>
                <a:cs typeface="Arial"/>
              </a:defRPr>
            </a:pPr>
            <a:r>
              <a:rPr sz="1500" b="0">
                <a:solidFill>
                  <a:srgbClr val="667085"/>
                </a:solidFill>
                <a:latin typeface="Arial"/>
                <a:ea typeface="Arial"/>
                <a:cs typeface="Arial"/>
              </a:rPr>
              <a:t>Tokens và variants là mục tiêu bàn giao. Chưa xác minh Variables/instances thực tế.</a:t>
            </a:r>
          </a:p>
        </p:txBody>
      </p:sp>
    </p:spTree>
    <p:extLst>
      <p:ext uri="{BB962C8B-B14F-4D97-AF65-F5344CB8AC3E}">
        <p14:creationId xmlns:p14="http://schemas.microsoft.com/office/powerpoint/2010/main" val="6029200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A8E06F-2921-4F1F-8C99-51D63ADD8BFC}"/>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Accessibility và responsive</a:t>
            </a:r>
          </a:p>
        </p:txBody>
      </p:sp>
      <p:sp>
        <p:nvSpPr>
          <p:cNvPr id="2" name="">
            <a:extLst xmlns:a="http://schemas.openxmlformats.org/drawingml/2006/main">
              <a:ext uri="{FF2B5EF4-FFF2-40B4-BE49-F238E27FC236}">
                <a16:creationId xmlns:a16="http://schemas.microsoft.com/office/drawing/2014/main" id="{69254D8A-5185-4398-A878-2AED98E54F8C}"/>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10   FAP Attendance</a:t>
            </a:r>
          </a:p>
        </p:txBody>
      </p:sp>
      <p:sp>
        <p:nvSpPr>
          <p:cNvPr id="3" name="">
            <a:extLst xmlns:a="http://schemas.openxmlformats.org/drawingml/2006/main">
              <a:ext uri="{FF2B5EF4-FFF2-40B4-BE49-F238E27FC236}">
                <a16:creationId xmlns:a16="http://schemas.microsoft.com/office/drawing/2014/main" id="{72FBF4CC-A4D0-43A3-A528-037399A91A9F}"/>
              </a:ext>
            </a:extLst>
          </p:cNvPr>
          <p:cNvSpPr>
            <a:spLocks xmlns:a="http://schemas.openxmlformats.org/drawingml/2006/main" noGrp="1"/>
          </p:cNvSpPr>
          <p:nvPr/>
        </p:nvSpPr>
        <p:spPr>
          <a:xfrm xmlns:a="http://schemas.openxmlformats.org/drawingml/2006/main">
            <a:off x="609600" y="16573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5250" b="1">
                <a:solidFill>
                  <a:srgbClr val="16835D"/>
                </a:solidFill>
                <a:latin typeface="Arial"/>
                <a:ea typeface="Arial"/>
                <a:cs typeface="Arial"/>
              </a:defRPr>
            </a:defPPr>
          </a:lstStyle>
          <a:p xmlns:a="http://schemas.openxmlformats.org/drawingml/2006/main">
            <a:pPr>
              <a:defRPr sz="5250" b="1">
                <a:solidFill>
                  <a:srgbClr val="16835D"/>
                </a:solidFill>
                <a:latin typeface="Arial"/>
                <a:ea typeface="Arial"/>
                <a:cs typeface="Arial"/>
              </a:defRPr>
            </a:pPr>
            <a:r>
              <a:rPr sz="5250" b="1">
                <a:solidFill>
                  <a:srgbClr val="16835D"/>
                </a:solidFill>
                <a:latin typeface="Arial"/>
                <a:ea typeface="Arial"/>
                <a:cs typeface="Arial"/>
              </a:rPr>
              <a:t>5,07:1</a:t>
            </a:r>
          </a:p>
        </p:txBody>
      </p:sp>
      <p:sp>
        <p:nvSpPr>
          <p:cNvPr id="4" name="">
            <a:extLst xmlns:a="http://schemas.openxmlformats.org/drawingml/2006/main">
              <a:ext uri="{FF2B5EF4-FFF2-40B4-BE49-F238E27FC236}">
                <a16:creationId xmlns:a16="http://schemas.microsoft.com/office/drawing/2014/main" id="{5DF073ED-E303-49D3-89BA-FAEB17B3F318}"/>
              </a:ext>
            </a:extLst>
          </p:cNvPr>
          <p:cNvSpPr>
            <a:spLocks xmlns:a="http://schemas.openxmlformats.org/drawingml/2006/main" noGrp="1"/>
          </p:cNvSpPr>
          <p:nvPr/>
        </p:nvSpPr>
        <p:spPr>
          <a:xfrm xmlns:a="http://schemas.openxmlformats.org/drawingml/2006/main">
            <a:off x="609600" y="2676525"/>
            <a:ext cx="5429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Trắng trên primary #C93C13</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Đạt ngưỡng chữ thường với cặp token này</a:t>
            </a:r>
          </a:p>
        </p:txBody>
      </p:sp>
      <p:sp>
        <p:nvSpPr>
          <p:cNvPr id="5" name="">
            <a:extLst xmlns:a="http://schemas.openxmlformats.org/drawingml/2006/main">
              <a:ext uri="{FF2B5EF4-FFF2-40B4-BE49-F238E27FC236}">
                <a16:creationId xmlns:a16="http://schemas.microsoft.com/office/drawing/2014/main" id="{01B2635F-0E73-47A3-8F47-4EFBA7D51C6C}"/>
              </a:ext>
            </a:extLst>
          </p:cNvPr>
          <p:cNvSpPr>
            <a:spLocks xmlns:a="http://schemas.openxmlformats.org/drawingml/2006/main" noGrp="1"/>
          </p:cNvSpPr>
          <p:nvPr/>
        </p:nvSpPr>
        <p:spPr>
          <a:xfrm xmlns:a="http://schemas.openxmlformats.org/drawingml/2006/main">
            <a:off x="609600" y="39528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5250" b="1">
                <a:solidFill>
                  <a:srgbClr val="C93A2B"/>
                </a:solidFill>
                <a:latin typeface="Arial"/>
                <a:ea typeface="Arial"/>
                <a:cs typeface="Arial"/>
              </a:defRPr>
            </a:defPPr>
          </a:lstStyle>
          <a:p xmlns:a="http://schemas.openxmlformats.org/drawingml/2006/main">
            <a:pPr>
              <a:defRPr sz="5250" b="1">
                <a:solidFill>
                  <a:srgbClr val="C93A2B"/>
                </a:solidFill>
                <a:latin typeface="Arial"/>
                <a:ea typeface="Arial"/>
                <a:cs typeface="Arial"/>
              </a:defRPr>
            </a:pPr>
            <a:r>
              <a:rPr sz="5250" b="1">
                <a:solidFill>
                  <a:srgbClr val="C93A2B"/>
                </a:solidFill>
                <a:latin typeface="Arial"/>
                <a:ea typeface="Arial"/>
                <a:cs typeface="Arial"/>
              </a:rPr>
              <a:t>3,48:1</a:t>
            </a:r>
          </a:p>
        </p:txBody>
      </p:sp>
      <p:sp>
        <p:nvSpPr>
          <p:cNvPr id="6" name="">
            <a:extLst xmlns:a="http://schemas.openxmlformats.org/drawingml/2006/main">
              <a:ext uri="{FF2B5EF4-FFF2-40B4-BE49-F238E27FC236}">
                <a16:creationId xmlns:a16="http://schemas.microsoft.com/office/drawing/2014/main" id="{2EFA144E-1995-4A2D-97F2-23DB81ADAB73}"/>
              </a:ext>
            </a:extLst>
          </p:cNvPr>
          <p:cNvSpPr>
            <a:spLocks xmlns:a="http://schemas.openxmlformats.org/drawingml/2006/main" noGrp="1"/>
          </p:cNvSpPr>
          <p:nvPr/>
        </p:nvSpPr>
        <p:spPr>
          <a:xfrm xmlns:a="http://schemas.openxmlformats.org/drawingml/2006/main">
            <a:off x="609600" y="4981575"/>
            <a:ext cx="542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Trắng trên brand #F4511E</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Không dùng cho chữ thường</a:t>
            </a:r>
          </a:p>
        </p:txBody>
      </p:sp>
      <p:sp>
        <p:nvSpPr>
          <p:cNvPr id="7" name="">
            <a:extLst xmlns:a="http://schemas.openxmlformats.org/drawingml/2006/main">
              <a:ext uri="{FF2B5EF4-FFF2-40B4-BE49-F238E27FC236}">
                <a16:creationId xmlns:a16="http://schemas.microsoft.com/office/drawing/2014/main" id="{81D73B56-B889-4CAD-B5B5-F61B37831F7F}"/>
              </a:ext>
            </a:extLst>
          </p:cNvPr>
          <p:cNvSpPr>
            <a:spLocks xmlns:a="http://schemas.openxmlformats.org/drawingml/2006/main" noGrp="1"/>
          </p:cNvSpPr>
          <p:nvPr/>
        </p:nvSpPr>
        <p:spPr>
          <a:xfrm xmlns:a="http://schemas.openxmlformats.org/drawingml/2006/main">
            <a:off x="7086600" y="1685925"/>
            <a:ext cx="449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Mục tiêu UI cần đo</a:t>
            </a:r>
          </a:p>
        </p:txBody>
      </p:sp>
      <p:sp>
        <p:nvSpPr>
          <p:cNvPr id="8" name="">
            <a:extLst xmlns:a="http://schemas.openxmlformats.org/drawingml/2006/main">
              <a:ext uri="{FF2B5EF4-FFF2-40B4-BE49-F238E27FC236}">
                <a16:creationId xmlns:a16="http://schemas.microsoft.com/office/drawing/2014/main" id="{33D0287A-5CC4-4F0B-AF39-C278E390ECD9}"/>
              </a:ext>
            </a:extLst>
          </p:cNvPr>
          <p:cNvSpPr>
            <a:spLocks xmlns:a="http://schemas.openxmlformats.org/drawingml/2006/main" noGrp="1"/>
          </p:cNvSpPr>
          <p:nvPr/>
        </p:nvSpPr>
        <p:spPr>
          <a:xfrm xmlns:a="http://schemas.openxmlformats.org/drawingml/2006/main">
            <a:off x="7086600" y="2143125"/>
            <a:ext cx="44958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Contrast chữ thường ≥4,5:1</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Vùng chạm ≥48 × 48 dp</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Chữ nội dung ≥14 sp</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P/A có nhãn, không chỉ màu</a:t>
            </a:r>
          </a:p>
        </p:txBody>
      </p:sp>
      <p:sp>
        <p:nvSpPr>
          <p:cNvPr id="9" name="">
            <a:extLst xmlns:a="http://schemas.openxmlformats.org/drawingml/2006/main">
              <a:ext uri="{FF2B5EF4-FFF2-40B4-BE49-F238E27FC236}">
                <a16:creationId xmlns:a16="http://schemas.microsoft.com/office/drawing/2014/main" id="{D5867534-2D83-4F30-B315-2E0130427E4D}"/>
              </a:ext>
            </a:extLst>
          </p:cNvPr>
          <p:cNvSpPr>
            <a:spLocks xmlns:a="http://schemas.openxmlformats.org/drawingml/2006/main" noGrp="1"/>
          </p:cNvSpPr>
          <p:nvPr/>
        </p:nvSpPr>
        <p:spPr>
          <a:xfrm xmlns:a="http://schemas.openxmlformats.org/drawingml/2006/main">
            <a:off x="7086600" y="4238625"/>
            <a:ext cx="449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Hai chiều rộng kiểm thử</a:t>
            </a:r>
          </a:p>
        </p:txBody>
      </p:sp>
      <p:sp>
        <p:nvSpPr>
          <p:cNvPr id="10" name="">
            <a:extLst xmlns:a="http://schemas.openxmlformats.org/drawingml/2006/main">
              <a:ext uri="{FF2B5EF4-FFF2-40B4-BE49-F238E27FC236}">
                <a16:creationId xmlns:a16="http://schemas.microsoft.com/office/drawing/2014/main" id="{9D41DAEE-06EE-4EE0-B0B1-7AC045704261}"/>
              </a:ext>
            </a:extLst>
          </p:cNvPr>
          <p:cNvSpPr>
            <a:spLocks xmlns:a="http://schemas.openxmlformats.org/drawingml/2006/main" noGrp="1"/>
          </p:cNvSpPr>
          <p:nvPr/>
        </p:nvSpPr>
        <p:spPr>
          <a:xfrm xmlns:a="http://schemas.openxmlformats.org/drawingml/2006/main">
            <a:off x="7086600" y="4695825"/>
            <a:ext cx="4495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360 và 412 dp</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Tên dài, cuộn, keyboard, CTA</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Chưa có kết quả kiểm thử thực tế</a:t>
            </a:r>
          </a:p>
        </p:txBody>
      </p:sp>
    </p:spTree>
    <p:extLst>
      <p:ext uri="{BB962C8B-B14F-4D97-AF65-F5344CB8AC3E}">
        <p14:creationId xmlns:p14="http://schemas.microsoft.com/office/powerpoint/2010/main" val="18645888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C0B735-576E-4268-A231-1260761CAE2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Demo prototype Stitch</a:t>
            </a:r>
          </a:p>
        </p:txBody>
      </p:sp>
      <p:sp>
        <p:nvSpPr>
          <p:cNvPr id="2" name="">
            <a:extLst xmlns:a="http://schemas.openxmlformats.org/drawingml/2006/main">
              <a:ext uri="{FF2B5EF4-FFF2-40B4-BE49-F238E27FC236}">
                <a16:creationId xmlns:a16="http://schemas.microsoft.com/office/drawing/2014/main" id="{ADF190E2-92E7-426A-AAC0-E7CFDD76F7AD}"/>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11   FAP Attendance</a:t>
            </a:r>
          </a:p>
        </p:txBody>
      </p:sp>
      <p:pic>
        <p:nvPicPr>
          <p:cNvPr id="3" name="">
            <a:extLst xmlns:a="http://schemas.openxmlformats.org/drawingml/2006/main">
              <a:ext uri="{FF2B5EF4-FFF2-40B4-BE49-F238E27FC236}">
                <a16:creationId xmlns:a16="http://schemas.microsoft.com/office/drawing/2014/main" id="{F7A2225D-91EB-4244-B1EF-49011C00C3F4}"/>
              </a:ext>
            </a:extLst>
          </p:cNvPr>
          <p:cNvPicPr>
            <a:picLocks xmlns:a="http://schemas.openxmlformats.org/drawingml/2006/main" noChangeAspect="1"/>
          </p:cNvPicPr>
          <p:nvPr/>
        </p:nvPicPr>
        <p:blipFill>
          <a:blip xmlns:r="http://schemas.openxmlformats.org/officeDocument/2006/relationships" xmlns:a="http://schemas.openxmlformats.org/drawingml/2006/main" r:embed="R9a6375c158db42fd"/>
          <a:stretch xmlns:a="http://schemas.openxmlformats.org/drawingml/2006/main"/>
        </p:blipFill>
        <p:spPr>
          <a:xfrm xmlns:a="http://schemas.openxmlformats.org/drawingml/2006/main">
            <a:off x="820896" y="1409700"/>
            <a:ext cx="2349183"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068F435-3D78-45D1-BBD4-BFCA9C1A87FC}"/>
              </a:ext>
            </a:extLst>
          </p:cNvPr>
          <p:cNvSpPr>
            <a:spLocks xmlns:a="http://schemas.openxmlformats.org/drawingml/2006/main" noGrp="1"/>
          </p:cNvSpPr>
          <p:nvPr/>
        </p:nvSpPr>
        <p:spPr>
          <a:xfrm xmlns:a="http://schemas.openxmlformats.org/drawingml/2006/main">
            <a:off x="4114800" y="1600200"/>
            <a:ext cx="746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F1  60 giây</a:t>
            </a:r>
          </a:p>
        </p:txBody>
      </p:sp>
      <p:sp>
        <p:nvSpPr>
          <p:cNvPr id="5" name="">
            <a:extLst xmlns:a="http://schemas.openxmlformats.org/drawingml/2006/main">
              <a:ext uri="{FF2B5EF4-FFF2-40B4-BE49-F238E27FC236}">
                <a16:creationId xmlns:a16="http://schemas.microsoft.com/office/drawing/2014/main" id="{5E12D433-B507-467D-84F8-F84B8454E703}"/>
              </a:ext>
            </a:extLst>
          </p:cNvPr>
          <p:cNvSpPr>
            <a:spLocks xmlns:a="http://schemas.openxmlformats.org/drawingml/2006/main" noGrp="1"/>
          </p:cNvSpPr>
          <p:nvPr/>
        </p:nvSpPr>
        <p:spPr>
          <a:xfrm xmlns:a="http://schemas.openxmlformats.org/drawingml/2006/main">
            <a:off x="4114800" y="2057400"/>
            <a:ext cx="746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Workspace, import, cấu hình lớp SE1921</a:t>
            </a:r>
          </a:p>
        </p:txBody>
      </p:sp>
      <p:sp>
        <p:nvSpPr>
          <p:cNvPr id="6" name="">
            <a:extLst xmlns:a="http://schemas.openxmlformats.org/drawingml/2006/main">
              <a:ext uri="{FF2B5EF4-FFF2-40B4-BE49-F238E27FC236}">
                <a16:creationId xmlns:a16="http://schemas.microsoft.com/office/drawing/2014/main" id="{86206584-BE03-4AFB-93AD-232D22225784}"/>
              </a:ext>
            </a:extLst>
          </p:cNvPr>
          <p:cNvSpPr>
            <a:spLocks xmlns:a="http://schemas.openxmlformats.org/drawingml/2006/main" noGrp="1"/>
          </p:cNvSpPr>
          <p:nvPr/>
        </p:nvSpPr>
        <p:spPr>
          <a:xfrm xmlns:a="http://schemas.openxmlformats.org/drawingml/2006/main">
            <a:off x="4114800" y="2895600"/>
            <a:ext cx="746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F2  90 giây</a:t>
            </a:r>
          </a:p>
        </p:txBody>
      </p:sp>
      <p:sp>
        <p:nvSpPr>
          <p:cNvPr id="7" name="">
            <a:extLst xmlns:a="http://schemas.openxmlformats.org/drawingml/2006/main">
              <a:ext uri="{FF2B5EF4-FFF2-40B4-BE49-F238E27FC236}">
                <a16:creationId xmlns:a16="http://schemas.microsoft.com/office/drawing/2014/main" id="{70039F2B-F425-422B-8CBE-A1C8DCCD3BFC}"/>
              </a:ext>
            </a:extLst>
          </p:cNvPr>
          <p:cNvSpPr>
            <a:spLocks xmlns:a="http://schemas.openxmlformats.org/drawingml/2006/main" noGrp="1"/>
          </p:cNvSpPr>
          <p:nvPr/>
        </p:nvSpPr>
        <p:spPr>
          <a:xfrm xmlns:a="http://schemas.openxmlformats.org/drawingml/2006/main">
            <a:off x="4114800" y="3352800"/>
            <a:ext cx="746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Mở QR, Hủy xác nhận, chốt Slot 5</a:t>
            </a:r>
          </a:p>
        </p:txBody>
      </p:sp>
      <p:sp>
        <p:nvSpPr>
          <p:cNvPr id="8" name="">
            <a:extLst xmlns:a="http://schemas.openxmlformats.org/drawingml/2006/main">
              <a:ext uri="{FF2B5EF4-FFF2-40B4-BE49-F238E27FC236}">
                <a16:creationId xmlns:a16="http://schemas.microsoft.com/office/drawing/2014/main" id="{DACC6D47-3314-4DA4-8D37-627AC6331A49}"/>
              </a:ext>
            </a:extLst>
          </p:cNvPr>
          <p:cNvSpPr>
            <a:spLocks xmlns:a="http://schemas.openxmlformats.org/drawingml/2006/main" noGrp="1"/>
          </p:cNvSpPr>
          <p:nvPr/>
        </p:nvSpPr>
        <p:spPr>
          <a:xfrm xmlns:a="http://schemas.openxmlformats.org/drawingml/2006/main">
            <a:off x="4114800" y="4191000"/>
            <a:ext cx="746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F3  110 giây</a:t>
            </a:r>
          </a:p>
        </p:txBody>
      </p:sp>
      <p:sp>
        <p:nvSpPr>
          <p:cNvPr id="9" name="">
            <a:extLst xmlns:a="http://schemas.openxmlformats.org/drawingml/2006/main">
              <a:ext uri="{FF2B5EF4-FFF2-40B4-BE49-F238E27FC236}">
                <a16:creationId xmlns:a16="http://schemas.microsoft.com/office/drawing/2014/main" id="{BA6DE0B0-B119-4D86-A732-7B332E0BF09F}"/>
              </a:ext>
            </a:extLst>
          </p:cNvPr>
          <p:cNvSpPr>
            <a:spLocks xmlns:a="http://schemas.openxmlformats.org/drawingml/2006/main" noGrp="1"/>
          </p:cNvSpPr>
          <p:nvPr/>
        </p:nvSpPr>
        <p:spPr>
          <a:xfrm xmlns:a="http://schemas.openxmlformats.org/drawingml/2006/main">
            <a:off x="4114800" y="4648200"/>
            <a:ext cx="7467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Thử lý do trống → sửa hợp lệ</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Xuất local, sao lưu Drive tùy chọn</a:t>
            </a:r>
          </a:p>
        </p:txBody>
      </p:sp>
      <p:sp>
        <p:nvSpPr>
          <p:cNvPr id="10" name="">
            <a:extLst xmlns:a="http://schemas.openxmlformats.org/drawingml/2006/main">
              <a:ext uri="{FF2B5EF4-FFF2-40B4-BE49-F238E27FC236}">
                <a16:creationId xmlns:a16="http://schemas.microsoft.com/office/drawing/2014/main" id="{FAA98007-9230-4D1C-9D60-BD749092ABC4}"/>
              </a:ext>
            </a:extLst>
          </p:cNvPr>
          <p:cNvSpPr>
            <a:spLocks xmlns:a="http://schemas.openxmlformats.org/drawingml/2006/main" noGrp="1"/>
          </p:cNvSpPr>
          <p:nvPr/>
        </p:nvSpPr>
        <p:spPr>
          <a:xfrm xmlns:a="http://schemas.openxmlformats.org/drawingml/2006/main">
            <a:off x="4114800" y="5753100"/>
            <a:ext cx="746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667085"/>
                </a:solidFill>
                <a:latin typeface="Arial"/>
                <a:ea typeface="Arial"/>
                <a:cs typeface="Arial"/>
              </a:defRPr>
            </a:defPPr>
          </a:lstStyle>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Mở đầu 20 giây · Kết thúc 20 giây</a:t>
            </a:r>
          </a:p>
          <a:p xmlns:a="http://schemas.openxmlformats.org/drawingml/2006/main">
            <a:pPr>
              <a:defRPr sz="1725" b="0">
                <a:solidFill>
                  <a:srgbClr val="667085"/>
                </a:solidFill>
                <a:latin typeface="Arial"/>
                <a:ea typeface="Arial"/>
                <a:cs typeface="Arial"/>
              </a:defRPr>
            </a:pPr>
            <a:r>
              <a:rPr sz="1725" b="0">
                <a:solidFill>
                  <a:srgbClr val="667085"/>
                </a:solidFill>
                <a:latin typeface="Arial"/>
                <a:ea typeface="Arial"/>
                <a:cs typeface="Arial"/>
              </a:rPr>
              <a:t>Tổng dự kiến: 5 phút</a:t>
            </a:r>
          </a:p>
        </p:txBody>
      </p:sp>
    </p:spTree>
    <p:extLst>
      <p:ext uri="{BB962C8B-B14F-4D97-AF65-F5344CB8AC3E}">
        <p14:creationId xmlns:p14="http://schemas.microsoft.com/office/powerpoint/2010/main" val="5604768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E3ECBB-A95B-423A-AC29-4FF247FB7484}"/>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243047"/>
                </a:solidFill>
                <a:latin typeface="Arial"/>
                <a:ea typeface="Arial"/>
                <a:cs typeface="Arial"/>
              </a:defRPr>
            </a:defPPr>
          </a:lstStyle>
          <a:p xmlns:a="http://schemas.openxmlformats.org/drawingml/2006/main">
            <a:pPr>
              <a:defRPr sz="3300" b="1">
                <a:solidFill>
                  <a:srgbClr val="243047"/>
                </a:solidFill>
                <a:latin typeface="Arial"/>
                <a:ea typeface="Arial"/>
                <a:cs typeface="Arial"/>
              </a:defRPr>
            </a:pPr>
            <a:r>
              <a:rPr sz="3300" b="1">
                <a:solidFill>
                  <a:srgbClr val="243047"/>
                </a:solidFill>
                <a:latin typeface="Arial"/>
                <a:ea typeface="Arial"/>
                <a:cs typeface="Arial"/>
              </a:rPr>
              <a:t>Handoff và phần còn lại</a:t>
            </a:r>
          </a:p>
        </p:txBody>
      </p:sp>
      <p:sp>
        <p:nvSpPr>
          <p:cNvPr id="2" name="">
            <a:extLst xmlns:a="http://schemas.openxmlformats.org/drawingml/2006/main">
              <a:ext uri="{FF2B5EF4-FFF2-40B4-BE49-F238E27FC236}">
                <a16:creationId xmlns:a16="http://schemas.microsoft.com/office/drawing/2014/main" id="{812C50A4-7897-4A68-9979-39FFB6812E10}"/>
              </a:ext>
            </a:extLst>
          </p:cNvPr>
          <p:cNvSpPr>
            <a:spLocks xmlns:a="http://schemas.openxmlformats.org/drawingml/2006/main" noGrp="1"/>
          </p:cNvSpPr>
          <p:nvPr/>
        </p:nvSpPr>
        <p:spPr>
          <a:xfrm xmlns:a="http://schemas.openxmlformats.org/drawingml/2006/main">
            <a:off x="609600" y="6419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67085"/>
                </a:solidFill>
                <a:latin typeface="Arial"/>
                <a:ea typeface="Arial"/>
                <a:cs typeface="Arial"/>
              </a:defRPr>
            </a:defPPr>
          </a:lstStyle>
          <a:p xmlns:a="http://schemas.openxmlformats.org/drawingml/2006/main">
            <a:pPr>
              <a:defRPr sz="1275" b="0">
                <a:solidFill>
                  <a:srgbClr val="667085"/>
                </a:solidFill>
                <a:latin typeface="Arial"/>
                <a:ea typeface="Arial"/>
                <a:cs typeface="Arial"/>
              </a:defRPr>
            </a:pPr>
            <a:r>
              <a:rPr sz="1275" b="0">
                <a:solidFill>
                  <a:srgbClr val="667085"/>
                </a:solidFill>
                <a:latin typeface="Arial"/>
                <a:ea typeface="Arial"/>
                <a:cs typeface="Arial"/>
              </a:rPr>
              <a:t>12   FAP Attendance</a:t>
            </a:r>
          </a:p>
        </p:txBody>
      </p:sp>
      <p:sp>
        <p:nvSpPr>
          <p:cNvPr id="3" name="">
            <a:extLst xmlns:a="http://schemas.openxmlformats.org/drawingml/2006/main">
              <a:ext uri="{FF2B5EF4-FFF2-40B4-BE49-F238E27FC236}">
                <a16:creationId xmlns:a16="http://schemas.microsoft.com/office/drawing/2014/main" id="{1D38C5A2-981B-4691-8A6B-8ECC053D62E7}"/>
              </a:ext>
            </a:extLst>
          </p:cNvPr>
          <p:cNvSpPr>
            <a:spLocks xmlns:a="http://schemas.openxmlformats.org/drawingml/2006/main" noGrp="1"/>
          </p:cNvSpPr>
          <p:nvPr/>
        </p:nvSpPr>
        <p:spPr>
          <a:xfrm xmlns:a="http://schemas.openxmlformats.org/drawingml/2006/main">
            <a:off x="609600" y="15811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Tài liệu đã soạn</a:t>
            </a:r>
          </a:p>
        </p:txBody>
      </p:sp>
      <p:sp>
        <p:nvSpPr>
          <p:cNvPr id="4" name="">
            <a:extLst xmlns:a="http://schemas.openxmlformats.org/drawingml/2006/main">
              <a:ext uri="{FF2B5EF4-FFF2-40B4-BE49-F238E27FC236}">
                <a16:creationId xmlns:a16="http://schemas.microsoft.com/office/drawing/2014/main" id="{D7F646B0-995E-41D8-859E-744EC0D3B1A0}"/>
              </a:ext>
            </a:extLst>
          </p:cNvPr>
          <p:cNvSpPr>
            <a:spLocks xmlns:a="http://schemas.openxmlformats.org/drawingml/2006/main" noGrp="1"/>
          </p:cNvSpPr>
          <p:nvPr/>
        </p:nvSpPr>
        <p:spPr>
          <a:xfrm xmlns:a="http://schemas.openxmlformats.org/drawingml/2006/main">
            <a:off x="609600" y="2038350"/>
            <a:ext cx="5334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10 màn hình, 6 phần mỗi màn</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Token sang Flutter</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Component sang widget</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Checklist kiểm thử và review ảnh</a:t>
            </a:r>
          </a:p>
        </p:txBody>
      </p:sp>
      <p:sp>
        <p:nvSpPr>
          <p:cNvPr id="5" name="">
            <a:extLst xmlns:a="http://schemas.openxmlformats.org/drawingml/2006/main">
              <a:ext uri="{FF2B5EF4-FFF2-40B4-BE49-F238E27FC236}">
                <a16:creationId xmlns:a16="http://schemas.microsoft.com/office/drawing/2014/main" id="{1D7D5354-CF58-4684-B64A-117B9A5AE469}"/>
              </a:ext>
            </a:extLst>
          </p:cNvPr>
          <p:cNvSpPr>
            <a:spLocks xmlns:a="http://schemas.openxmlformats.org/drawingml/2006/main" noGrp="1"/>
          </p:cNvSpPr>
          <p:nvPr/>
        </p:nvSpPr>
        <p:spPr>
          <a:xfrm xmlns:a="http://schemas.openxmlformats.org/drawingml/2006/main">
            <a:off x="609600" y="42767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Ví dụ mapping</a:t>
            </a:r>
          </a:p>
        </p:txBody>
      </p:sp>
      <p:sp>
        <p:nvSpPr>
          <p:cNvPr id="6" name="">
            <a:extLst xmlns:a="http://schemas.openxmlformats.org/drawingml/2006/main">
              <a:ext uri="{FF2B5EF4-FFF2-40B4-BE49-F238E27FC236}">
                <a16:creationId xmlns:a16="http://schemas.microsoft.com/office/drawing/2014/main" id="{6D93A9F6-929C-4007-BA98-E34E0251B52C}"/>
              </a:ext>
            </a:extLst>
          </p:cNvPr>
          <p:cNvSpPr>
            <a:spLocks xmlns:a="http://schemas.openxmlformats.org/drawingml/2006/main" noGrp="1"/>
          </p:cNvSpPr>
          <p:nvPr/>
        </p:nvSpPr>
        <p:spPr>
          <a:xfrm xmlns:a="http://schemas.openxmlformats.org/drawingml/2006/main">
            <a:off x="609600" y="4733925"/>
            <a:ext cx="5334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Primary: ColorScheme.primary</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Body: TextTheme.bodyLarge</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Button: FilledButton / OutlinedButton</a:t>
            </a:r>
          </a:p>
        </p:txBody>
      </p:sp>
      <p:sp>
        <p:nvSpPr>
          <p:cNvPr id="7" name="">
            <a:extLst xmlns:a="http://schemas.openxmlformats.org/drawingml/2006/main">
              <a:ext uri="{FF2B5EF4-FFF2-40B4-BE49-F238E27FC236}">
                <a16:creationId xmlns:a16="http://schemas.microsoft.com/office/drawing/2014/main" id="{5DD4EC6C-5D56-4DCC-BB84-1C5728548819}"/>
              </a:ext>
            </a:extLst>
          </p:cNvPr>
          <p:cNvSpPr>
            <a:spLocks xmlns:a="http://schemas.openxmlformats.org/drawingml/2006/main" noGrp="1"/>
          </p:cNvSpPr>
          <p:nvPr/>
        </p:nvSpPr>
        <p:spPr>
          <a:xfrm xmlns:a="http://schemas.openxmlformats.org/drawingml/2006/main">
            <a:off x="6572250" y="158115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C93C13"/>
                </a:solidFill>
                <a:latin typeface="Arial"/>
                <a:ea typeface="Arial"/>
                <a:cs typeface="Arial"/>
              </a:defRPr>
            </a:defPPr>
          </a:lstStyle>
          <a:p xmlns:a="http://schemas.openxmlformats.org/drawingml/2006/main">
            <a:pPr>
              <a:defRPr sz="2100" b="1">
                <a:solidFill>
                  <a:srgbClr val="C93C13"/>
                </a:solidFill>
                <a:latin typeface="Arial"/>
                <a:ea typeface="Arial"/>
                <a:cs typeface="Arial"/>
              </a:defRPr>
            </a:pPr>
            <a:r>
              <a:rPr sz="2100" b="1">
                <a:solidFill>
                  <a:srgbClr val="C93C13"/>
                </a:solidFill>
                <a:latin typeface="Arial"/>
                <a:ea typeface="Arial"/>
                <a:cs typeface="Arial"/>
              </a:rPr>
              <a:t>Còn cần hoàn tất</a:t>
            </a:r>
          </a:p>
        </p:txBody>
      </p:sp>
      <p:sp>
        <p:nvSpPr>
          <p:cNvPr id="8" name="">
            <a:extLst xmlns:a="http://schemas.openxmlformats.org/drawingml/2006/main">
              <a:ext uri="{FF2B5EF4-FFF2-40B4-BE49-F238E27FC236}">
                <a16:creationId xmlns:a16="http://schemas.microsoft.com/office/drawing/2014/main" id="{5DB5C40F-3619-4598-9F0F-85E24C188EA4}"/>
              </a:ext>
            </a:extLst>
          </p:cNvPr>
          <p:cNvSpPr>
            <a:spLocks xmlns:a="http://schemas.openxmlformats.org/drawingml/2006/main" noGrp="1"/>
          </p:cNvSpPr>
          <p:nvPr/>
        </p:nvSpPr>
        <p:spPr>
          <a:xfrm xmlns:a="http://schemas.openxmlformats.org/drawingml/2006/main">
            <a:off x="6572250" y="2038350"/>
            <a:ext cx="50101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3047"/>
                </a:solidFill>
                <a:latin typeface="Arial"/>
                <a:ea typeface="Arial"/>
                <a:cs typeface="Arial"/>
              </a:defRPr>
            </a:defPPr>
          </a:lstStyle>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Kiểm thử tương tác và 360/412</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Low-fi, S10 mới, evidence V3</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Chốt quyết định, thử handoff</a:t>
            </a:r>
          </a:p>
          <a:p xmlns:a="http://schemas.openxmlformats.org/drawingml/2006/main">
            <a:pPr>
              <a:defRPr sz="1875" b="0">
                <a:solidFill>
                  <a:srgbClr val="243047"/>
                </a:solidFill>
                <a:latin typeface="Arial"/>
                <a:ea typeface="Arial"/>
                <a:cs typeface="Arial"/>
              </a:defRPr>
            </a:pPr>
            <a:r>
              <a:rPr sz="1875" b="0">
                <a:solidFill>
                  <a:srgbClr val="243047"/>
                </a:solidFill>
                <a:latin typeface="Arial"/>
                <a:ea typeface="Arial"/>
                <a:cs typeface="Arial"/>
              </a:rPr>
              <a:t>Liên kết chia sẻ và quyền xem</a:t>
            </a:r>
          </a:p>
        </p:txBody>
      </p:sp>
      <p:sp>
        <p:nvSpPr>
          <p:cNvPr id="9" name="">
            <a:extLst xmlns:a="http://schemas.openxmlformats.org/drawingml/2006/main">
              <a:ext uri="{FF2B5EF4-FFF2-40B4-BE49-F238E27FC236}">
                <a16:creationId xmlns:a16="http://schemas.microsoft.com/office/drawing/2014/main" id="{840E2E0F-B2C7-4A92-8EA5-A8C06767C435}"/>
              </a:ext>
            </a:extLst>
          </p:cNvPr>
          <p:cNvSpPr>
            <a:spLocks xmlns:a="http://schemas.openxmlformats.org/drawingml/2006/main" noGrp="1"/>
          </p:cNvSpPr>
          <p:nvPr/>
        </p:nvSpPr>
        <p:spPr>
          <a:xfrm xmlns:a="http://schemas.openxmlformats.org/drawingml/2006/main">
            <a:off x="6572250" y="4610100"/>
            <a:ext cx="5010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667085"/>
                </a:solidFill>
                <a:latin typeface="Arial"/>
                <a:ea typeface="Arial"/>
                <a:cs typeface="Arial"/>
              </a:defRPr>
            </a:defPPr>
          </a:lstStyle>
          <a:p xmlns:a="http://schemas.openxmlformats.org/drawingml/2006/main">
            <a:pPr>
              <a:defRPr sz="1875" b="0">
                <a:solidFill>
                  <a:srgbClr val="667085"/>
                </a:solidFill>
                <a:latin typeface="Arial"/>
                <a:ea typeface="Arial"/>
                <a:cs typeface="Arial"/>
              </a:defRPr>
            </a:pPr>
            <a:r>
              <a:rPr sz="1875" b="0">
                <a:solidFill>
                  <a:srgbClr val="667085"/>
                </a:solidFill>
                <a:latin typeface="Arial"/>
                <a:ea typeface="Arial"/>
                <a:cs typeface="Arial"/>
              </a:rPr>
              <a:t>Figma đang tạm gác, chưa được miễn.</a:t>
            </a:r>
          </a:p>
          <a:p xmlns:a="http://schemas.openxmlformats.org/drawingml/2006/main">
            <a:pPr>
              <a:defRPr sz="1875" b="0">
                <a:solidFill>
                  <a:srgbClr val="667085"/>
                </a:solidFill>
                <a:latin typeface="Arial"/>
                <a:ea typeface="Arial"/>
                <a:cs typeface="Arial"/>
              </a:defRPr>
            </a:pPr>
            <a:r>
              <a:rPr sz="1875" b="0">
                <a:solidFill>
                  <a:srgbClr val="667085"/>
                </a:solidFill>
                <a:latin typeface="Arial"/>
                <a:ea typeface="Arial"/>
                <a:cs typeface="Arial"/>
              </a:rPr>
              <a:t>Repo Lab 2 chưa có link.</a:t>
            </a:r>
          </a:p>
        </p:txBody>
      </p:sp>
      <p:sp>
        <p:nvSpPr>
          <p:cNvPr id="10" name="">
            <a:extLst xmlns:a="http://schemas.openxmlformats.org/drawingml/2006/main">
              <a:ext uri="{FF2B5EF4-FFF2-40B4-BE49-F238E27FC236}">
                <a16:creationId xmlns:a16="http://schemas.microsoft.com/office/drawing/2014/main" id="{1F1D7899-CAFD-4BD4-B040-EF5DE008981F}"/>
              </a:ext>
            </a:extLst>
          </p:cNvPr>
          <p:cNvSpPr>
            <a:spLocks xmlns:a="http://schemas.openxmlformats.org/drawingml/2006/main" noGrp="1"/>
          </p:cNvSpPr>
          <p:nvPr/>
        </p:nvSpPr>
        <p:spPr>
          <a:xfrm xmlns:a="http://schemas.openxmlformats.org/drawingml/2006/main">
            <a:off x="6572250" y="5772150"/>
            <a:ext cx="5010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C93C13"/>
                </a:solidFill>
                <a:latin typeface="Arial"/>
                <a:ea typeface="Arial"/>
                <a:cs typeface="Arial"/>
              </a:defRPr>
            </a:defPPr>
          </a:lstStyle>
          <a:p xmlns:a="http://schemas.openxmlformats.org/drawingml/2006/main">
            <a:pPr>
              <a:defRPr sz="1875" b="1">
                <a:solidFill>
                  <a:srgbClr val="C93C13"/>
                </a:solidFill>
                <a:latin typeface="Arial"/>
                <a:ea typeface="Arial"/>
                <a:cs typeface="Arial"/>
              </a:defRPr>
            </a:pPr>
            <a:r>
              <a:rPr sz="1875" b="1">
                <a:solidFill>
                  <a:srgbClr val="C93C13"/>
                </a:solidFill>
                <a:latin typeface="Arial"/>
                <a:ea typeface="Arial"/>
                <a:cs typeface="Arial"/>
                <a:hlinkClick xmlns:r="http://schemas.openxmlformats.org/officeDocument/2006/relationships" r:id="Re6b77ecf3eb74681"/>
              </a:rPr>
              <a:t>Mở prototype Stitch</a:t>
            </a:r>
          </a:p>
        </p:txBody>
      </p:sp>
    </p:spTree>
    <p:extLst>
      <p:ext uri="{BB962C8B-B14F-4D97-AF65-F5344CB8AC3E}">
        <p14:creationId xmlns:p14="http://schemas.microsoft.com/office/powerpoint/2010/main" val="458693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2026-10-11T12:40:05.7270000Z</dcterms:created>
  <dcterms:modified xsi:type="dcterms:W3CDTF">2026-10-11T12:40:05.7270000Z</dcterms:modified>
</coreProperties>
</file>